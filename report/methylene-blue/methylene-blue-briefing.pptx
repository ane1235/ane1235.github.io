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12191975"/>
  <p:notesSz cx="6858000" cy="9144000"/>
  <p:embeddedFontLst>
    <p:embeddedFont>
      <p:font typeface="Noto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9CCFD4-8BD0-40DB-BB06-D8941175CC39}">
  <a:tblStyle styleId="{4A9CCFD4-8BD0-40DB-BB06-D8941175CC3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NotoSans-bold.fntdata"/><Relationship Id="rId21" Type="http://schemas.openxmlformats.org/officeDocument/2006/relationships/slide" Target="slides/slide15.xml"/><Relationship Id="rId43" Type="http://schemas.openxmlformats.org/officeDocument/2006/relationships/font" Target="fonts/NotoSans-regular.fntdata"/><Relationship Id="rId24" Type="http://schemas.openxmlformats.org/officeDocument/2006/relationships/slide" Target="slides/slide18.xml"/><Relationship Id="rId46" Type="http://schemas.openxmlformats.org/officeDocument/2006/relationships/font" Target="fonts/NotoSans-boldItalic.fntdata"/><Relationship Id="rId23" Type="http://schemas.openxmlformats.org/officeDocument/2006/relationships/slide" Target="slides/slide17.xml"/><Relationship Id="rId45" Type="http://schemas.openxmlformats.org/officeDocument/2006/relationships/font" Target="fonts/Noto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메틸렌블루 비축은 난치성 혈관마비의 선택지를 확보하는 결정임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병원 경영진을 위한 근거 검토 및 비축 제안임. 개별 환자 처방, 학회 승인, 원내 정책 확정 사실을 뜻하지 않음. 성인 low-SVR 분포성 쇼크, 특히 vasoplegia를 중심으로 검토함. 국내 실제 품목은 프로베블루주0.5%이며 허가 적응증과 쇼크 사용은 구분함.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혈관이 과도하게 이완되면 심장이 뛰어도 관류압이 유지되지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개념적으로 MAP−CVP는 CO×SVR과 비례함. 단위 환산과 중심정맥압(CVP)을 생략한 설명을 정확한 개인별 산식으로 사용하지 않음. 분포성 쇼크에서 CO는 정상 또는 증가할 수 있으나, 혼합 쇼크에서는 낮아질 수 있음. Vasoplegia 진단 문턱은 문헌마다 다름. 이 장은 혈압이 낮다는 이유만으로 MB 적용을 정당화하지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[MA03] Leyh RG, Kofidis T, Strüber M, et al. Methylene blue: the drug of choice for catecholamine-refractory vasoplegia after cardiopulmonary bypass? J Thorac Cardiovasc Surg. 2003;125:1426–1431. doi:10.1016/S0022-5223(02)73284-4.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https://pubmed.ncbi.nlm.nih.gov/12830064/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PubMed 원저 초록 재확인. Hannover Medical School, 독일. NE 불응성 CPB 후 혈관마비 54명 치료 연구. 51명에서 1시간 이내 SVR 증가·NE 감소 보고. 같은 초록의 4명 무반응과 총수 불일치로 반응률 산출 보류. 동시 무작위 대조군 없음. 제목의 drug of choice는 공식 지위·필수약 판정 아님.</a:t>
            </a:r>
            <a:endParaRPr/>
          </a:p>
        </p:txBody>
      </p:sp>
      <p:sp>
        <p:nvSpPr>
          <p:cNvPr id="107" name="Google Shape;107;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메틸렌블루의 약리학적 개연성은 낮은 SVR의 표현형에서 높음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저혈량·심인성·폐쇄성 쇼크에서는 해당 원인 교정과 적절한 지지가 우선임. 심초음파, 관류 소견, 체액 반응성, 가능하면 심박출량·SVR 자료를 종합함. PH02는 보존된 EF·높은 CO·낮은 SVR을 확인한 혼합 약물중독 1명 증례로, 약리 가설의 설명에 사용함. 모든 중독성 쇼크에 적용되는 효능 근거는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[PH02] Laes JR, Williams DM, Cole JB. Improvement in Hemodynamics After Methylene Blue Administration in Drug-Induced Vasodilatory Shock: A Case Report. J Med Toxicol. 2015;11:460–463. doi:10.1007/s13181-015-0500-1.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https://pmc.ncbi.nlm.nih.gov/articles/PMC4675606/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미국 Hennepin County Medical Center, Minneapolis의 혼합중독 1명 증례. 선행 PMC 전문 검토와 이번 출판사 원문 대조. EF 60–65%, CO 10.5 L/min, SVR 240→1204 dyn·s·cm⁻⁵. 투여 1시간 내 변화. 다중 동시 치료·약물 제거 영향을 분리하지 못함. 모든 CCB·베타차단제 중독의 표준치료 또는 생존효과 근거 아님.</a:t>
            </a:r>
            <a:endParaRPr/>
          </a:p>
        </p:txBody>
      </p:sp>
      <p:sp>
        <p:nvSpPr>
          <p:cNvPr id="132" name="Google Shape;132;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NO–sGC–cGMP의 과활성은 혈관 이완과 SVR 감소로 이어짐</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NO는 sGC를 활성화해 cGMP 형성을 증가시킴. cGMP 관련 신호는 혈관 평활근 이완에 관여함. 기초 실험은 경로의 존재와 MB 관련 억제 신호를 보여줌. 염증·심폐우회술·약물중독은 복수 기전으로 혈관확장과 쇼크를 유발하므로 이 도식은 개념적 요약임. 정상 NO 신호는 생리적 기능도 갖고 있어 무조건적인 억제를 목표로 삼지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[MA01] Ignarro LJ, Buga GM, Wood KS, et al. Endothelium-derived relaxing factor produced and released from artery and vein is nitric oxide. Proc Natl Acad Sci USA. 1987;84:9265–9269. doi:10.1073/pnas.84.24.9265.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https://pubmed.ncbi.nlm.nih.gov/2827174/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분리 혈관·내피세포 원저. NO·cGMP와 혈관 이완의 기초 근거. 임상 쇼크의 생존효과 근거 아님. 이번 PubMed 직접 재열람 응답이 제한되어 선행 확인 기록과 연결된 원문으로 대조.</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[SF05] Mayer, Brunner and Schmidt. Inhibition of nitric oxide synthesis by methylene blue. 1993. doi:10.1016/0006-2952(93)90072-5.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https://pubmed.ncbi.nlm.nih.gov/7679577/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실험계별 효소·농도 차이 존재. 쇼크 환자의 주된 작용 부위·치료 효과를 직접 입증하지 않음</a:t>
            </a:r>
            <a:endParaRPr/>
          </a:p>
        </p:txBody>
      </p:sp>
      <p:sp>
        <p:nvSpPr>
          <p:cNvPr id="151" name="Google Shape;15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메틸렌블루는 과도한 이완 신호를 억제하는 추가 전략으로 연구됨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Mayer 1993은 실험계에서 NOS 활성과 NO 의존 cGMP 형성 억제를 확인함. 직접 sGC 자극 반응과 NOS 의존 반응의 민감도는 달랐음. MB를 선택적 iNOS 억제제 또는 선택적 sGC 억제제로 단순화하지 않음. 약리 가설은 SVR 회복과 승압제 부담 감소이며, 생존효과 보증이나 일률적 반응 예측을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[SF05] Mayer, Brunner and Schmidt. Inhibition of nitric oxide synthesis by methylene blue. 1993. doi:10.1016/0006-2952(93)90072-5.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https://pubmed.ncbi.nlm.nih.gov/7679577/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실험계별 효소·농도 차이 존재. 쇼크 환자의 주된 작용 부위·치료 효과를 직접 입증하지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[MA03] Leyh RG, Kofidis T, Strüber M, et al. Methylene blue: the drug of choice for catecholamine-refractory vasoplegia after cardiopulmonary bypass? J Thorac Cardiovasc Surg. 2003;125:1426–1431. doi:10.1016/S0022-5223(02)73284-4.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https://pubmed.ncbi.nlm.nih.gov/12830064/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PubMed 원저 초록 재확인. Hannover Medical School, 독일. NE 불응성 CPB 후 혈관마비 54명 치료 연구. 51명에서 1시간 이내 SVR 증가·NE 감소 보고. 같은 초록의 4명 무반응과 총수 불일치로 반응률 산출 보류. 동시 무작위 대조군 없음. 제목의 drug of choice는 공식 지위·필수약 판정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p:txBody>
      </p:sp>
      <p:sp>
        <p:nvSpPr>
          <p:cNvPr id="189" name="Google Shape;18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노르에피네프린·바소프레신·메틸렌블루는 주된 개입 경로가 다름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수축 신호를 추가하는 전략과 이완 신호를 줄이는 전략의 약리 차이를 설명함. 실제 수용체·신호망은 단순 표보다 복잡함. MB의 다른 표적은 보완적 사용의 개연성임. 바소프레신보다 우월하다는 근거 또는 패혈증에서 표준 2차 약제라는 의미는 아님. 노르에피네프린을 NE로 약칭함.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[SF05] Mayer, Brunner and Schmidt. Inhibition of nitric oxide synthesis by methylene blue. 1993. doi:10.1016/0006-2952(93)90072-5.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https://pubmed.ncbi.nlm.nih.gov/7679577/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실험계별 효소·농도 차이 존재. 쇼크 환자의 주된 작용 부위·치료 효과를 직접 입증하지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[MO01] DailyMed. LEVOPHED (norepinephrine bitartrate) injection. Clinical Pharmacology 12.1–12.2.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https://dailymed.nlm.nih.gov/dailymed/drugInfo.cfm?setid=c4de72a8-2a75-4984-ce90-e4870226dc12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공식 라벨의 말초 α-adrenergic 혈관수축·심장 β-adrenergic 작용 확인용. 공개 라벨 개정표기 10/2020. 혈압 상승과 장기 혈류 개선을 동일시하지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[MO02] DailyMed. VASOSTRICT (vasopressin) injection. Mechanism of Action.</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https://dailymed.nlm.nih.gov/dailymed/drugInfo.cfm?setid=d162d386-105d-e916-e053-2995a90a350c</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공식 라벨의 혈관 평활근 V1 수용체·Gq/11–PLC–IP3·칼슘 방출 기전 확인용. 국내 품목의 처방·조제 지침으로 전용하지 않음.</a:t>
            </a:r>
            <a:endParaRPr/>
          </a:p>
        </p:txBody>
      </p:sp>
      <p:sp>
        <p:nvSpPr>
          <p:cNvPr id="228" name="Google Shape;22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메트헤모글로빈혈증의 환원 작용과 혈관마비 가설은 서로 다름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프로베블루주0.5%의 국내 허가 적응증은 약물에 의한 메트헤모글로빈혈증임. 미국 라벨의 NADPH 의존 환원 기전과 쇼크 문헌의 NO 관련 기전을 구분함. 국내 ‘염색약으로만 허가’라는 전제는 사실과 다름. 메트헤모글로빈혈증의 허가 용법을 쇼크 처방으로 전용하지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[SF01] FDA PROVAYBLUE (methylene blue) injection: Prescribing Information, NDA 204630/S-023. 2024.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https://www.accessdata.fda.gov/drugsatfda_docs/label/2024/204630Orig1s023lbl.pdf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Revised 02/2024. Boxed warning 주요 변경 11/2023 허가 적응증의 문서. 쇼크 효과·표준 용량·안전한 누적 상한을 승인한 근거가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[SF05] Mayer, Brunner and Schmidt. Inhibition of nitric oxide synthesis by methylene blue. 1993. doi:10.1016/0006-2952(93)90072-5.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https://pubmed.ncbi.nlm.nih.gov/7679577/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실험계별 효소·농도 차이 존재. 쇼크 환자의 주된 작용 부위·치료 효과를 직접 입증하지 않음</a:t>
            </a:r>
            <a:endParaRPr/>
          </a:p>
        </p:txBody>
      </p:sp>
      <p:sp>
        <p:nvSpPr>
          <p:cNvPr id="247" name="Google Shape;24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카테콜아민 불응성 혈관마비에서 다른 경로에 개입한 반응이 보고됨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Leyh 2003의 공개 원저 초록에서 총 54명 연구 및 51명의 1시간 이내 임상적으로 의미 있는 SVR 증가와 NE 요구 감소가 보고됨. 같은 초록의 무반응 4명 기재와 총수가 일치하지 않아 반응률·성공률을 산출하지 않음. 전체 원문 미검토. 논문의 drug of choice라는 제목을 보편적 약제 지위로 전환하지 않음. 무대조 관찰을 환자별 성공확률로 사용하지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[MA03] Leyh RG, Kofidis T, Strüber M, et al. Methylene blue: the drug of choice for catecholamine-refractory vasoplegia after cardiopulmonary bypass? J Thorac Cardiovasc Surg. 2003;125:1426–1431. doi:10.1016/S0022-5223(02)73284-4.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https://pubmed.ncbi.nlm.nih.gov/12830064/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PubMed 원저 초록 재확인. Hannover Medical School, 독일. NE 불응성 CPB 후 혈관마비 54명 치료 연구. 51명에서 1시간 이내 SVR 증가·NE 감소 보고. 같은 초록의 4명 무반응과 총수 불일치로 반응률 산출 보류. 동시 무작위 대조군 없음. 제목의 drug of choice는 공식 지위·필수약 판정 아님.</a:t>
            </a:r>
            <a:endParaRPr/>
          </a:p>
        </p:txBody>
      </p:sp>
      <p:sp>
        <p:nvSpPr>
          <p:cNvPr id="264" name="Google Shape;264;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메틸렌블루의 사용 시점은 예방·초기 보조·구제 연구마다 다름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시험에서 second agent로 평가되었다는 사실은 표준 2차 약제 권고와 다름. Levin 2004는 수술 후 발생한 혈관마비 RCT이며 확인 초록으로 현대적인 다중 승압제 불응 조건을 확정하지 않음. 각 연구의 시점·대상·지표를 유지하고 예방 효과를 구제치료 효과로 옮기지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[TR02] Methylene blue reduces mortality and morbidity in vasoplegic patients after cardiac surgery. 2004. doi:10.1016/S0003-4975(03)01510-8.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https://pubmed.ncbi.nlm.nih.gov/14759425/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Levin et al.; Annals of Thoracic Surgery 77:496–499; 수술 환자 연속 코호트에서 혈관마비 발생 환자만 무작위배정. PubMed 원저 초록 확인; 공개 저널 전문은 확보하지 못함. CI·눈가림 상세·정확한 사망 추적기간 미확인. 승압제 필요는 확인되지만 NE/vasopressin 최대치 실패 등 현대적 refractory rescue 기준은 초록에서 미확인. 수술 후 혈관마비 결과를 불응성 패혈성 쇼크의 생존효과로 일반화할 수 없음.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[TR03] Preoperative methylene blue administration in patients at high risk for vasoplegic syndrome during cardiac surgery. 2005. doi:10.1016/j.athoracsur.2004.10.038.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https://pubmed.ncbi.nlm.nih.gov/15854942/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Ozal et al.; Annals of Thoracic Surgery 79:1615–1619; 전향적 무작위 예방시험. PubMed 원저 초록 확인; 전문·CI·사망률 검정 상세 미확인. 불응성 사례의 발생은 예방시험 결과의 일부임. MB 구제투여의 무작위 비교로 재분류 불가. 고위험 CABG에 한정된 모집단.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[TR08] Effects of Early Use of Methylene Blue and Vasopressin on Noradrenaline Dose in Septic Shock: A Randomized Controlled Trial. 2025. doi:10.5005/jp-journals-10071-24905.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https://pmc.ncbi.nlm.nih.gov/articles/PMC11915450/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Kuri et al.; Indian Journal of Critical Care Medicine 29:108–112; 단일기관 공개형 평행군 RCT. 전문·Table 2 확인. 24시간 생리학적 평가, 소표본·비눈가림. 원저의 유지용량을 후대 메타분석이 시간당 용량으로 다르게 표기함. 원저 문구 보존. 활성 비교약 시험을 MB 대 무치료 효과로 합산하면 오류.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[MA03] Leyh RG, Kofidis T, Strüber M, et al. Methylene blue: the drug of choice for catecholamine-refractory vasoplegia after cardiopulmonary bypass? J Thorac Cardiovasc Surg. 2003;125:1426–1431. doi:10.1016/S0022-5223(02)73284-4.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https://pubmed.ncbi.nlm.nih.gov/12830064/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PubMed 원저 초록 재확인. Hannover Medical School, 독일. NE 불응성 CPB 후 혈관마비 54명 치료 연구. 51명에서 1시간 이내 SVR 증가·NE 감소 보고. 같은 초록의 4명 무반응과 총수 불일치로 반응률 산출 보류. 동시 무작위 대조군 없음. 제목의 drug of choice는 공식 지위·필수약 판정 아님.</a:t>
            </a:r>
            <a:endParaRPr/>
          </a:p>
        </p:txBody>
      </p:sp>
      <p:sp>
        <p:nvSpPr>
          <p:cNvPr id="286" name="Google Shape;28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심장수술 지침은 대체약 고려를 권고하며 패혈증 지침은 확증을 유보함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EACTS/EACTAIC/EBCP 원문 Recommendation Table 40은 성인 CPB 맥락의 난치성 혈관마비에서 MB 또는 terlipressin 같은 대체약 고려를 Class IIa, Level B로 제시함. 모든 쇼크의 의무적 2차 약제 권고로 확대하지 않음. SSC 2026은 불응성 패혈성 쇼크에서 MB 권고를 내릴 근거가 부족하다고 판단함. 두 지침은 대상·질문이 달라 모순으로 단순화하지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p:txBody>
      </p:sp>
      <p:sp>
        <p:nvSpPr>
          <p:cNvPr id="305" name="Google Shape;30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초기 보조 MB는 승압제 중단 중앙값을 69시간으로 앞당겼음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분석군은 MB 45명·대조 46명. 중단 중앙값 69 대 94시간이며 단순 차이는 25시간임. 논문에 보고된 추정 차이 29.4시간은 별도 추정치로, 중앙값 단순 차이와 혼용하지 않음. 28일 사망률에 통계적 차이를 확인하지 못함. 초기 보조요법 결과를 현대적 다중 승압제 불응성 쇼크의 확증적 구제효과로 설명하지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p:txBody>
      </p:sp>
      <p:sp>
        <p:nvSpPr>
          <p:cNvPr id="321" name="Google Shape;321;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수술 후 혈관마비 RCT에서 사망 0/28 대 6/28의 긍정 신호 확인</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표기 순서는 MB군 대 대조군. 작은 표본·사건 수와 오래된 치료 환경을 고려함. 확인한 초록만으로 현대적인 NE+vasopressin 등 다중 승압제 불응군으로 분류하지 않음. 사망률 차이의 긍정 신호는 보존하되 모든 쇼크의 생존효과로 일반화하지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[TR02] Methylene blue reduces mortality and morbidity in vasoplegic patients after cardiac surgery. 2004. doi:10.1016/S0003-4975(03)01510-8.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https://pubmed.ncbi.nlm.nih.gov/14759425/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Levin et al.; Annals of Thoracic Surgery 77:496–499; 수술 환자 연속 코호트에서 혈관마비 발생 환자만 무작위배정. PubMed 원저 초록 확인; 공개 저널 전문은 확보하지 못함. CI·눈가림 상세·정확한 사망 추적기간 미확인. 승압제 필요는 확인되지만 NE/vasopressin 최대치 실패 등 현대적 refractory rescue 기준은 초록에서 미확인. 수술 후 혈관마비 결과를 불응성 패혈성 쇼크의 생존효과로 일반화할 수 없음.</a:t>
            </a:r>
            <a:endParaRPr/>
          </a:p>
        </p:txBody>
      </p:sp>
      <p:sp>
        <p:nvSpPr>
          <p:cNvPr id="348" name="Google Shape;34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고위험 CABG 예방시험은 혈관마비 발생률 0% 대 26%를 보고함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수술 전 예방 연구로 구제치료 RCT가 아님. CABG는 coronary artery bypass grafting, 관상동맥우회술. 고위험 환자 선택과 당시 치료 환경을 유지함. 임상 성과를 확대하지 않으며 이 보고서는 모든 CABG 환자에 대한 예방 투여를 제안하지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[TR03] Preoperative methylene blue administration in patients at high risk for vasoplegic syndrome during cardiac surgery. 2005. doi:10.1016/j.athoracsur.2004.10.038.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https://pubmed.ncbi.nlm.nih.gov/15854942/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Ozal et al.; Annals of Thoracic Surgery 79:1615–1619; 전향적 무작위 예방시험. PubMed 원저 초록 확인; 전문·CI·사망률 검정 상세 미확인. 불응성 사례의 발생은 예방시험 결과의 일부임. MB 구제투여의 무작위 비교로 재분류 불가. 고위험 CABG에 한정된 모집단.</a:t>
            </a:r>
            <a:endParaRPr/>
          </a:p>
        </p:txBody>
      </p:sp>
      <p:sp>
        <p:nvSpPr>
          <p:cNvPr id="375" name="Google Shape;37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최근 시험에서도 승압제와 미세순환 지표의 개선 신호가 반복됨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Shaker 값은 두 MB군 대 위약 순서이며 평균임. Ibarra-Estrada의 중앙값과 구분함. Luis-Silva는 배정 후 제외 수가 커 결과 해석에 제약이 있음. Dong은 특정 미세순환 지표의 차이로 모든 장기 관류·생존 개선을 확정하지 않음. 최근 발간됐다는 사실은 연구의 확실성이나 현행 보편 권고를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[TR06] Methylene blue therapy in addition to standard treatment for acute-phase septic shock: a pilot randomized controlled trial. 2024. doi:10.3389/fmed.2024.1431321.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https://www.frontiersin.org/journals/medicine/articles/10.3389/fmed.2024.1431321/full</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Luis-Silva et al.; Frontiers in Medicine 11:1431321; 2024-10-14 출판; 단일기관 공개형 파일럿 RCT. 저널 전문 확인. 80명 배정 후 38명 제외에 따른 선택·탈락 편향 우려. MB군 중증도 불균형, 소표본, 비눈가림. 용량이 다른 연구보다 크고 장시간임. 다른 요법과 효과·안전성 동일시 불가.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[TR07] Comparative study between high and low dose methylene blue infusion in septic cancer patients: a randomized, blinded, controlled study. 2025. doi:10.1186/s12871-024-02792-3.</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https://pmc.ncbi.nlm.nih.gov/articles/PMC11707904/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Shaker et al.; BMC Anesthesiology 25:15; 2025-01-08 출판; 단일기관 3군 이중눈가림 RCT. Methods·Table 2 확인. 암·기계환기 환자에 한정된 소표본. 사망은 2차 평가변수. logistic regression으로 HR를 산출했다고 기재한 통계 표기 문제. 용량군 간 우월성 입증 없음. 고용량의 일상 사용 근거로 전환 불가.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[TR09] The Effect of Methylene Blue on Sublingual Microcirculation in Patients with Septic Shock: A Randomized Controlled Trial. 2025. doi:10.2147/DDDT.S561592.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https://pmc.ncbi.nlm.nih.gov/articles/PMC12751372/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Dong et al.; Drug Design, Development and Therapy 19:11629–11640; 2025-12-25 출판; 단일기관 무작위시험, 환자·연구자 눈가림 보고. 전문·Table 2 확인. 소표본·단일기관. 미세순환 대리지표 개선을 생존효과로 전환 불가. 소변 색으로 눈가림 손상 가능성. 사망률 검정력 제한. Methods의 12시간 주입과 Discussion의 반복투여처럼 읽히는 문구를 구분함.</a:t>
            </a:r>
            <a:endParaRPr/>
          </a:p>
        </p:txBody>
      </p:sp>
      <p:sp>
        <p:nvSpPr>
          <p:cNvPr id="402" name="Google Shape;40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바소프레신과의 직접 비교는 MB의 표준 2차 지위를 뒷받침하지 못함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NE 요구량 &gt;0.2 μg/kg/min에서 MB 또는 바소프레신을 추가한 second-agent 직접 비교임. MAP≥65 mmHg 유지에 필요한 NE 용량 평가. 단일기관·공개형·24시간 평가이며 사망률 미평가. MB 비열등성·동등성·우월성 입증시험으로 설명하지 않음. 원저의 MB 단위 표기 문제로 연구 용법을 처방표에 옮기지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[TR08] Effects of Early Use of Methylene Blue and Vasopressin on Noradrenaline Dose in Septic Shock: A Randomized Controlled Trial. 2025. doi:10.5005/jp-journals-10071-24905.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https://pmc.ncbi.nlm.nih.gov/articles/PMC11915450/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Kuri et al.; Indian Journal of Critical Care Medicine 29:108–112; 단일기관 공개형 평행군 RCT. 전문·Table 2 확인. 24시간 생리학적 평가, 소표본·비눈가림. 원저의 유지용량을 후대 메타분석이 시간당 용량으로 다르게 표기함. 원저 문구 보존. 활성 비교약 시험을 MB 대 무치료 효과로 합산하면 오류.</a:t>
            </a:r>
            <a:endParaRPr/>
          </a:p>
        </p:txBody>
      </p:sp>
      <p:sp>
        <p:nvSpPr>
          <p:cNvPr id="419" name="Google Shape;419;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메타분석은 유익성 방향을 제시하며 확증의 한계도 남김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RR은 상대위험, OR은 오즈비로 서로 다른 효과척도임. 절대 생존자 수나 병원 예상 효과로 환산하지 않음. Fernando 본문 수치를 사용함. 같은 소규모 원시험이 여러 메타분석에 중복 포함되어 독립 재현 연구 수를 늘리지 않음. 대상·시점·용량 이질성과 민감도 분석을 함께 검토함.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[TR10] Methylene Blue in Septic Shock: A Systematic Review and Meta-Analysis. 2024. doi:10.1097/CCE.0000000000001110.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https://pmc.ncbi.nlm.nih.gov/articles/PMC11196076/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Critical Care Explorations 6:e1110; 2024-06-21 온라인 출판. 2024-01-10까지 검색한 RCT 메타분석. 전문·Table 2·민감도 분석 확인. 6개 중 4개 시험이 높은 비뚤림 위험. 안전성 보고도 불완전. 사망 CI 상한이 본문·초록 0.94, Table 2 0.95로 다름. 임의 통일하지 않음. 민감도 분석의 사망률 null과 기존 소규모 RCT 중복 포함을 함께 해석해야 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[TR12] Methylene Blue Reduces Mortality in Critically Ill and Perioperative Patients: A Meta-Analysis of Randomized Trials. 2024. doi:10.1053/j.jvca.2023.09.037.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https://pubmed.ncbi.nlm.nih.gov/37880041/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Journal of Cardiothoracic and Vascular Anesthesia 38:268–274; 2023-10-01 온라인, 2024년 1월 권호. RCT 메타분석. PubMed·저널 초록 및 공개 본문 일부 확인; 결과별 표본수와 세부 하위군 효과는 미확인. 질환·투여시점 혼합, 작은 원 연구들. 제목의 단정형을 임상 결론으로 그대로 사용하지 않음. 다른 메타분석과 원 RCT 중복.</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[TR16] Methylene blue for vasoplegic syndrome in cardiopulmonary bypass surgery: A systematic review and meta-analysis. 2021. doi:10.1177/0218492321998523.</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https://pubmed.ncbi.nlm.nih.gov/33653154/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Asian Cardiovascular and Thoracic Annals 29:717–728; RCT·관찰연구 혼합 체계적 고찰/메타분석. PubMed·저널 초록 확인. 총 n·연구별 상세·사망 추적기간은 확인 자료 부족. 관찰연구와 작은 시험의 혼합. 강한 OR를 확정적 인과효과로 해석 불가. 심장수술 결과를 septic shock routine recommendation에 전용 불가.</a:t>
            </a:r>
            <a:endParaRPr/>
          </a:p>
        </p:txBody>
      </p:sp>
      <p:sp>
        <p:nvSpPr>
          <p:cNvPr id="437" name="Google Shape;43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미국 UVA의 118명 코호트는 조기 투여와 더 낮은 사망률의 연관성을 보고함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분석 대상은 MB를 투여받은 118명. 조기는 수술 중, 후기는 ICU 투여. 보고 사망률 10.4 대 28.6%를 그대로 표시함. MB군 대 비투여군 효과나 무작위 조기 투여시험으로 표현하지 않음. 단일기관 후향 연구로 시점과 환자 상태의 교란을 분리할 수 없음.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[CT01] Methylene Blue for Vasoplegic Syndrome After Cardiac Operation: Early Administration Improves Survival — Mehaffey et al.. 2017. University of Virginia, Charlottesville, Virginia; 흉부·심혈관외과.</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https://pmc.ncbi.nlm.nih.gov/articles/PMC5523819/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후향적 관찰 코호트; 기관 내 MB 프로토콜 및 조기·후기 투여 비교; 공개 전문 확인; 비무작위 조기·후기 비교로 질병 중증도·투여 시점 선택의 잔여 교란 가능. 같은 중증도의 MB 비투여군과 비교한 효능시험 아님. 생존 개선의 인과성 미확립. 초록과 본문의 연구 종료 월에 불일치가 있어 기간은 연도로만 표기. 용량은 당시 기관 기록이며 현재 보편 권장 용량 아님. 기관 내 consensus를 미국 또는 국제 합의로 확대 불가. 연구국은 본문 시행기관으로 판정; 저자 국적 미확인.</a:t>
            </a:r>
            <a:endParaRPr/>
          </a:p>
        </p:txBody>
      </p:sp>
      <p:sp>
        <p:nvSpPr>
          <p:cNvPr id="456" name="Google Shape;45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유럽 기관 코호트는 승압제·미세순환 반응을 실제 치료 환경에서 보고함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LMU 연구는 성향점수 매칭 코호트이며 무작위시험이 아님. 프랑스 연구는 수술 후 미세순환 관찰 자료임. 비교군·설계·환자군 차이를 유지함. 병원명은 확인 원문 범위에 한정함.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[CT02] Early Use of Methylene Blue in Vasoplegic Syndrome: A 10-Year Propensity Score-Matched Cohort Study — Kofler et al.. 2022. LMU Hospital, Ludwig-Maximilians-University Munich, München.</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https://pmc.ncbi.nlm.nih.gov/articles/PMC8880443/</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후향적 10년 코호트; 성향점수 1:1 매칭; 공개 전문 확인; 후향적 매칭으로 미측정 교란 제거 불가. 매칭 변수는 연령·성별·BMI·수술 종류. 조기 투여 15분 기준의 사후 설정 및 결측 제외 가능성. 생존 이득 미확인; creatinine 상승과 투석 차이 없음 모두 보존. 프랑스 소재 제약사 연구비와 다른 저자 소속을 연구 시행국으로 오인하면 안 됨. 시행지는 본문상 독일 LMU 단일기관.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[CT04] Effects of methylene blue on microcirculatory alterations following cardiac surgery: A prospective cohort study — Maurin et al.; MAGIC BLUE, NCT04250389. 2022. Hôpital Cardiovasculaire et Pneumologique Louis Pradel, Hospices Civils de Lyon, Bron; 20병상 ICU.</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https://pubmed.ncbi.nlm.nih.gov/34610607/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전향적 공개 관찰 코호트; MB 투여 전·1시간 후 비교. 저자 초록 및 ClinicalTrials.gov 등록 원문 확인; 학술지 전문 미확보; 25명·비교군 없는 전후 분석·1시간 생리지표 평가. 생존·장기 예후 이득 입증 아님. 학술지 전문 접근 실패 및 공개 저장소의 전문 파일 부재; 수치는 저자 초록 범위만 사용. 서지상 2022년 권호이며 검색 색인에 2021년 날짜도 있어 권호 연도로 통일. 저자 소속뿐 아니라 연구등록의 실제 장소로 국가 확정.</a:t>
            </a:r>
            <a:endParaRPr/>
          </a:p>
        </p:txBody>
      </p:sp>
      <p:sp>
        <p:nvSpPr>
          <p:cNvPr id="483" name="Google Shape;483;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처방집과 증례는 운영 가능성·반응·위험을 서로 다른 수준에서 보여줌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영국 처방집을 사용량 자료 또는 국가 지침으로 해석하지 않음. 캐나다 원문에서 개별 치료 병원명은 미명시로 대학·의료체계 소속까지만 표시함. 호주 자료는 실제 구제사용과 중대한 위해를 함께 보여주는 증례임. 증례로 국가별 보급률이나 성공률을 계산하지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[CT03] Methaemoglobinaemia — Methylthionium chloride (methylene blue) injection: approved uses in K&amp;M. 발행연도 미표시. NHS Kent and Medway Joint Medicines Formulary; Maidstone and Tunbridge Wells, Dartford and Gravesham, Medway, East Kent의 지역 처방집.</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https://kentandmedwayformulary.nhs.uk/therapeutic-sections/emergency-treatment-of-poisoning/methaemoglobinaemia/</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NHS 지역 공식 처방집; 2026-10-08 공식 서버의 현행 HTML 원문 확인; 환자 연구 아님; 지역 처방 허용은 실제 투여 건수나 임상효과의 증거가 아님. 영국 전체 채택·NHS 전체 표준·SSC 2026 일상적 권고로 확대 불가. 상세 성인 불응성 저혈압 프로토콜 승인 원본은 미확보. 현행 쇼크 항목의 발행·개정연도 미표시로 year=null. 같은 페이지의 2019년 표기와 3 mg/kg 용량은 부갑상선 수술 시각화 FAQ에 속하므로 쇼크 프로토콜 날짜·용량으로 사용하지 않음. 검색 도구의 오래된 캐시와 달리 공식 서버 직접 조회에서 쇼크 용도 확인.</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[CT06] Severe Undifferentiated Vasoplegic Shock Refractory to Vasoactive Agents Treated with Methylene Blue — Manji et al.. 2017. University of Calgary 및 Alberta Health Services, Calgary; 개별 치료 병원명은 원문 미명시.</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https://pmc.ncbi.nlm.nih.gov/articles/PMC5642875/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증례보고; 공개 전문 확인; 단일 사례·대조군 없음·원인 미상으로 자연 회복과 동시 치료 영향을 분리할 수 없음. 심장수술 또는 패혈성 쇼크의 일반 효능 자료 아님. 장기 생존 결과 미보고. 캐나다 임상기관의 증례이며 저자 국적·캐나다 전국 사용률은 미확인.</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[CT05] Vasoplegic Shock Treated with Methylene Blue Complicated by Severe Serotonin Syndrome — Chan et al.. 2018. Prince of Wales Hospital, Sydney, New South Wales; Clinical Toxicology Unit 및 Emergency Medicine.</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https://pmc.ncbi.nlm.nih.gov/articles/PMC6013734/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중독 증례 및 MB 약동학 분석; 공개 전문 확인. 온라인 선출판 2017년, 권호 2018년; 단일 복합중독 사례로 효능·위험 발생률 산출 불가. 세로토닌성 약물 과량복용 및 MB의 MAO 억제 상호작용이 해석의 핵심. 당시 장시간·고용량 투여를 보편적 권장 용법으로 인용하지 않음. 혈압 호전만 기재하고 중증 부작용을 누락하면 안 됨.</a:t>
            </a:r>
            <a:endParaRPr/>
          </a:p>
        </p:txBody>
      </p:sp>
      <p:sp>
        <p:nvSpPr>
          <p:cNvPr id="501" name="Google Shape;501;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일본과 한국 증례는 구제사용 경험과 환자 결과의 차이를 보여줌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경희대학교 증례의 세부 병원 지점은 확인 원문에서 미명시로 추가하지 않음. 일본 사례는 혈압 반응과 사망이 함께 보고되어 임상 지표를 분리할 필요성을 보여줌. 국내 증례 존재는 국내 허가 적응증 또는 병원 전체 프로토콜 승인 사실과 다름.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[CT07] Successful use of methylene blue for catecholamine-refractory vasoplegic shock due to metformin intoxication: A case report and literature review — Takahashi et al.. 2024. Hitachi General Hospital, Hitachi, Ibaraki; Department of Emergency and Critical Care Medicine.</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https://pmc.ncbi.nlm.nih.gov/articles/PMC11247704/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증례보고; 공개 전문 확인; 제목의 Successful을 생존 성공으로 해석하면 안 됨. 단일 사례·동시 ECMO/CHDF·MB 전 metformin 농도 감소로 독립 효과 불명확. EF 약 30%, 심박출량·SVR 측정 부재로 순수 혈관마비성 쇼크의 확증에도 제한. 일본 전국 표준 또는 패혈성 쇼크 권고 근거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[CT08] Use of methylene blue in vasoplegic syndrome that developed during non-cardiac surgery - A case report -. 2019. 경희대학교 의과대학 마취통증의학교실, 서울; 세부 병원 지점은 원문 미명시.</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https://pmc.ncbi.nlm.nih.gov/articles/PMC7713804/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비심장수술 증례보고; 공개 전문 확인; 단일 증례·병용 승압제·출혈 및 수혈 등 교란요인 존재. 계획 용량 35 mg과 실제 용량 26 mg을 구분해야 함. 혈압 호전과 함께 구토로 인한 중단도 보고. 심장수술·패혈증 또는 국내 전체 채택으로 일반화 불가.</a:t>
            </a:r>
            <a:endParaRPr/>
          </a:p>
        </p:txBody>
      </p:sp>
      <p:sp>
        <p:nvSpPr>
          <p:cNvPr id="518" name="Google Shape;518;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아나필락시스·약물중독에도 구제 반응 증례가 존재하나 일반화는 제한됨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PH01은 dipyrone 이후 쇼크에 표준 소생술·epinephrine 등 투여 후에도 저혈압이 지속된 증례. PH02는 atenolol·amlodipine·valsartan 혼합 과량복용 사례. 두 사례 모두 투여 후 시간적 연관성이며 MB 단독 효과를 입증하지 못함. 모든 아나필락시스·CCB·베타차단제 중독에 대한 표준 약제 지위를 뜻하지 않음. 연구 투여법은 처방 지시로 제시하지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[PH01] Stocche RM, Garcia LV, Reis MP, et al. Methylene blue to treat anaphylaxis during anesthesia: case report. Rev Bras Anestesiol. 2004;54:809–814. doi:10.1590/S0034-70942004000600010.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https://pubmed.ncbi.nlm.nih.gov/19471794/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브라질 Universidade de São Paulo, Ribeirão Preto의 1명 증례. 원저 초록 기준 수축기혈압 60→85→105 mmHg. MAP로 표기하지 않음. SVR·CO 실측, 두 번째 MB 용량·간격, 장기 예후 미확인. 무대조·동시 소생술 및 약물치료로 인과효과 확정 불가. 저널 PDF 전문 미확보.</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[PH02] Laes JR, Williams DM, Cole JB. Improvement in Hemodynamics After Methylene Blue Administration in Drug-Induced Vasodilatory Shock: A Case Report. J Med Toxicol. 2015;11:460–463. doi:10.1007/s13181-015-0500-1.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https://pmc.ncbi.nlm.nih.gov/articles/PMC4675606/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미국 Hennepin County Medical Center, Minneapolis의 혼합중독 1명 증례. 선행 PMC 전문 검토와 이번 출판사 원문 대조. EF 60–65%, CO 10.5 L/min, SVR 240→1204 dyn·s·cm⁻⁵. 투여 1시간 내 변화. 다중 동시 치료·약물 제거 영향을 분리하지 못함. 모든 CCB·베타차단제 중독의 표준치료 또는 생존효과 근거 아님.</a:t>
            </a:r>
            <a:endParaRPr/>
          </a:p>
        </p:txBody>
      </p:sp>
      <p:sp>
        <p:nvSpPr>
          <p:cNvPr id="536" name="Google Shape;53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혈압·승압제·장기 관류·생존은 별도로 평가해야 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Weingartner 1999의 사람 패혈성 쇼크 자료에서 MAP·SVR 증가와 폐혈관저항 증가, PaO2/FiO2 저하를 함께 보고함. 혈압 개선이 산소전달량·장기 산소화 개선을 보장하지 않음. MB의 혈압 반응을 치료 성공의 단일 기준으로 삼지 않으며 환자별 관류와 위해를 함께 관찰함.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[SF07] Weingartner et al. Blockade of the action of nitric oxide in human septic shock increases systemic vascular resistance and has detrimental effects on pulmonary function after a short infusion of methylene blue. 1999. doi:10.1590/S0100-879X1999001200009.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https://pubmed.ncbi.nlm.nih.gov/10585632/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10명·비무작위·단기 생리학 연구. 모든 투여법의 위해 빈도나 폐고혈압 환자의 절대 금기를 확정하지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p:txBody>
      </p:sp>
      <p:sp>
        <p:nvSpPr>
          <p:cNvPr id="552" name="Google Shape;552;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프로베블루주 0.5%는 약물 유발 메트헤모글로빈혈증 허가품목임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국내 품목은 사용자 지정 자료와 MFDS itemSeq 201708376을 대조함. 0.5 g/100 mL는 5 mg/mL임. 허가 포장 정보와 병원 실제 보유 앰플 크기는 구분함. 실물 크기·재고량은 미제공으로 임의 수량을 만들지 않음. 미국 PROVAYBLUE·EU Proveblue 라벨은 안전성 참고이며 국내 제품 조제 지시를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[P01] 약학정보원. 프로베블루주0.5% 복약안내문. 의약품코드 2017121500009. 사용자 지정 품목.</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https://health.kr/searchDrug/result_take.asp?drug_cd=2017121500009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제품명, 메틸렌블루 5 mg/mL, 삼오제약, 전문의약품·해독제 분류 확인. 품목 허가 원문과 구분.</a:t>
            </a:r>
            <a:endParaRPr/>
          </a:p>
        </p:txBody>
      </p:sp>
      <p:sp>
        <p:nvSpPr>
          <p:cNvPr id="577" name="Google Shape;577;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세로토닌성 병용약과 G6PD 결핍은 투여 전 우선 확인 대상임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FDA 라벨의 boxed warning은 세로토닌성 약물 및 오피오이드 병용에 의한 세로토닌증후군 위험과 회피를 명시함. 수술·ICU 환경에서 현재 처방뿐 아니라 최근 약물과 긴 반감기를 고려함. MAO-A 억제의 기초 근거와 실제 vasoplegia 사용 뒤 위해 증례를 함께 확인함. G6PD 검사 가용성과 결과 지연은 별도의 임상 위험판단 사항임. 이 장은 응급 환자별 판단을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[SF01] FDA PROVAYBLUE (methylene blue) injection: Prescribing Information, NDA 204630/S-023. 2024.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https://www.accessdata.fda.gov/drugsatfda_docs/label/2024/204630Orig1s023lbl.pdf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Revised 02/2024. Boxed warning 주요 변경 11/2023 허가 적응증의 문서. 쇼크 효과·표준 용량·안전한 누적 상한을 승인한 근거가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[SF03] EMA: Methylthioninium chloride Proveblue 5 mg/ml — EPAR Product Information / SmPC. 2025.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https://www.ema.europa.eu/en/documents/product-information/methylthioninium-chloride-proveblue-epar-product-information_en.pdf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EMA EPAR 제품정보 갱신 2025-12-19; PDF HTTP Last-Modified 2025-12-19 확인 EU 제품 기준. 국내 동일 성분 제품의 허가·조제 지침으로 자동 전용 불가. EMA 문서에는 미국식 boxed warning 분류를 적용하지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[SF04] Ramsay et al. Methylene blue and serotonin toxicity: inhibition of monoamine oxidase A (MAO A) confirms a theoretical prediction. 2007. doi:10.1038/sj.bjp.0707430.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https://pmc.ncbi.nlm.nih.gov/articles/PMC2078225/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PMC 원문 확인 기전 연구로 임상 serotonin syndrome 발생률·안전한 병용 역치 추정 불가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[SF10] Hencken et al. Serotonin Syndrome Following Methylene Blue Administration for Vasoplegic Syndrome. 2016. doi:10.1111/jocs.12705.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https://pubmed.ncbi.nlm.nih.gov/26934199/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초록·색인 확인; 전체 원문 미검토 증례로 발생률·개별 약물의 기여도·위험 없는 용량 추정 불가</a:t>
            </a:r>
            <a:endParaRPr/>
          </a:p>
        </p:txBody>
      </p:sp>
      <p:sp>
        <p:nvSpPr>
          <p:cNvPr id="595" name="Google Shape;595;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농도·신기능·산소화·광학 간섭을 분리해 감시할 필요가 있음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미국·EU 제품정보에는 NaCl 희석·혼합 회피 또는 금지 문구가 있어 문헌 조제법을 그대로 복사하지 않음. 실제 제품의 국내 허가사항·약제부 검토를 우선함. 폐고혈압·우심실 기능저하는 고위험 평가 항목이며 검토 라벨의 일률적 절대금기로 단정하지 않음. SpO2 또는 임상화학 검사 변화는 실제 병태와 간섭 가능성을 함께 검토함. 소규모 RCT에서 중대한 이상반응이 관찰되지 않았다는 이유로 드문 중증 위해를 배제할 수 없음.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[SF01] FDA PROVAYBLUE (methylene blue) injection: Prescribing Information, NDA 204630/S-023. 2024.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https://www.accessdata.fda.gov/drugsatfda_docs/label/2024/204630Orig1s023lbl.pdf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Revised 02/2024. Boxed warning 주요 변경 11/2023 허가 적응증의 문서. 쇼크 효과·표준 용량·안전한 누적 상한을 승인한 근거가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[SF03] EMA: Methylthioninium chloride Proveblue 5 mg/ml — EPAR Product Information / SmPC. 2025.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https://www.ema.europa.eu/en/documents/product-information/methylthioninium-chloride-proveblue-epar-product-information_en.pdf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EMA EPAR 제품정보 갱신 2025-12-19; PDF HTTP Last-Modified 2025-12-19 확인 EU 제품 기준. 국내 동일 성분 제품의 허가·조제 지침으로 자동 전용 불가. EMA 문서에는 미국식 boxed warning 분류를 적용하지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[SF07] Weingartner et al. Blockade of the action of nitric oxide in human septic shock increases systemic vascular resistance and has detrimental effects on pulmonary function after a short infusion of methylene blue. 1999. doi:10.1590/S0100-879X1999001200009.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https://pubmed.ncbi.nlm.nih.gov/10585632/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10명·비무작위·단기 생리학 연구. 모든 투여법의 위해 빈도나 폐고혈압 환자의 절대 금기를 확정하지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[SF12] Stevic et al. Determining susceptibility of routine clinical biochemistry assays to methylene blue interference. 2025. doi:10.1016/j.clinbiochem.2025.110940.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https://pubmed.ncbi.nlm.nih.gov/40320108/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시험관 내 특정 장비 결과. 통상 임상농도에서 모든 co-oximetry가 부정확하다는 근거가 아님</a:t>
            </a:r>
            <a:endParaRPr/>
          </a:p>
        </p:txBody>
      </p:sp>
      <p:sp>
        <p:nvSpPr>
          <p:cNvPr id="622" name="Google Shape;62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비축과 함께 대상 선정·다학제 확인·반응 기록을 사전 정립할 것을 제안함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원내 정책 제안이며 실제 승인된 프로토콜의 존재를 뜻하지 않음. 투여법·환자별 판단은 담당 진료부와 약제부가 국내 품목 및 환자 상태에 맞춰 확정할 필요가 있음. 표준 원인 치료, 적절한 수액·승압제, 필요한 보조치료를 수행하면서 검토하는 추가 선택지임. 이 보고서는 용량 계산기나 일괄 처방표를 제공하지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[SF01] FDA PROVAYBLUE (methylene blue) injection: Prescribing Information, NDA 204630/S-023. 2024.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https://www.accessdata.fda.gov/drugsatfda_docs/label/2024/204630Orig1s023lbl.pdf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Revised 02/2024. Boxed warning 주요 변경 11/2023 허가 적응증의 문서. 쇼크 효과·표준 용량·안전한 누적 상한을 승인한 근거가 아님</a:t>
            </a:r>
            <a:endParaRPr/>
          </a:p>
        </p:txBody>
      </p:sp>
      <p:sp>
        <p:nvSpPr>
          <p:cNvPr id="641" name="Google Shape;641;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4" name="Google Shape;664;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비축 수량은 동시 대응능력·공급기간·실물 포장단위로 확정해야 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응급 대응에 필요한 최소 재고 산식은 운영 제안임. 실제 사용 빈도·실물 앰플 크기·승인된 1건당 필요량·공급기간은 미제공으로 수량을 임의 지정하지 않음. 응급 접근성, 결손, 유효기간, 출고 지연, 무반응·이상반응 사례를 정기 점검할 필요가 있음.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p:txBody>
      </p:sp>
      <p:sp>
        <p:nvSpPr>
          <p:cNvPr id="665" name="Google Shape;665;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5" name="Google Shape;68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최소 비축과 시행 조건을 함께 정립해 준비된 구제 선택지를 확보할 필요가 있음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범위·한계 및 상세 설명</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결정안 제안: 해당 성인 진료영역의 난치성 low-SVR 혈관마비에 대비한 최소 비축과 사용 대상·책임자·안전점검·기록·재평가 조건을 함께 정립함. 약제부와 진료부가 실물 품목·필요량·공급기간·보관 및 사용체계를 확정할 필요가 있음. 공인된 보편적 패혈증 2차 표준, 사망률 개선 확정, 실제 원내 승인 완료를 주장하지 않음. 참고문헌 부록의 ID 또는 각 장 하단 서지정보 클릭으로 원문 이동 가능함.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표현 범위: 입력 원고의 근거 수준과 조건을 유지. 도형·색상·숫자 강조는 효능 확증이나 패혈증 보편 권고를 의미하지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p:txBody>
      </p:sp>
      <p:sp>
        <p:nvSpPr>
          <p:cNvPr id="686" name="Google Shape;686;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 name="Google Shape;70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[G01] Wahba A, Kunst G, De Somer F, et al. 2024 EACTS/EACTAIC/EBCP Guidelines on cardiopulmonary bypass in adult cardiac surgery. Eur J Cardiothorac Surg. 2025;67(2):ezae354. doi:10.1093/ejcts/ezae354. Recommendation Table 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https://doi.org/10.1093/ejcts/ezae354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3학회 공식 지침. EACTS 게시 2025-02-14, 공식 페이지 수정표기 2025-02-17. 2026-10-08 공식 게시 페이지와 보존 원문 42쪽 Table 40 대조. 성인 CPB 맥락의 난치성 혈관마비에서 대체약을 단독 또는 병용으로 고려: Class IIa/B. 모든 쇼크로 확대 불가. 공식 게시: https://www.eacts.org/clinical-practice-guideline/2024-eacts-eactaic-ebcp-guidelines-on-cardiopulmonary-bypass-in-adult-cardiac-surgery/</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[G02] Society of Critical Care Medicine. Surviving Sepsis Campaign: International Guidelines for Management of Sepsis and Septic Shock 2026. Published March 23, 2026. Methylene blue recommendation and remarks.</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https://www.sccm.org/clinical-resources/guidelines/guidelines/surviving-sepsis-campaign-international-guidelines-for-management-of-sepsis-and-septic-shock-2026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SCCM 공식 페이지 재확인. 난치성 패혈성 쇼크에서 IV 메틸렌블루 권고를 내릴 근거 부족. 혈압 개선 가능성과 구제요법 생존 이득의 불확실성 구분. 패널 사용 성향은 효과 추정치·전국 사용률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[P01] 약학정보원. 프로베블루주0.5% 복약안내문. 의약품코드 2017121500009. 사용자 지정 품목.</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https://health.kr/searchDrug/result_take.asp?drug_cd=2017121500009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제품명, 메틸렌블루 5 mg/mL, 삼오제약, 전문의약품·해독제 분류 확인. 품목 허가 원문과 구분.</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[KR01] MFDS 의약품안전나라 — 프로베블루주0.5%(메틸렌블루) 품목 상세정보 (2017).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https://nedrug.mfds.go.kr/pbp/CCBBB01/getItemDetail?itemSeq=201708376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공식 서버 현행 원문 재확인. 공식 품목명 프로베블루주0.5%(메틸렌블루), 업체 (주)삼오제약, 위탁제조업체 Cenexi, 품목기준코드 201708376. 메틸렌블루 5 mg/mL, 전문의약품. 효능·효과는 약물에 의한 메트헤모글로빈혈증. Vasoplegic shock 적응증 기재 없음. 2 mL 및 10 mL 앰플 포장 확인. 특정 환자의 허가초과 사용 승인 또는 다른 품목의 허가를 뜻하지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[KR02] MFDS 의약품안전나라 — 품목기준코드 201708376 검색결과.</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https://nedrug.mfds.go.kr/searchDrug?itemSeq=201708376&amp;searchYn=true</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품목명·업체·품목기준코드 일치. 허가번호 표시값 3, 허가일 2017-12-14, 취소/취하구분 정상. 수입 완제 전문의약품, 수입제조국 프랑스, ATC V03AB 확인. 허가번호 3과 품목기준코드 201708376은 서로 다른 식별자임. 검색대장의 정상 표시는 혈관마비성 쇼크 적응증 승인을 뜻하지 않음.</a:t>
            </a:r>
            <a:endParaRPr/>
          </a:p>
        </p:txBody>
      </p:sp>
      <p:sp>
        <p:nvSpPr>
          <p:cNvPr id="710" name="Google Shape;71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[CT01] Methylene Blue for Vasoplegic Syndrome After Cardiac Operation: Early Administration Improves Survival — Mehaffey et al.. 2017. University of Virginia, Charlottesville, Virginia; 흉부·심혈관외과.</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https://pmc.ncbi.nlm.nih.gov/articles/PMC5523819/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후향적 관찰 코호트; 기관 내 MB 프로토콜 및 조기·후기 투여 비교; 공개 전문 확인; 비무작위 조기·후기 비교로 질병 중증도·투여 시점 선택의 잔여 교란 가능. 같은 중증도의 MB 비투여군과 비교한 효능시험 아님. 생존 개선의 인과성 미확립. 초록과 본문의 연구 종료 월에 불일치가 있어 기간은 연도로만 표기. 용량은 당시 기관 기록이며 현재 보편 권장 용량 아님. 기관 내 consensus를 미국 또는 국제 합의로 확대 불가. 연구국은 본문 시행기관으로 판정; 저자 국적 미확인.</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[CT02] Early Use of Methylene Blue in Vasoplegic Syndrome: A 10-Year Propensity Score-Matched Cohort Study — Kofler et al.. 2022. LMU Hospital, Ludwig-Maximilians-University Munich, München.</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https://pmc.ncbi.nlm.nih.gov/articles/PMC8880443/</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후향적 10년 코호트; 성향점수 1:1 매칭; 공개 전문 확인; 후향적 매칭으로 미측정 교란 제거 불가. 매칭 변수는 연령·성별·BMI·수술 종류. 조기 투여 15분 기준의 사후 설정 및 결측 제외 가능성. 생존 이득 미확인; creatinine 상승과 투석 차이 없음 모두 보존. 프랑스 소재 제약사 연구비와 다른 저자 소속을 연구 시행국으로 오인하면 안 됨. 시행지는 본문상 독일 LMU 단일기관.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[CT03] Methaemoglobinaemia — Methylthionium chloride (methylene blue) injection: approved uses in K&amp;M. 발행연도 미표시. NHS Kent and Medway Joint Medicines Formulary; Maidstone and Tunbridge Wells, Dartford and Gravesham, Medway, East Kent의 지역 처방집.</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https://kentandmedwayformulary.nhs.uk/therapeutic-sections/emergency-treatment-of-poisoning/methaemoglobinaemia/</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NHS 지역 공식 처방집; 2026-10-08 공식 서버의 현행 HTML 원문 확인; 환자 연구 아님; 지역 처방 허용은 실제 투여 건수나 임상효과의 증거가 아님. 영국 전체 채택·NHS 전체 표준·SSC 2026 일상적 권고로 확대 불가. 상세 성인 불응성 저혈압 프로토콜 승인 원본은 미확보. 현행 쇼크 항목의 발행·개정연도 미표시로 year=null. 같은 페이지의 2019년 표기와 3 mg/kg 용량은 부갑상선 수술 시각화 FAQ에 속하므로 쇼크 프로토콜 날짜·용량으로 사용하지 않음. 검색 도구의 오래된 캐시와 달리 공식 서버 직접 조회에서 쇼크 용도 확인.</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[CT04] Effects of methylene blue on microcirculatory alterations following cardiac surgery: A prospective cohort study — Maurin et al.; MAGIC BLUE, NCT04250389. 2022. Hôpital Cardiovasculaire et Pneumologique Louis Pradel, Hospices Civils de Lyon, Bron; 20병상 ICU.</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https://pubmed.ncbi.nlm.nih.gov/34610607/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전향적 공개 관찰 코호트; MB 투여 전·1시간 후 비교. 저자 초록 및 ClinicalTrials.gov 등록 원문 확인; 학술지 전문 미확보; 25명·비교군 없는 전후 분석·1시간 생리지표 평가. 생존·장기 예후 이득 입증 아님. 학술지 전문 접근 실패 및 공개 저장소의 전문 파일 부재; 수치는 저자 초록 범위만 사용. 서지상 2022년 권호이며 검색 색인에 2021년 날짜도 있어 권호 연도로 통일. 저자 소속뿐 아니라 연구등록의 실제 장소로 국가 확정.</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[CT05] Vasoplegic Shock Treated with Methylene Blue Complicated by Severe Serotonin Syndrome — Chan et al.. 2018. Prince of Wales Hospital, Sydney, New South Wales; Clinical Toxicology Unit 및 Emergency Medicine.</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https://pmc.ncbi.nlm.nih.gov/articles/PMC6013734/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중독 증례 및 MB 약동학 분석; 공개 전문 확인. 온라인 선출판 2017년, 권호 2018년; 단일 복합중독 사례로 효능·위험 발생률 산출 불가. 세로토닌성 약물 과량복용 및 MB의 MAO 억제 상호작용이 해석의 핵심. 당시 장시간·고용량 투여를 보편적 권장 용법으로 인용하지 않음. 혈압 호전만 기재하고 중증 부작용을 누락하면 안 됨.</a:t>
            </a:r>
            <a:endParaRPr/>
          </a:p>
        </p:txBody>
      </p:sp>
      <p:sp>
        <p:nvSpPr>
          <p:cNvPr id="739" name="Google Shape;739;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7" name="Google Shape;767;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[CT06] Severe Undifferentiated Vasoplegic Shock Refractory to Vasoactive Agents Treated with Methylene Blue — Manji et al.. 2017. University of Calgary 및 Alberta Health Services, Calgary; 개별 치료 병원명은 원문 미명시.</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https://pmc.ncbi.nlm.nih.gov/articles/PMC5642875/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증례보고; 공개 전문 확인; 단일 사례·대조군 없음·원인 미상으로 자연 회복과 동시 치료 영향을 분리할 수 없음. 심장수술 또는 패혈성 쇼크의 일반 효능 자료 아님. 장기 생존 결과 미보고. 캐나다 임상기관의 증례이며 저자 국적·캐나다 전국 사용률은 미확인.</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[CT07] Successful use of methylene blue for catecholamine-refractory vasoplegic shock due to metformin intoxication: A case report and literature review — Takahashi et al.. 2024. Hitachi General Hospital, Hitachi, Ibaraki; Department of Emergency and Critical Care Medicine.</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https://pmc.ncbi.nlm.nih.gov/articles/PMC11247704/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증례보고; 공개 전문 확인; 제목의 Successful을 생존 성공으로 해석하면 안 됨. 단일 사례·동시 ECMO/CHDF·MB 전 metformin 농도 감소로 독립 효과 불명확. EF 약 30%, 심박출량·SVR 측정 부재로 순수 혈관마비성 쇼크의 확증에도 제한. 일본 전국 표준 또는 패혈성 쇼크 권고 근거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[CT08] Use of methylene blue in vasoplegic syndrome that developed during non-cardiac surgery - A case report -. 2019. 경희대학교 의과대학 마취통증의학교실, 서울; 세부 병원 지점은 원문 미명시.</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https://pmc.ncbi.nlm.nih.gov/articles/PMC7713804/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 환자 비심장수술 증례보고; 공개 전문 확인; 단일 증례·병용 승압제·출혈 및 수혈 등 교란요인 존재. 계획 용량 35 mg과 실제 용량 26 mg을 구분해야 함. 혈압 호전과 함께 구토로 인한 중단도 보고. 심장수술·패혈증 또는 국내 전체 채택으로 일반화 불가.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[CT11] Methylene Blue for Postcardiopulmonary Bypass Vasoplegic Syndrome: A Cohort Study. 2017. Emory University의 성인 심장수술 임상기관, Atlanta, Georgia.</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https://pmc.ncbi.nlm.nih.gov/articles/PMC5408522/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단일기관 후향적 MB 투여 코호트; 전후 혈역학 및 반응군·비반응군 분석; 공개 전문 확인; MB 비투여 대조군 없는 후향적 전후 비교. 반응군 분류 자체가 예후·중증도의 영향을 받을 수 있어 생존 효과 추론 불가. 모든 환자에서 반응하는 약제로 표현하면 안 됨. 시행국은 본문 Emory 기관으로 확인; 복수 저자의 현 소속·학술지 발행국을 연구 시행국으로 사용하지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[SF01] FDA PROVAYBLUE (methylene blue) injection: Prescribing Information, NDA 204630/S-023. 2024.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https://www.accessdata.fda.gov/drugsatfda_docs/label/2024/204630Orig1s023lbl.pdf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Revised 02/2024. Boxed warning 주요 변경 11/2023 허가 적응증의 문서. 쇼크 효과·표준 용량·안전한 누적 상한을 승인한 근거가 아님</a:t>
            </a:r>
            <a:endParaRPr/>
          </a:p>
        </p:txBody>
      </p:sp>
      <p:sp>
        <p:nvSpPr>
          <p:cNvPr id="768" name="Google Shape;768;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6" name="Google Shape;796;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[SF03] EMA: Methylthioninium chloride Proveblue 5 mg/ml — EPAR Product Information / SmPC. 2025.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https://www.ema.europa.eu/en/documents/product-information/methylthioninium-chloride-proveblue-epar-product-information_en.pdf</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EMA EPAR 제품정보 갱신 2025-12-19; PDF HTTP Last-Modified 2025-12-19 확인 EU 제품 기준. 국내 동일 성분 제품의 허가·조제 지침으로 자동 전용 불가. EMA 문서에는 미국식 boxed warning 분류를 적용하지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[SF04] Ramsay et al. Methylene blue and serotonin toxicity: inhibition of monoamine oxidase A (MAO A) confirms a theoretical prediction. 2007. doi:10.1038/sj.bjp.0707430.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https://pmc.ncbi.nlm.nih.gov/articles/PMC2078225/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PMC 원문 확인 기전 연구로 임상 serotonin syndrome 발생률·안전한 병용 역치 추정 불가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[SF05] Mayer, Brunner and Schmidt. Inhibition of nitric oxide synthesis by methylene blue. 1993. doi:10.1016/0006-2952(93)90072-5.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https://pubmed.ncbi.nlm.nih.gov/7679577/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실험계별 효소·농도 차이 존재. 쇼크 환자의 주된 작용 부위·치료 효과를 직접 입증하지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[SF07] Weingartner et al. Blockade of the action of nitric oxide in human septic shock increases systemic vascular resistance and has detrimental effects on pulmonary function after a short infusion of methylene blue. 1999. doi:10.1590/S0100-879X1999001200009.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https://pubmed.ncbi.nlm.nih.gov/10585632/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10명·비무작위·단기 생리학 연구. 모든 투여법의 위해 빈도나 폐고혈압 환자의 절대 금기를 확정하지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[SF10] Hencken et al. Serotonin Syndrome Following Methylene Blue Administration for Vasoplegic Syndrome. 2016. doi:10.1111/jocs.12705.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https://pubmed.ncbi.nlm.nih.gov/26934199/</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초록·색인 확인; 전체 원문 미검토 증례로 발생률·개별 약물의 기여도·위험 없는 용량 추정 불가</a:t>
            </a:r>
            <a:endParaRPr/>
          </a:p>
        </p:txBody>
      </p:sp>
      <p:sp>
        <p:nvSpPr>
          <p:cNvPr id="797" name="Google Shape;797;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5" name="Google Shape;825;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[SF12] Stevic et al. Determining susceptibility of routine clinical biochemistry assays to methylene blue interference. 2025. doi:10.1016/j.clinbiochem.2025.110940.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https://pubmed.ncbi.nlm.nih.gov/40320108/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PubMed 원저 초록 확인; 전체 원문 미검토 시험관 내 특정 장비 결과. 통상 임상농도에서 모든 co-oximetry가 부정확하다는 근거가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[TR01] Early adjunctive methylene blue in patients with septic shock: a randomized controlled trial. 2023. doi:10.1186/s13054-023-04397-7.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https://pmc.ncbi.nlm.nih.gov/articles/PMC10010212/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Ibarra-Estrada et al.; Critical Care 27:110; 단일기관 이중눈가림 평행군 RCT. 본문·Tables 1–2 확인. 단일기관·소표본, 사망률 검정력 부족, 후향 등록, 색 변화에 의한 눈가림 손상 가능성. 사망 RR 0.76 및 CI는 원문 그대로임. 제시 사건수의 단순 비율비와 일치하지 않아 산출법 추가 확인 필요. 중단시간 차이 29.4 h는 원문 추정치임. 두 중앙값의 단순 차이로 대체하지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[TR02] Methylene blue reduces mortality and morbidity in vasoplegic patients after cardiac surgery. 2004. doi:10.1016/S0003-4975(03)01510-8.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https://pubmed.ncbi.nlm.nih.gov/14759425/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Levin et al.; Annals of Thoracic Surgery 77:496–499; 수술 환자 연속 코호트에서 혈관마비 발생 환자만 무작위배정. PubMed 원저 초록 확인; 공개 저널 전문은 확보하지 못함. CI·눈가림 상세·정확한 사망 추적기간 미확인. 승압제 필요는 확인되지만 NE/vasopressin 최대치 실패 등 현대적 refractory rescue 기준은 초록에서 미확인. 수술 후 혈관마비 결과를 불응성 패혈성 쇼크의 생존효과로 일반화할 수 없음.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[TR03] Preoperative methylene blue administration in patients at high risk for vasoplegic syndrome during cardiac surgery. 2005. doi:10.1016/j.athoracsur.2004.10.038.</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https://pubmed.ncbi.nlm.nih.gov/15854942/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Ozal et al.; Annals of Thoracic Surgery 79:1615–1619; 전향적 무작위 예방시험. PubMed 원저 초록 확인; 전문·CI·사망률 검정 상세 미확인. 불응성 사례의 발생은 예방시험 결과의 일부임. MB 구제투여의 무작위 비교로 재분류 불가. 고위험 CABG에 한정된 모집단.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[TR06] Methylene blue therapy in addition to standard treatment for acute-phase septic shock: a pilot randomized controlled trial. 2024. doi:10.3389/fmed.2024.1431321.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https://www.frontiersin.org/journals/medicine/articles/10.3389/fmed.2024.1431321/full</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Luis-Silva et al.; Frontiers in Medicine 11:1431321; 2024-10-14 출판; 단일기관 공개형 파일럿 RCT. 저널 전문 확인. 80명 배정 후 38명 제외에 따른 선택·탈락 편향 우려. MB군 중증도 불균형, 소표본, 비눈가림. 용량이 다른 연구보다 크고 장시간임. 다른 요법과 효과·안전성 동일시 불가.</a:t>
            </a:r>
            <a:endParaRPr/>
          </a:p>
        </p:txBody>
      </p:sp>
      <p:sp>
        <p:nvSpPr>
          <p:cNvPr id="826" name="Google Shape;826;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[TR07] Comparative study between high and low dose methylene blue infusion in septic cancer patients: a randomized, blinded, controlled study. 2025. doi:10.1186/s12871-024-02792-3.</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https://pmc.ncbi.nlm.nih.gov/articles/PMC11707904/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Shaker et al.; BMC Anesthesiology 25:15; 2025-01-08 출판; 단일기관 3군 이중눈가림 RCT. Methods·Table 2 확인. 암·기계환기 환자에 한정된 소표본. 사망은 2차 평가변수. logistic regression으로 HR를 산출했다고 기재한 통계 표기 문제. 용량군 간 우월성 입증 없음. 고용량의 일상 사용 근거로 전환 불가.</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[TR09] The Effect of Methylene Blue on Sublingual Microcirculation in Patients with Septic Shock: A Randomized Controlled Trial. 2025. doi:10.2147/DDDT.S561592.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https://pmc.ncbi.nlm.nih.gov/articles/PMC12751372/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Dong et al.; Drug Design, Development and Therapy 19:11629–11640; 2025-12-25 출판; 단일기관 무작위시험, 환자·연구자 눈가림 보고. 전문·Table 2 확인. 소표본·단일기관. 미세순환 대리지표 개선을 생존효과로 전환 불가. 소변 색으로 눈가림 손상 가능성. 사망률 검정력 제한. Methods의 12시간 주입과 Discussion의 반복투여처럼 읽히는 문구를 구분함.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[TR10] Methylene Blue in Septic Shock: A Systematic Review and Meta-Analysis. 2024. doi:10.1097/CCE.0000000000001110.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https://pmc.ncbi.nlm.nih.gov/articles/PMC11196076/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Critical Care Explorations 6:e1110; 2024-06-21 온라인 출판. 2024-01-10까지 검색한 RCT 메타분석. 전문·Table 2·민감도 분석 확인. 6개 중 4개 시험이 높은 비뚤림 위험. 안전성 보고도 불완전. 사망 CI 상한이 본문·초록 0.94, Table 2 0.95로 다름. 임의 통일하지 않음. 민감도 분석의 사망률 null과 기존 소규모 RCT 중복 포함을 함께 해석해야 함.</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[TR12] Methylene Blue Reduces Mortality in Critically Ill and Perioperative Patients: A Meta-Analysis of Randomized Trials. 2024. doi:10.1053/j.jvca.2023.09.037.</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https://pubmed.ncbi.nlm.nih.gov/37880041/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Journal of Cardiothoracic and Vascular Anesthesia 38:268–274; 2023-10-01 온라인, 2024년 1월 권호. RCT 메타분석. PubMed·저널 초록 및 공개 본문 일부 확인; 결과별 표본수와 세부 하위군 효과는 미확인. 질환·투여시점 혼합, 작은 원 연구들. 제목의 단정형을 임상 결론으로 그대로 사용하지 않음. 다른 메타분석과 원 RCT 중복.</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[TR16] Methylene blue for vasoplegic syndrome in cardiopulmonary bypass surgery: A systematic review and meta-analysis. 2021. doi:10.1177/0218492321998523.</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https://pubmed.ncbi.nlm.nih.gov/33653154/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Asian Cardiovascular and Thoracic Annals 29:717–728; RCT·관찰연구 혼합 체계적 고찰/메타분석. PubMed·저널 초록 확인. 총 n·연구별 상세·사망 추적기간은 확인 자료 부족. 관찰연구와 작은 시험의 혼합. 강한 OR를 확정적 인과효과로 해석 불가. 심장수술 결과를 septic shock routine recommendation에 전용 불가.</a:t>
            </a:r>
            <a:endParaRPr/>
          </a:p>
        </p:txBody>
      </p:sp>
      <p:sp>
        <p:nvSpPr>
          <p:cNvPr id="855" name="Google Shape;855;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3" name="Google Shape;88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[MA01] Ignarro LJ, Buga GM, Wood KS, et al. Endothelium-derived relaxing factor produced and released from artery and vein is nitric oxide. Proc Natl Acad Sci USA. 1987;84:9265–9269. doi:10.1073/pnas.84.24.9265.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https://pubmed.ncbi.nlm.nih.gov/2827174/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분리 혈관·내피세포 원저. NO·cGMP와 혈관 이완의 기초 근거. 임상 쇼크의 생존효과 근거 아님. 이번 PubMed 직접 재열람 응답이 제한되어 선행 확인 기록과 연결된 원문으로 대조.</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[MA03] Leyh RG, Kofidis T, Strüber M, et al. Methylene blue: the drug of choice for catecholamine-refractory vasoplegia after cardiopulmonary bypass? J Thorac Cardiovasc Surg. 2003;125:1426–1431. doi:10.1016/S0022-5223(02)73284-4.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https://pubmed.ncbi.nlm.nih.gov/12830064/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2026-10-08 PubMed 원저 초록 재확인. Hannover Medical School, 독일. NE 불응성 CPB 후 혈관마비 54명 치료 연구. 51명에서 1시간 이내 SVR 증가·NE 감소 보고. 같은 초록의 4명 무반응과 총수 불일치로 반응률 산출 보류. 동시 무작위 대조군 없음. 제목의 drug of choice는 공식 지위·필수약 판정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[MO01] DailyMed. LEVOPHED (norepinephrine bitartrate) injection. Clinical Pharmacology 12.1–12.2.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https://dailymed.nlm.nih.gov/dailymed/drugInfo.cfm?setid=c4de72a8-2a75-4984-ce90-e4870226dc12</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공식 라벨의 말초 α-adrenergic 혈관수축·심장 β-adrenergic 작용 확인용. 공개 라벨 개정표기 10/2020. 혈압 상승과 장기 혈류 개선을 동일시하지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[MO02] DailyMed. VASOSTRICT (vasopressin) injection. Mechanism of Action.</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https://dailymed.nlm.nih.gov/dailymed/drugInfo.cfm?setid=d162d386-105d-e916-e053-2995a90a350c</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공식 라벨의 혈관 평활근 V1 수용체·Gq/11–PLC–IP3·칼슘 방출 기전 확인용. 국내 품목의 처방·조제 지침으로 전용하지 않음.</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[PH01] Stocche RM, Garcia LV, Reis MP, et al. Methylene blue to treat anaphylaxis during anesthesia: case report. Rev Bras Anestesiol. 2004;54:809–814. doi:10.1590/S0034-70942004000600010.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https://pubmed.ncbi.nlm.nih.gov/19471794/</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브라질 Universidade de São Paulo, Ribeirão Preto의 1명 증례. 원저 초록 기준 수축기혈압 60→85→105 mmHg. MAP로 표기하지 않음. SVR·CO 실측, 두 번째 MB 용량·간격, 장기 예후 미확인. 무대조·동시 소생술 및 약물치료로 인과효과 확정 불가. 저널 PDF 전문 미확보.</a:t>
            </a:r>
            <a:endParaRPr/>
          </a:p>
        </p:txBody>
      </p:sp>
      <p:sp>
        <p:nvSpPr>
          <p:cNvPr id="884" name="Google Shape;88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2" name="Google Shape;912;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ko-KR" sz="1200">
                <a:solidFill>
                  <a:srgbClr val="233446"/>
                </a:solidFill>
                <a:latin typeface="Noto Sans"/>
                <a:ea typeface="Noto Sans"/>
                <a:cs typeface="Noto Sans"/>
                <a:sym typeface="Noto Sans"/>
              </a:rPr>
              <a:t>[PH02] Laes JR, Williams DM, Cole JB. Improvement in Hemodynamics After Methylene Blue Administration in Drug-Induced Vasodilatory Shock: A Case Report. J Med Toxicol. 2015;11:460–463. doi:10.1007/s13181-015-0500-1.</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https://pmc.ncbi.nlm.nih.gov/articles/PMC4675606/</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미국 Hennepin County Medical Center, Minneapolis의 혼합중독 1명 증례. 선행 PMC 전문 검토와 이번 출판사 원문 대조. EF 60–65%, CO 10.5 L/min, SVR 240→1204 dyn·s·cm⁻⁵. 투여 1시간 내 변화. 다중 동시 치료·약물 제거 영향을 분리하지 못함. 모든 CCB·베타차단제 중독의 표준치료 또는 생존효과 근거 아님.</a:t>
            </a:r>
            <a:endParaRPr/>
          </a:p>
          <a:p>
            <a:pPr indent="0" lvl="0" marL="0" rtl="0" algn="l">
              <a:spcBef>
                <a:spcPts val="0"/>
              </a:spcBef>
              <a:spcAft>
                <a:spcPts val="0"/>
              </a:spcAft>
              <a:buNone/>
            </a:pPr>
            <a:r>
              <a:t/>
            </a:r>
            <a:endParaRPr b="0" sz="1200">
              <a:solidFill>
                <a:srgbClr val="233446"/>
              </a:solidFill>
              <a:latin typeface="Noto Sans"/>
              <a:ea typeface="Noto Sans"/>
              <a:cs typeface="Noto Sans"/>
              <a:sym typeface="Noto Sans"/>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[TR08] Effects of Early Use of Methylene Blue and Vasopressin on Noradrenaline Dose in Septic Shock: A Randomized Controlled Trial. 2025. doi:10.5005/jp-journals-10071-24905.</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https://pmc.ncbi.nlm.nih.gov/articles/PMC11915450/</a:t>
            </a:r>
            <a:endParaRPr/>
          </a:p>
          <a:p>
            <a:pPr indent="0" lvl="0" marL="0" rtl="0" algn="l">
              <a:spcBef>
                <a:spcPts val="0"/>
              </a:spcBef>
              <a:spcAft>
                <a:spcPts val="0"/>
              </a:spcAft>
              <a:buNone/>
            </a:pPr>
            <a:r>
              <a:rPr b="0" lang="ko-KR" sz="1200">
                <a:solidFill>
                  <a:srgbClr val="233446"/>
                </a:solidFill>
                <a:latin typeface="Noto Sans"/>
                <a:ea typeface="Noto Sans"/>
                <a:cs typeface="Noto Sans"/>
                <a:sym typeface="Noto Sans"/>
              </a:rPr>
              <a:t>Kuri et al.; Indian Journal of Critical Care Medicine 29:108–112; 단일기관 공개형 평행군 RCT. 전문·Table 2 확인. 24시간 생리학적 평가, 소표본·비눈가림. 원저의 유지용량을 후대 메타분석이 시간당 용량으로 다르게 표기함. 원저 문구 보존. 활성 비교약 시험을 MB 대 무치료 효과로 합산하면 오류.</a:t>
            </a:r>
            <a:endParaRPr/>
          </a:p>
        </p:txBody>
      </p:sp>
      <p:sp>
        <p:nvSpPr>
          <p:cNvPr id="913" name="Google Shape;913;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i.org/10.1093/ejcts/ezae354" TargetMode="External"/><Relationship Id="rId4" Type="http://schemas.openxmlformats.org/officeDocument/2006/relationships/hyperlink" Target="https://pmc.ncbi.nlm.nih.gov/articles/PMC10010212/" TargetMode="External"/><Relationship Id="rId5" Type="http://schemas.openxmlformats.org/officeDocument/2006/relationships/hyperlink" Target="https://nedrug.mfds.go.kr/pbp/CCBBB01/getItemDetail?itemSeq=201708376" TargetMode="External"/><Relationship Id="rId6" Type="http://schemas.openxmlformats.org/officeDocument/2006/relationships/slide" Target="/ppt/slides/slide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i.org/10.1093/ejcts/ezae354" TargetMode="External"/><Relationship Id="rId4" Type="http://schemas.openxmlformats.org/officeDocument/2006/relationships/hyperlink" Target="https://www.sccm.org/clinical-resources/guidelines/guidelines/surviving-sepsis-campaign-international-guidelines-for-management-of-sepsis-and-septic-shock-2026" TargetMode="External"/><Relationship Id="rId5" Type="http://schemas.openxmlformats.org/officeDocument/2006/relationships/hyperlink" Target="https://pubmed.ncbi.nlm.nih.gov/12830064/" TargetMode="External"/><Relationship Id="rId6" Type="http://schemas.openxmlformats.org/officeDocument/2006/relationships/slide" Target="/ppt/slides/slide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oi.org/10.1093/ejcts/ezae354" TargetMode="External"/><Relationship Id="rId4" Type="http://schemas.openxmlformats.org/officeDocument/2006/relationships/hyperlink" Target="https://www.sccm.org/clinical-resources/guidelines/guidelines/surviving-sepsis-campaign-international-guidelines-for-management-of-sepsis-and-septic-shock-2026" TargetMode="External"/><Relationship Id="rId5" Type="http://schemas.openxmlformats.org/officeDocument/2006/relationships/hyperlink" Target="https://pmc.ncbi.nlm.nih.gov/articles/PMC4675606/" TargetMode="External"/><Relationship Id="rId6" Type="http://schemas.openxmlformats.org/officeDocument/2006/relationships/slide" Target="/ppt/slid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pubmed.ncbi.nlm.nih.gov/2827174/" TargetMode="External"/><Relationship Id="rId4" Type="http://schemas.openxmlformats.org/officeDocument/2006/relationships/hyperlink" Target="https://pubmed.ncbi.nlm.nih.gov/7679577/" TargetMode="External"/><Relationship Id="rId5" Type="http://schemas.openxmlformats.org/officeDocument/2006/relationships/slide" Target="/ppt/slides/slide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pubmed.ncbi.nlm.nih.gov/7679577/" TargetMode="External"/><Relationship Id="rId4" Type="http://schemas.openxmlformats.org/officeDocument/2006/relationships/hyperlink" Target="https://pubmed.ncbi.nlm.nih.gov/12830064/" TargetMode="External"/><Relationship Id="rId5" Type="http://schemas.openxmlformats.org/officeDocument/2006/relationships/hyperlink" Target="https://pmc.ncbi.nlm.nih.gov/articles/PMC10010212/" TargetMode="External"/><Relationship Id="rId6" Type="http://schemas.openxmlformats.org/officeDocument/2006/relationships/slide" Target="/ppt/slid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doi.org/10.1093/ejcts/ezae354" TargetMode="External"/><Relationship Id="rId4" Type="http://schemas.openxmlformats.org/officeDocument/2006/relationships/hyperlink" Target="https://www.sccm.org/clinical-resources/guidelines/guidelines/surviving-sepsis-campaign-international-guidelines-for-management-of-sepsis-and-septic-shock-2026" TargetMode="External"/><Relationship Id="rId5" Type="http://schemas.openxmlformats.org/officeDocument/2006/relationships/hyperlink" Target="https://pubmed.ncbi.nlm.nih.gov/7679577/" TargetMode="External"/><Relationship Id="rId6" Type="http://schemas.openxmlformats.org/officeDocument/2006/relationships/hyperlink" Target="https://dailymed.nlm.nih.gov/dailymed/drugInfo.cfm?setid=c4de72a8-2a75-4984-ce90-e4870226dc12" TargetMode="External"/><Relationship Id="rId7" Type="http://schemas.openxmlformats.org/officeDocument/2006/relationships/hyperlink" Target="https://dailymed.nlm.nih.gov/dailymed/drugInfo.cfm?setid=d162d386-105d-e916-e053-2995a90a350c" TargetMode="External"/><Relationship Id="rId8" Type="http://schemas.openxmlformats.org/officeDocument/2006/relationships/slide" Target="/ppt/slides/slide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nedrug.mfds.go.kr/pbp/CCBBB01/getItemDetail?itemSeq=201708376" TargetMode="External"/><Relationship Id="rId4" Type="http://schemas.openxmlformats.org/officeDocument/2006/relationships/hyperlink" Target="https://www.accessdata.fda.gov/drugsatfda_docs/label/2024/204630Orig1s023lbl.pdf" TargetMode="External"/><Relationship Id="rId5" Type="http://schemas.openxmlformats.org/officeDocument/2006/relationships/hyperlink" Target="https://pubmed.ncbi.nlm.nih.gov/7679577/" TargetMode="External"/><Relationship Id="rId6" Type="http://schemas.openxmlformats.org/officeDocument/2006/relationships/slide" Target="/ppt/slides/slide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pubmed.ncbi.nlm.nih.gov/12830064/" TargetMode="External"/><Relationship Id="rId4" Type="http://schemas.openxmlformats.org/officeDocument/2006/relationships/slide" Target="/ppt/slides/slide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pmc.ncbi.nlm.nih.gov/articles/PMC10010212/" TargetMode="External"/><Relationship Id="rId4" Type="http://schemas.openxmlformats.org/officeDocument/2006/relationships/hyperlink" Target="https://pubmed.ncbi.nlm.nih.gov/14759425/" TargetMode="External"/><Relationship Id="rId5" Type="http://schemas.openxmlformats.org/officeDocument/2006/relationships/hyperlink" Target="https://pubmed.ncbi.nlm.nih.gov/15854942/" TargetMode="External"/><Relationship Id="rId6" Type="http://schemas.openxmlformats.org/officeDocument/2006/relationships/hyperlink" Target="https://pmc.ncbi.nlm.nih.gov/articles/PMC11915450/" TargetMode="External"/><Relationship Id="rId7" Type="http://schemas.openxmlformats.org/officeDocument/2006/relationships/hyperlink" Target="https://pubmed.ncbi.nlm.nih.gov/12830064/" TargetMode="External"/><Relationship Id="rId8" Type="http://schemas.openxmlformats.org/officeDocument/2006/relationships/slide" Target="/ppt/slides/slide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doi.org/10.1093/ejcts/ezae354" TargetMode="External"/><Relationship Id="rId4" Type="http://schemas.openxmlformats.org/officeDocument/2006/relationships/hyperlink" Target="https://www.sccm.org/clinical-resources/guidelines/guidelines/surviving-sepsis-campaign-international-guidelines-for-management-of-sepsis-and-septic-shock-2026" TargetMode="External"/><Relationship Id="rId5" Type="http://schemas.openxmlformats.org/officeDocument/2006/relationships/slide" Target="/ppt/slides/slide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pmc.ncbi.nlm.nih.gov/articles/PMC10010212/" TargetMode="External"/><Relationship Id="rId4" Type="http://schemas.openxmlformats.org/officeDocument/2006/relationships/slide" Target="/ppt/slides/slide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pubmed.ncbi.nlm.nih.gov/14759425/" TargetMode="External"/><Relationship Id="rId4" Type="http://schemas.openxmlformats.org/officeDocument/2006/relationships/slide" Target="/ppt/slides/slide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pubmed.ncbi.nlm.nih.gov/15854942/" TargetMode="External"/><Relationship Id="rId4" Type="http://schemas.openxmlformats.org/officeDocument/2006/relationships/slide" Target="/ppt/slides/slide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frontiersin.org/journals/medicine/articles/10.3389/fmed.2024.1431321/full" TargetMode="External"/><Relationship Id="rId4" Type="http://schemas.openxmlformats.org/officeDocument/2006/relationships/hyperlink" Target="https://pmc.ncbi.nlm.nih.gov/articles/PMC11707904/" TargetMode="External"/><Relationship Id="rId5" Type="http://schemas.openxmlformats.org/officeDocument/2006/relationships/hyperlink" Target="https://pmc.ncbi.nlm.nih.gov/articles/PMC12751372/" TargetMode="External"/><Relationship Id="rId6" Type="http://schemas.openxmlformats.org/officeDocument/2006/relationships/slide" Target="/ppt/slides/slide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pmc.ncbi.nlm.nih.gov/articles/PMC11915450/" TargetMode="External"/><Relationship Id="rId4" Type="http://schemas.openxmlformats.org/officeDocument/2006/relationships/slide" Target="/ppt/slides/slide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pmc.ncbi.nlm.nih.gov/articles/PMC11196076/" TargetMode="External"/><Relationship Id="rId4" Type="http://schemas.openxmlformats.org/officeDocument/2006/relationships/hyperlink" Target="https://pubmed.ncbi.nlm.nih.gov/37880041/" TargetMode="External"/><Relationship Id="rId5" Type="http://schemas.openxmlformats.org/officeDocument/2006/relationships/hyperlink" Target="https://pubmed.ncbi.nlm.nih.gov/33653154/" TargetMode="External"/><Relationship Id="rId6" Type="http://schemas.openxmlformats.org/officeDocument/2006/relationships/slide" Target="/ppt/slides/slide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pmc.ncbi.nlm.nih.gov/articles/PMC5523819/" TargetMode="External"/><Relationship Id="rId4" Type="http://schemas.openxmlformats.org/officeDocument/2006/relationships/slide" Target="/ppt/slides/slide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pmc.ncbi.nlm.nih.gov/articles/PMC8880443/" TargetMode="External"/><Relationship Id="rId4" Type="http://schemas.openxmlformats.org/officeDocument/2006/relationships/hyperlink" Target="https://pubmed.ncbi.nlm.nih.gov/34610607/" TargetMode="External"/><Relationship Id="rId5" Type="http://schemas.openxmlformats.org/officeDocument/2006/relationships/slide" Target="/ppt/slides/slide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kentandmedwayformulary.nhs.uk/therapeutic-sections/emergency-treatment-of-poisoning/methaemoglobinaemia/" TargetMode="External"/><Relationship Id="rId4" Type="http://schemas.openxmlformats.org/officeDocument/2006/relationships/hyperlink" Target="https://pmc.ncbi.nlm.nih.gov/articles/PMC5642875/" TargetMode="External"/><Relationship Id="rId5" Type="http://schemas.openxmlformats.org/officeDocument/2006/relationships/hyperlink" Target="https://pmc.ncbi.nlm.nih.gov/articles/PMC6013734/" TargetMode="External"/><Relationship Id="rId6" Type="http://schemas.openxmlformats.org/officeDocument/2006/relationships/slide" Target="/ppt/slides/slide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pmc.ncbi.nlm.nih.gov/articles/PMC11247704/" TargetMode="External"/><Relationship Id="rId4" Type="http://schemas.openxmlformats.org/officeDocument/2006/relationships/hyperlink" Target="https://pmc.ncbi.nlm.nih.gov/articles/PMC7713804/" TargetMode="External"/><Relationship Id="rId5" Type="http://schemas.openxmlformats.org/officeDocument/2006/relationships/slide" Target="/ppt/slid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pubmed.ncbi.nlm.nih.gov/19471794/" TargetMode="External"/><Relationship Id="rId4" Type="http://schemas.openxmlformats.org/officeDocument/2006/relationships/hyperlink" Target="https://pmc.ncbi.nlm.nih.gov/articles/PMC4675606/" TargetMode="External"/><Relationship Id="rId5" Type="http://schemas.openxmlformats.org/officeDocument/2006/relationships/slide" Target="/ppt/slides/slide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pmc.ncbi.nlm.nih.gov/articles/PMC10010212/" TargetMode="External"/><Relationship Id="rId4" Type="http://schemas.openxmlformats.org/officeDocument/2006/relationships/hyperlink" Target="https://pubmed.ncbi.nlm.nih.gov/10585632/" TargetMode="External"/><Relationship Id="rId5" Type="http://schemas.openxmlformats.org/officeDocument/2006/relationships/hyperlink" Target="https://www.sccm.org/clinical-resources/guidelines/guidelines/surviving-sepsis-campaign-international-guidelines-for-management-of-sepsis-and-septic-shock-2026" TargetMode="External"/><Relationship Id="rId6" Type="http://schemas.openxmlformats.org/officeDocument/2006/relationships/slide" Target="/ppt/slides/slide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nedrug.mfds.go.kr/pbp/CCBBB01/getItemDetail?itemSeq=201708376" TargetMode="External"/><Relationship Id="rId4" Type="http://schemas.openxmlformats.org/officeDocument/2006/relationships/hyperlink" Target="https://health.kr/searchDrug/result_take.asp?drug_cd=2017121500009" TargetMode="External"/><Relationship Id="rId5" Type="http://schemas.openxmlformats.org/officeDocument/2006/relationships/slide" Target="/ppt/slides/slide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nedrug.mfds.go.kr/pbp/CCBBB01/getItemDetail?itemSeq=201708376" TargetMode="External"/><Relationship Id="rId4" Type="http://schemas.openxmlformats.org/officeDocument/2006/relationships/hyperlink" Target="https://www.accessdata.fda.gov/drugsatfda_docs/label/2024/204630Orig1s023lbl.pdf" TargetMode="External"/><Relationship Id="rId5" Type="http://schemas.openxmlformats.org/officeDocument/2006/relationships/hyperlink" Target="https://www.ema.europa.eu/en/documents/product-information/methylthioninium-chloride-proveblue-epar-product-information_en.pdf" TargetMode="External"/><Relationship Id="rId6" Type="http://schemas.openxmlformats.org/officeDocument/2006/relationships/hyperlink" Target="https://pmc.ncbi.nlm.nih.gov/articles/PMC2078225/" TargetMode="External"/><Relationship Id="rId7" Type="http://schemas.openxmlformats.org/officeDocument/2006/relationships/hyperlink" Target="https://pubmed.ncbi.nlm.nih.gov/26934199/" TargetMode="External"/><Relationship Id="rId8" Type="http://schemas.openxmlformats.org/officeDocument/2006/relationships/slide" Target="/ppt/slid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nedrug.mfds.go.kr/pbp/CCBBB01/getItemDetail?itemSeq=201708376" TargetMode="External"/><Relationship Id="rId4" Type="http://schemas.openxmlformats.org/officeDocument/2006/relationships/hyperlink" Target="https://www.accessdata.fda.gov/drugsatfda_docs/label/2024/204630Orig1s023lbl.pdf" TargetMode="External"/><Relationship Id="rId5" Type="http://schemas.openxmlformats.org/officeDocument/2006/relationships/hyperlink" Target="https://www.ema.europa.eu/en/documents/product-information/methylthioninium-chloride-proveblue-epar-product-information_en.pdf" TargetMode="External"/><Relationship Id="rId6" Type="http://schemas.openxmlformats.org/officeDocument/2006/relationships/hyperlink" Target="https://pubmed.ncbi.nlm.nih.gov/10585632/" TargetMode="External"/><Relationship Id="rId7" Type="http://schemas.openxmlformats.org/officeDocument/2006/relationships/hyperlink" Target="https://pubmed.ncbi.nlm.nih.gov/40320108/" TargetMode="External"/><Relationship Id="rId8" Type="http://schemas.openxmlformats.org/officeDocument/2006/relationships/slide" Target="/ppt/slid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doi.org/10.1093/ejcts/ezae354" TargetMode="External"/><Relationship Id="rId4" Type="http://schemas.openxmlformats.org/officeDocument/2006/relationships/hyperlink" Target="https://www.sccm.org/clinical-resources/guidelines/guidelines/surviving-sepsis-campaign-international-guidelines-for-management-of-sepsis-and-septic-shock-2026" TargetMode="External"/><Relationship Id="rId5" Type="http://schemas.openxmlformats.org/officeDocument/2006/relationships/hyperlink" Target="https://nedrug.mfds.go.kr/pbp/CCBBB01/getItemDetail?itemSeq=201708376" TargetMode="External"/><Relationship Id="rId6" Type="http://schemas.openxmlformats.org/officeDocument/2006/relationships/hyperlink" Target="https://www.accessdata.fda.gov/drugsatfda_docs/label/2024/204630Orig1s023lbl.pdf" TargetMode="External"/><Relationship Id="rId7" Type="http://schemas.openxmlformats.org/officeDocument/2006/relationships/slide" Target="/ppt/slid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nedrug.mfds.go.kr/pbp/CCBBB01/getItemDetail?itemSeq=201708376" TargetMode="External"/><Relationship Id="rId4" Type="http://schemas.openxmlformats.org/officeDocument/2006/relationships/slide" Target="/ppt/slid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doi.org/10.1093/ejcts/ezae354" TargetMode="External"/><Relationship Id="rId4" Type="http://schemas.openxmlformats.org/officeDocument/2006/relationships/hyperlink" Target="https://www.sccm.org/clinical-resources/guidelines/guidelines/surviving-sepsis-campaign-international-guidelines-for-management-of-sepsis-and-septic-shock-2026" TargetMode="External"/><Relationship Id="rId5" Type="http://schemas.openxmlformats.org/officeDocument/2006/relationships/hyperlink" Target="https://pmc.ncbi.nlm.nih.gov/articles/PMC10010212/" TargetMode="External"/><Relationship Id="rId6" Type="http://schemas.openxmlformats.org/officeDocument/2006/relationships/hyperlink" Target="https://nedrug.mfds.go.kr/pbp/CCBBB01/getItemDetail?itemSeq=201708376" TargetMode="External"/><Relationship Id="rId7" Type="http://schemas.openxmlformats.org/officeDocument/2006/relationships/slide" Target="/ppt/slides/slide29.xml"/></Relationships>
</file>

<file path=ppt/slides/_rels/slide29.xml.rels><?xml version="1.0" encoding="UTF-8" standalone="yes"?><Relationships xmlns="http://schemas.openxmlformats.org/package/2006/relationships"><Relationship Id="rId11" Type="http://schemas.openxmlformats.org/officeDocument/2006/relationships/hyperlink" Target="https://health.kr/searchDrug/result_take.asp?drug_cd=2017121500009" TargetMode="External"/><Relationship Id="rId10" Type="http://schemas.openxmlformats.org/officeDocument/2006/relationships/hyperlink" Target="https://www.sccm.org/clinical-resources/guidelines/guidelines/surviving-sepsis-campaign-international-guidelines-for-management-of-sepsis-and-septic-shock-2026" TargetMode="External"/><Relationship Id="rId13" Type="http://schemas.openxmlformats.org/officeDocument/2006/relationships/hyperlink" Target="https://nedrug.mfds.go.kr/pbp/CCBBB01/getItemDetail?itemSeq=201708376" TargetMode="External"/><Relationship Id="rId12" Type="http://schemas.openxmlformats.org/officeDocument/2006/relationships/hyperlink" Target="https://health.kr/searchDrug/result_take.asp?drug_cd=2017121500009" TargetMode="External"/><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doi.org/10.1093/ejcts/ezae354" TargetMode="External"/><Relationship Id="rId4" Type="http://schemas.openxmlformats.org/officeDocument/2006/relationships/hyperlink" Target="https://doi.org/10.1093/ejcts/ezae354" TargetMode="External"/><Relationship Id="rId9" Type="http://schemas.openxmlformats.org/officeDocument/2006/relationships/hyperlink" Target="https://www.sccm.org/clinical-resources/guidelines/guidelines/surviving-sepsis-campaign-international-guidelines-for-management-of-sepsis-and-septic-shock-2026" TargetMode="External"/><Relationship Id="rId15" Type="http://schemas.openxmlformats.org/officeDocument/2006/relationships/hyperlink" Target="https://nedrug.mfds.go.kr/searchDrug?itemSeq=201708376&amp;searchYn=true" TargetMode="External"/><Relationship Id="rId14" Type="http://schemas.openxmlformats.org/officeDocument/2006/relationships/hyperlink" Target="https://nedrug.mfds.go.kr/pbp/CCBBB01/getItemDetail?itemSeq=201708376" TargetMode="External"/><Relationship Id="rId17" Type="http://schemas.openxmlformats.org/officeDocument/2006/relationships/slide" Target="/ppt/slides/slide1.xml"/><Relationship Id="rId16" Type="http://schemas.openxmlformats.org/officeDocument/2006/relationships/hyperlink" Target="https://nedrug.mfds.go.kr/searchDrug?itemSeq=201708376&amp;searchYn=true" TargetMode="External"/><Relationship Id="rId5" Type="http://schemas.openxmlformats.org/officeDocument/2006/relationships/hyperlink" Target="https://doi.org/10.1093/ejcts/ezae354" TargetMode="External"/><Relationship Id="rId6" Type="http://schemas.openxmlformats.org/officeDocument/2006/relationships/hyperlink" Target="https://doi.org/10.1093/ejcts/ezae354" TargetMode="External"/><Relationship Id="rId7" Type="http://schemas.openxmlformats.org/officeDocument/2006/relationships/hyperlink" Target="https://www.sccm.org/clinical-resources/guidelines/guidelines/surviving-sepsis-campaign-international-guidelines-for-management-of-sepsis-and-septic-shock-2026" TargetMode="External"/><Relationship Id="rId8" Type="http://schemas.openxmlformats.org/officeDocument/2006/relationships/hyperlink" Target="https://www.sccm.org/clinical-resources/guidelines/guidelines/surviving-sepsis-campaign-international-guidelines-for-management-of-sepsis-and-septic-shock-2026" TargetMode="External"/></Relationships>
</file>

<file path=ppt/slides/_rels/slide30.xml.rels><?xml version="1.0" encoding="UTF-8" standalone="yes"?><Relationships xmlns="http://schemas.openxmlformats.org/package/2006/relationships"><Relationship Id="rId20" Type="http://schemas.openxmlformats.org/officeDocument/2006/relationships/hyperlink" Target="https://pmc.ncbi.nlm.nih.gov/articles/PMC6013734/" TargetMode="External"/><Relationship Id="rId11" Type="http://schemas.openxmlformats.org/officeDocument/2006/relationships/hyperlink" Target="https://kentandmedwayformulary.nhs.uk/therapeutic-sections/emergency-treatment-of-poisoning/methaemoglobinaemia/" TargetMode="External"/><Relationship Id="rId10" Type="http://schemas.openxmlformats.org/officeDocument/2006/relationships/hyperlink" Target="https://kentandmedwayformulary.nhs.uk/therapeutic-sections/emergency-treatment-of-poisoning/methaemoglobinaemia/" TargetMode="External"/><Relationship Id="rId21" Type="http://schemas.openxmlformats.org/officeDocument/2006/relationships/slide" Target="/ppt/slides/slide1.xml"/><Relationship Id="rId13" Type="http://schemas.openxmlformats.org/officeDocument/2006/relationships/hyperlink" Target="https://pubmed.ncbi.nlm.nih.gov/34610607/" TargetMode="External"/><Relationship Id="rId12" Type="http://schemas.openxmlformats.org/officeDocument/2006/relationships/hyperlink" Target="https://kentandmedwayformulary.nhs.uk/therapeutic-sections/emergency-treatment-of-poisoning/methaemoglobinaemia/" TargetMode="External"/><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pmc.ncbi.nlm.nih.gov/articles/PMC5523819/" TargetMode="External"/><Relationship Id="rId4" Type="http://schemas.openxmlformats.org/officeDocument/2006/relationships/hyperlink" Target="https://pmc.ncbi.nlm.nih.gov/articles/PMC5523819/" TargetMode="External"/><Relationship Id="rId9" Type="http://schemas.openxmlformats.org/officeDocument/2006/relationships/hyperlink" Target="https://kentandmedwayformulary.nhs.uk/therapeutic-sections/emergency-treatment-of-poisoning/methaemoglobinaemia/" TargetMode="External"/><Relationship Id="rId15" Type="http://schemas.openxmlformats.org/officeDocument/2006/relationships/hyperlink" Target="https://pubmed.ncbi.nlm.nih.gov/34610607/" TargetMode="External"/><Relationship Id="rId14" Type="http://schemas.openxmlformats.org/officeDocument/2006/relationships/hyperlink" Target="https://pubmed.ncbi.nlm.nih.gov/34610607/" TargetMode="External"/><Relationship Id="rId17" Type="http://schemas.openxmlformats.org/officeDocument/2006/relationships/hyperlink" Target="https://pmc.ncbi.nlm.nih.gov/articles/PMC6013734/" TargetMode="External"/><Relationship Id="rId16" Type="http://schemas.openxmlformats.org/officeDocument/2006/relationships/hyperlink" Target="https://pubmed.ncbi.nlm.nih.gov/34610607/" TargetMode="External"/><Relationship Id="rId5" Type="http://schemas.openxmlformats.org/officeDocument/2006/relationships/hyperlink" Target="https://pmc.ncbi.nlm.nih.gov/articles/PMC5523819/" TargetMode="External"/><Relationship Id="rId19" Type="http://schemas.openxmlformats.org/officeDocument/2006/relationships/hyperlink" Target="https://pmc.ncbi.nlm.nih.gov/articles/PMC6013734/" TargetMode="External"/><Relationship Id="rId6" Type="http://schemas.openxmlformats.org/officeDocument/2006/relationships/hyperlink" Target="https://pmc.ncbi.nlm.nih.gov/articles/PMC8880443/" TargetMode="External"/><Relationship Id="rId18" Type="http://schemas.openxmlformats.org/officeDocument/2006/relationships/hyperlink" Target="https://pmc.ncbi.nlm.nih.gov/articles/PMC6013734/" TargetMode="External"/><Relationship Id="rId7" Type="http://schemas.openxmlformats.org/officeDocument/2006/relationships/hyperlink" Target="https://pmc.ncbi.nlm.nih.gov/articles/PMC8880443/" TargetMode="External"/><Relationship Id="rId8" Type="http://schemas.openxmlformats.org/officeDocument/2006/relationships/hyperlink" Target="https://pmc.ncbi.nlm.nih.gov/articles/PMC8880443/" TargetMode="External"/></Relationships>
</file>

<file path=ppt/slides/_rels/slide31.xml.rels><?xml version="1.0" encoding="UTF-8" standalone="yes"?><Relationships xmlns="http://schemas.openxmlformats.org/package/2006/relationships"><Relationship Id="rId11" Type="http://schemas.openxmlformats.org/officeDocument/2006/relationships/hyperlink" Target="https://pmc.ncbi.nlm.nih.gov/articles/PMC7713804/" TargetMode="External"/><Relationship Id="rId10" Type="http://schemas.openxmlformats.org/officeDocument/2006/relationships/hyperlink" Target="https://pmc.ncbi.nlm.nih.gov/articles/PMC11247704/" TargetMode="External"/><Relationship Id="rId13" Type="http://schemas.openxmlformats.org/officeDocument/2006/relationships/hyperlink" Target="https://pmc.ncbi.nlm.nih.gov/articles/PMC7713804/" TargetMode="External"/><Relationship Id="rId12" Type="http://schemas.openxmlformats.org/officeDocument/2006/relationships/hyperlink" Target="https://pmc.ncbi.nlm.nih.gov/articles/PMC7713804/" TargetMode="External"/><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pmc.ncbi.nlm.nih.gov/articles/PMC5642875/" TargetMode="External"/><Relationship Id="rId4" Type="http://schemas.openxmlformats.org/officeDocument/2006/relationships/hyperlink" Target="https://pmc.ncbi.nlm.nih.gov/articles/PMC5642875/" TargetMode="External"/><Relationship Id="rId9" Type="http://schemas.openxmlformats.org/officeDocument/2006/relationships/hyperlink" Target="https://pmc.ncbi.nlm.nih.gov/articles/PMC11247704/" TargetMode="External"/><Relationship Id="rId15" Type="http://schemas.openxmlformats.org/officeDocument/2006/relationships/hyperlink" Target="https://pmc.ncbi.nlm.nih.gov/articles/PMC5408522/" TargetMode="External"/><Relationship Id="rId14" Type="http://schemas.openxmlformats.org/officeDocument/2006/relationships/hyperlink" Target="https://pmc.ncbi.nlm.nih.gov/articles/PMC5408522/" TargetMode="External"/><Relationship Id="rId17" Type="http://schemas.openxmlformats.org/officeDocument/2006/relationships/hyperlink" Target="https://www.accessdata.fda.gov/drugsatfda_docs/label/2024/204630Orig1s023lbl.pdf" TargetMode="External"/><Relationship Id="rId16" Type="http://schemas.openxmlformats.org/officeDocument/2006/relationships/hyperlink" Target="https://pmc.ncbi.nlm.nih.gov/articles/PMC5408522/" TargetMode="External"/><Relationship Id="rId5" Type="http://schemas.openxmlformats.org/officeDocument/2006/relationships/hyperlink" Target="https://pmc.ncbi.nlm.nih.gov/articles/PMC5642875/" TargetMode="External"/><Relationship Id="rId19" Type="http://schemas.openxmlformats.org/officeDocument/2006/relationships/slide" Target="/ppt/slides/slide1.xml"/><Relationship Id="rId6" Type="http://schemas.openxmlformats.org/officeDocument/2006/relationships/hyperlink" Target="https://pmc.ncbi.nlm.nih.gov/articles/PMC5642875/" TargetMode="External"/><Relationship Id="rId18" Type="http://schemas.openxmlformats.org/officeDocument/2006/relationships/hyperlink" Target="https://www.accessdata.fda.gov/drugsatfda_docs/label/2024/204630Orig1s023lbl.pdf" TargetMode="External"/><Relationship Id="rId7" Type="http://schemas.openxmlformats.org/officeDocument/2006/relationships/hyperlink" Target="https://pmc.ncbi.nlm.nih.gov/articles/PMC11247704/" TargetMode="External"/><Relationship Id="rId8" Type="http://schemas.openxmlformats.org/officeDocument/2006/relationships/hyperlink" Target="https://pmc.ncbi.nlm.nih.gov/articles/PMC11247704/" TargetMode="External"/></Relationships>
</file>

<file path=ppt/slides/_rels/slide32.xml.rels><?xml version="1.0" encoding="UTF-8" standalone="yes"?><Relationships xmlns="http://schemas.openxmlformats.org/package/2006/relationships"><Relationship Id="rId11" Type="http://schemas.openxmlformats.org/officeDocument/2006/relationships/hyperlink" Target="https://pubmed.ncbi.nlm.nih.gov/10585632/" TargetMode="External"/><Relationship Id="rId10" Type="http://schemas.openxmlformats.org/officeDocument/2006/relationships/hyperlink" Target="https://pubmed.ncbi.nlm.nih.gov/7679577/" TargetMode="External"/><Relationship Id="rId13" Type="http://schemas.openxmlformats.org/officeDocument/2006/relationships/hyperlink" Target="https://pubmed.ncbi.nlm.nih.gov/10585632/" TargetMode="External"/><Relationship Id="rId12" Type="http://schemas.openxmlformats.org/officeDocument/2006/relationships/hyperlink" Target="https://pubmed.ncbi.nlm.nih.gov/10585632/" TargetMode="External"/><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www.ema.europa.eu/en/documents/product-information/methylthioninium-chloride-proveblue-epar-product-information_en.pdf" TargetMode="External"/><Relationship Id="rId4" Type="http://schemas.openxmlformats.org/officeDocument/2006/relationships/hyperlink" Target="https://www.ema.europa.eu/en/documents/product-information/methylthioninium-chloride-proveblue-epar-product-information_en.pdf" TargetMode="External"/><Relationship Id="rId9" Type="http://schemas.openxmlformats.org/officeDocument/2006/relationships/hyperlink" Target="https://pubmed.ncbi.nlm.nih.gov/7679577/" TargetMode="External"/><Relationship Id="rId15" Type="http://schemas.openxmlformats.org/officeDocument/2006/relationships/hyperlink" Target="https://pubmed.ncbi.nlm.nih.gov/26934199/" TargetMode="External"/><Relationship Id="rId14" Type="http://schemas.openxmlformats.org/officeDocument/2006/relationships/hyperlink" Target="https://pubmed.ncbi.nlm.nih.gov/10585632/" TargetMode="External"/><Relationship Id="rId17" Type="http://schemas.openxmlformats.org/officeDocument/2006/relationships/hyperlink" Target="https://pubmed.ncbi.nlm.nih.gov/26934199/" TargetMode="External"/><Relationship Id="rId16" Type="http://schemas.openxmlformats.org/officeDocument/2006/relationships/hyperlink" Target="https://pubmed.ncbi.nlm.nih.gov/26934199/" TargetMode="External"/><Relationship Id="rId5" Type="http://schemas.openxmlformats.org/officeDocument/2006/relationships/hyperlink" Target="https://pmc.ncbi.nlm.nih.gov/articles/PMC2078225/" TargetMode="External"/><Relationship Id="rId6" Type="http://schemas.openxmlformats.org/officeDocument/2006/relationships/hyperlink" Target="https://pmc.ncbi.nlm.nih.gov/articles/PMC2078225/" TargetMode="External"/><Relationship Id="rId18" Type="http://schemas.openxmlformats.org/officeDocument/2006/relationships/slide" Target="/ppt/slides/slide1.xml"/><Relationship Id="rId7" Type="http://schemas.openxmlformats.org/officeDocument/2006/relationships/hyperlink" Target="https://pmc.ncbi.nlm.nih.gov/articles/PMC2078225/" TargetMode="External"/><Relationship Id="rId8" Type="http://schemas.openxmlformats.org/officeDocument/2006/relationships/hyperlink" Target="https://pubmed.ncbi.nlm.nih.gov/7679577/" TargetMode="External"/></Relationships>
</file>

<file path=ppt/slides/_rels/slide33.xml.rels><?xml version="1.0" encoding="UTF-8" standalone="yes"?><Relationships xmlns="http://schemas.openxmlformats.org/package/2006/relationships"><Relationship Id="rId11" Type="http://schemas.openxmlformats.org/officeDocument/2006/relationships/hyperlink" Target="https://pubmed.ncbi.nlm.nih.gov/14759425/" TargetMode="External"/><Relationship Id="rId10" Type="http://schemas.openxmlformats.org/officeDocument/2006/relationships/hyperlink" Target="https://pubmed.ncbi.nlm.nih.gov/14759425/" TargetMode="External"/><Relationship Id="rId13" Type="http://schemas.openxmlformats.org/officeDocument/2006/relationships/hyperlink" Target="https://pubmed.ncbi.nlm.nih.gov/15854942/" TargetMode="External"/><Relationship Id="rId12" Type="http://schemas.openxmlformats.org/officeDocument/2006/relationships/hyperlink" Target="https://pubmed.ncbi.nlm.nih.gov/15854942/" TargetMode="External"/><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pubmed.ncbi.nlm.nih.gov/40320108/" TargetMode="External"/><Relationship Id="rId4" Type="http://schemas.openxmlformats.org/officeDocument/2006/relationships/hyperlink" Target="https://pubmed.ncbi.nlm.nih.gov/40320108/" TargetMode="External"/><Relationship Id="rId9" Type="http://schemas.openxmlformats.org/officeDocument/2006/relationships/hyperlink" Target="https://pubmed.ncbi.nlm.nih.gov/14759425/" TargetMode="External"/><Relationship Id="rId15" Type="http://schemas.openxmlformats.org/officeDocument/2006/relationships/hyperlink" Target="https://www.frontiersin.org/journals/medicine/articles/10.3389/fmed.2024.1431321/full" TargetMode="External"/><Relationship Id="rId14" Type="http://schemas.openxmlformats.org/officeDocument/2006/relationships/hyperlink" Target="https://pubmed.ncbi.nlm.nih.gov/15854942/" TargetMode="External"/><Relationship Id="rId17" Type="http://schemas.openxmlformats.org/officeDocument/2006/relationships/hyperlink" Target="https://www.frontiersin.org/journals/medicine/articles/10.3389/fmed.2024.1431321/full" TargetMode="External"/><Relationship Id="rId16" Type="http://schemas.openxmlformats.org/officeDocument/2006/relationships/hyperlink" Target="https://www.frontiersin.org/journals/medicine/articles/10.3389/fmed.2024.1431321/full" TargetMode="External"/><Relationship Id="rId5" Type="http://schemas.openxmlformats.org/officeDocument/2006/relationships/hyperlink" Target="https://pubmed.ncbi.nlm.nih.gov/40320108/" TargetMode="External"/><Relationship Id="rId6" Type="http://schemas.openxmlformats.org/officeDocument/2006/relationships/hyperlink" Target="https://pmc.ncbi.nlm.nih.gov/articles/PMC10010212/" TargetMode="External"/><Relationship Id="rId18" Type="http://schemas.openxmlformats.org/officeDocument/2006/relationships/slide" Target="/ppt/slides/slide1.xml"/><Relationship Id="rId7" Type="http://schemas.openxmlformats.org/officeDocument/2006/relationships/hyperlink" Target="https://pmc.ncbi.nlm.nih.gov/articles/PMC10010212/" TargetMode="External"/><Relationship Id="rId8" Type="http://schemas.openxmlformats.org/officeDocument/2006/relationships/hyperlink" Target="https://pmc.ncbi.nlm.nih.gov/articles/PMC10010212/" TargetMode="External"/></Relationships>
</file>

<file path=ppt/slides/_rels/slide34.xml.rels><?xml version="1.0" encoding="UTF-8" standalone="yes"?><Relationships xmlns="http://schemas.openxmlformats.org/package/2006/relationships"><Relationship Id="rId11" Type="http://schemas.openxmlformats.org/officeDocument/2006/relationships/hyperlink" Target="https://pmc.ncbi.nlm.nih.gov/articles/PMC11196076/" TargetMode="External"/><Relationship Id="rId10" Type="http://schemas.openxmlformats.org/officeDocument/2006/relationships/hyperlink" Target="https://pmc.ncbi.nlm.nih.gov/articles/PMC11196076/" TargetMode="External"/><Relationship Id="rId13" Type="http://schemas.openxmlformats.org/officeDocument/2006/relationships/hyperlink" Target="https://pubmed.ncbi.nlm.nih.gov/37880041/" TargetMode="External"/><Relationship Id="rId12" Type="http://schemas.openxmlformats.org/officeDocument/2006/relationships/hyperlink" Target="https://pubmed.ncbi.nlm.nih.gov/37880041/" TargetMode="External"/><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pmc.ncbi.nlm.nih.gov/articles/PMC11707904/" TargetMode="External"/><Relationship Id="rId4" Type="http://schemas.openxmlformats.org/officeDocument/2006/relationships/hyperlink" Target="https://pmc.ncbi.nlm.nih.gov/articles/PMC11707904/" TargetMode="External"/><Relationship Id="rId9" Type="http://schemas.openxmlformats.org/officeDocument/2006/relationships/hyperlink" Target="https://pmc.ncbi.nlm.nih.gov/articles/PMC11196076/" TargetMode="External"/><Relationship Id="rId15" Type="http://schemas.openxmlformats.org/officeDocument/2006/relationships/hyperlink" Target="https://pubmed.ncbi.nlm.nih.gov/33653154/" TargetMode="External"/><Relationship Id="rId14" Type="http://schemas.openxmlformats.org/officeDocument/2006/relationships/hyperlink" Target="https://pubmed.ncbi.nlm.nih.gov/37880041/" TargetMode="External"/><Relationship Id="rId17" Type="http://schemas.openxmlformats.org/officeDocument/2006/relationships/hyperlink" Target="https://pubmed.ncbi.nlm.nih.gov/33653154/" TargetMode="External"/><Relationship Id="rId16" Type="http://schemas.openxmlformats.org/officeDocument/2006/relationships/hyperlink" Target="https://pubmed.ncbi.nlm.nih.gov/33653154/" TargetMode="External"/><Relationship Id="rId5" Type="http://schemas.openxmlformats.org/officeDocument/2006/relationships/hyperlink" Target="https://pmc.ncbi.nlm.nih.gov/articles/PMC11707904/" TargetMode="External"/><Relationship Id="rId6" Type="http://schemas.openxmlformats.org/officeDocument/2006/relationships/hyperlink" Target="https://pmc.ncbi.nlm.nih.gov/articles/PMC12751372/" TargetMode="External"/><Relationship Id="rId18" Type="http://schemas.openxmlformats.org/officeDocument/2006/relationships/slide" Target="/ppt/slides/slide1.xml"/><Relationship Id="rId7" Type="http://schemas.openxmlformats.org/officeDocument/2006/relationships/hyperlink" Target="https://pmc.ncbi.nlm.nih.gov/articles/PMC12751372/" TargetMode="External"/><Relationship Id="rId8" Type="http://schemas.openxmlformats.org/officeDocument/2006/relationships/hyperlink" Target="https://pmc.ncbi.nlm.nih.gov/articles/PMC12751372/" TargetMode="External"/></Relationships>
</file>

<file path=ppt/slides/_rels/slide35.xml.rels><?xml version="1.0" encoding="UTF-8" standalone="yes"?><Relationships xmlns="http://schemas.openxmlformats.org/package/2006/relationships"><Relationship Id="rId11" Type="http://schemas.openxmlformats.org/officeDocument/2006/relationships/hyperlink" Target="https://dailymed.nlm.nih.gov/dailymed/drugInfo.cfm?setid=c4de72a8-2a75-4984-ce90-e4870226dc12" TargetMode="External"/><Relationship Id="rId10" Type="http://schemas.openxmlformats.org/officeDocument/2006/relationships/hyperlink" Target="https://dailymed.nlm.nih.gov/dailymed/drugInfo.cfm?setid=c4de72a8-2a75-4984-ce90-e4870226dc12" TargetMode="External"/><Relationship Id="rId13" Type="http://schemas.openxmlformats.org/officeDocument/2006/relationships/hyperlink" Target="https://dailymed.nlm.nih.gov/dailymed/drugInfo.cfm?setid=d162d386-105d-e916-e053-2995a90a350c" TargetMode="External"/><Relationship Id="rId12" Type="http://schemas.openxmlformats.org/officeDocument/2006/relationships/hyperlink" Target="https://dailymed.nlm.nih.gov/dailymed/drugInfo.cfm?setid=d162d386-105d-e916-e053-2995a90a350c" TargetMode="External"/><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pubmed.ncbi.nlm.nih.gov/2827174/" TargetMode="External"/><Relationship Id="rId4" Type="http://schemas.openxmlformats.org/officeDocument/2006/relationships/hyperlink" Target="https://pubmed.ncbi.nlm.nih.gov/2827174/" TargetMode="External"/><Relationship Id="rId9" Type="http://schemas.openxmlformats.org/officeDocument/2006/relationships/hyperlink" Target="https://pubmed.ncbi.nlm.nih.gov/12830064/" TargetMode="External"/><Relationship Id="rId15" Type="http://schemas.openxmlformats.org/officeDocument/2006/relationships/hyperlink" Target="https://pubmed.ncbi.nlm.nih.gov/19471794/" TargetMode="External"/><Relationship Id="rId14" Type="http://schemas.openxmlformats.org/officeDocument/2006/relationships/hyperlink" Target="https://pubmed.ncbi.nlm.nih.gov/19471794/" TargetMode="External"/><Relationship Id="rId17" Type="http://schemas.openxmlformats.org/officeDocument/2006/relationships/slide" Target="/ppt/slides/slide1.xml"/><Relationship Id="rId16" Type="http://schemas.openxmlformats.org/officeDocument/2006/relationships/hyperlink" Target="https://pubmed.ncbi.nlm.nih.gov/19471794/" TargetMode="External"/><Relationship Id="rId5" Type="http://schemas.openxmlformats.org/officeDocument/2006/relationships/hyperlink" Target="https://pubmed.ncbi.nlm.nih.gov/2827174/" TargetMode="External"/><Relationship Id="rId6" Type="http://schemas.openxmlformats.org/officeDocument/2006/relationships/hyperlink" Target="https://pubmed.ncbi.nlm.nih.gov/12830064/" TargetMode="External"/><Relationship Id="rId7" Type="http://schemas.openxmlformats.org/officeDocument/2006/relationships/hyperlink" Target="https://pubmed.ncbi.nlm.nih.gov/12830064/" TargetMode="External"/><Relationship Id="rId8" Type="http://schemas.openxmlformats.org/officeDocument/2006/relationships/hyperlink" Target="https://pubmed.ncbi.nlm.nih.gov/12830064/" TargetMode="External"/></Relationships>
</file>

<file path=ppt/slides/_rels/slide36.xml.rels><?xml version="1.0" encoding="UTF-8" standalone="yes"?><Relationships xmlns="http://schemas.openxmlformats.org/package/2006/relationships"><Relationship Id="rId10" Type="http://schemas.openxmlformats.org/officeDocument/2006/relationships/slide" Target="/ppt/slides/slide1.xml"/><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pmc.ncbi.nlm.nih.gov/articles/PMC4675606/" TargetMode="External"/><Relationship Id="rId4" Type="http://schemas.openxmlformats.org/officeDocument/2006/relationships/hyperlink" Target="https://pmc.ncbi.nlm.nih.gov/articles/PMC4675606/" TargetMode="External"/><Relationship Id="rId9" Type="http://schemas.openxmlformats.org/officeDocument/2006/relationships/hyperlink" Target="https://pmc.ncbi.nlm.nih.gov/articles/PMC11915450/" TargetMode="External"/><Relationship Id="rId5" Type="http://schemas.openxmlformats.org/officeDocument/2006/relationships/hyperlink" Target="https://pmc.ncbi.nlm.nih.gov/articles/PMC4675606/" TargetMode="External"/><Relationship Id="rId6" Type="http://schemas.openxmlformats.org/officeDocument/2006/relationships/hyperlink" Target="https://pmc.ncbi.nlm.nih.gov/articles/PMC4675606/" TargetMode="External"/><Relationship Id="rId7" Type="http://schemas.openxmlformats.org/officeDocument/2006/relationships/hyperlink" Target="https://pmc.ncbi.nlm.nih.gov/articles/PMC11915450/" TargetMode="External"/><Relationship Id="rId8" Type="http://schemas.openxmlformats.org/officeDocument/2006/relationships/hyperlink" Target="https://pmc.ncbi.nlm.nih.gov/articles/PMC1191545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84" name="Shape 84"/>
        <p:cNvGrpSpPr/>
        <p:nvPr/>
      </p:nvGrpSpPr>
      <p:grpSpPr>
        <a:xfrm>
          <a:off x="0" y="0"/>
          <a:ext cx="0" cy="0"/>
          <a:chOff x="0" y="0"/>
          <a:chExt cx="0" cy="0"/>
        </a:xfrm>
      </p:grpSpPr>
      <p:sp>
        <p:nvSpPr>
          <p:cNvPr id="85" name="Google Shape;85;p13"/>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01 / 경영진 결론</a:t>
            </a:r>
            <a:endParaRPr/>
          </a:p>
        </p:txBody>
      </p:sp>
      <p:sp>
        <p:nvSpPr>
          <p:cNvPr id="86" name="Google Shape;86;p13"/>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87" name="Google Shape;87;p13"/>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메틸렌블루 비축은 난치성 혈관마비의 선택지를 확보하는 결정임</a:t>
            </a:r>
            <a:endParaRPr/>
          </a:p>
        </p:txBody>
      </p:sp>
      <p:sp>
        <p:nvSpPr>
          <p:cNvPr id="89" name="Google Shape;89;p13"/>
          <p:cNvSpPr txBox="1"/>
          <p:nvPr/>
        </p:nvSpPr>
        <p:spPr>
          <a:xfrm>
            <a:off x="566928" y="1603756"/>
            <a:ext cx="11058143" cy="286765"/>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596B7A"/>
                </a:solidFill>
                <a:latin typeface="Noto Sans"/>
                <a:ea typeface="Noto Sans"/>
                <a:cs typeface="Noto Sans"/>
                <a:sym typeface="Noto Sans"/>
              </a:rPr>
              <a:t>프로베블루주 0.5% · 약리학적 근거, 임상 반응, 제한사용 체계</a:t>
            </a:r>
            <a:endParaRPr/>
          </a:p>
        </p:txBody>
      </p:sp>
      <p:sp>
        <p:nvSpPr>
          <p:cNvPr id="90" name="Google Shape;90;p13"/>
          <p:cNvSpPr/>
          <p:nvPr/>
        </p:nvSpPr>
        <p:spPr>
          <a:xfrm>
            <a:off x="566928" y="2091689"/>
            <a:ext cx="4663440" cy="3806190"/>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13"/>
          <p:cNvSpPr/>
          <p:nvPr/>
        </p:nvSpPr>
        <p:spPr>
          <a:xfrm>
            <a:off x="822960" y="2384297"/>
            <a:ext cx="594360" cy="45720"/>
          </a:xfrm>
          <a:prstGeom prst="rect">
            <a:avLst/>
          </a:prstGeom>
          <a:solidFill>
            <a:srgbClr val="D8ED8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3"/>
          <p:cNvSpPr txBox="1"/>
          <p:nvPr/>
        </p:nvSpPr>
        <p:spPr>
          <a:xfrm>
            <a:off x="841247" y="2695194"/>
            <a:ext cx="4114800" cy="2928366"/>
          </a:xfrm>
          <a:prstGeom prst="rect">
            <a:avLst/>
          </a:prstGeom>
          <a:noFill/>
          <a:ln>
            <a:noFill/>
          </a:ln>
        </p:spPr>
        <p:txBody>
          <a:bodyPr anchorCtr="0" anchor="t" bIns="0" lIns="0" spcFirstLastPara="1" rIns="0" wrap="square" tIns="0">
            <a:noAutofit/>
          </a:bodyPr>
          <a:lstStyle/>
          <a:p>
            <a:pPr indent="0" lvl="0" marL="0" marR="0" rtl="0" algn="l">
              <a:lnSpc>
                <a:spcPct val="117956"/>
              </a:lnSpc>
              <a:spcBef>
                <a:spcPts val="0"/>
              </a:spcBef>
              <a:spcAft>
                <a:spcPts val="0"/>
              </a:spcAft>
              <a:buNone/>
            </a:pPr>
            <a:r>
              <a:rPr b="1" i="0" lang="ko-KR" sz="2300" u="none" cap="none" strike="noStrike">
                <a:solidFill>
                  <a:srgbClr val="FFFFFF"/>
                </a:solidFill>
                <a:latin typeface="Noto Sans"/>
                <a:ea typeface="Noto Sans"/>
                <a:cs typeface="Noto Sans"/>
                <a:sym typeface="Noto Sans"/>
              </a:rPr>
              <a:t>낮은 혈관저항이 지속되는 위기에</a:t>
            </a:r>
            <a:br>
              <a:rPr b="1" i="0" lang="ko-KR" sz="2300" u="none" cap="none" strike="noStrike">
                <a:solidFill>
                  <a:srgbClr val="FFFFFF"/>
                </a:solidFill>
                <a:latin typeface="Noto Sans"/>
                <a:ea typeface="Noto Sans"/>
                <a:cs typeface="Noto Sans"/>
                <a:sym typeface="Noto Sans"/>
              </a:rPr>
            </a:br>
            <a:r>
              <a:rPr b="1" i="0" lang="ko-KR" sz="2300" u="none" cap="none" strike="noStrike">
                <a:solidFill>
                  <a:srgbClr val="FFFFFF"/>
                </a:solidFill>
                <a:latin typeface="Noto Sans"/>
                <a:ea typeface="Noto Sans"/>
                <a:cs typeface="Noto Sans"/>
                <a:sym typeface="Noto Sans"/>
              </a:rPr>
              <a:t>대비한 최소 비축과 사용 조건</a:t>
            </a:r>
            <a:br>
              <a:rPr b="1" i="0" lang="ko-KR" sz="2300" u="none" cap="none" strike="noStrike">
                <a:solidFill>
                  <a:srgbClr val="FFFFFF"/>
                </a:solidFill>
                <a:latin typeface="Noto Sans"/>
                <a:ea typeface="Noto Sans"/>
                <a:cs typeface="Noto Sans"/>
                <a:sym typeface="Noto Sans"/>
              </a:rPr>
            </a:br>
            <a:r>
              <a:rPr b="1" i="0" lang="ko-KR" sz="2300" u="none" cap="none" strike="noStrike">
                <a:solidFill>
                  <a:srgbClr val="FFFFFF"/>
                </a:solidFill>
                <a:latin typeface="Noto Sans"/>
                <a:ea typeface="Noto Sans"/>
                <a:cs typeface="Noto Sans"/>
                <a:sym typeface="Noto Sans"/>
              </a:rPr>
              <a:t>정립 제안</a:t>
            </a:r>
            <a:endParaRPr/>
          </a:p>
        </p:txBody>
      </p:sp>
      <p:sp>
        <p:nvSpPr>
          <p:cNvPr id="93" name="Google Shape;93;p13"/>
          <p:cNvSpPr txBox="1"/>
          <p:nvPr/>
        </p:nvSpPr>
        <p:spPr>
          <a:xfrm>
            <a:off x="5614416" y="2237994"/>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94" name="Google Shape;94;p13"/>
          <p:cNvSpPr txBox="1"/>
          <p:nvPr/>
        </p:nvSpPr>
        <p:spPr>
          <a:xfrm>
            <a:off x="5980176" y="2219706"/>
            <a:ext cx="564489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기존 승압제와 다른 NO–sGC–cGMP 경로에</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개입하는 약리학적 근거 존재</a:t>
            </a:r>
            <a:endParaRPr/>
          </a:p>
        </p:txBody>
      </p:sp>
      <p:sp>
        <p:nvSpPr>
          <p:cNvPr id="95" name="Google Shape;95;p13"/>
          <p:cNvSpPr txBox="1"/>
          <p:nvPr/>
        </p:nvSpPr>
        <p:spPr>
          <a:xfrm>
            <a:off x="5614416" y="3210305"/>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96" name="Google Shape;96;p13"/>
          <p:cNvSpPr txBox="1"/>
          <p:nvPr/>
        </p:nvSpPr>
        <p:spPr>
          <a:xfrm>
            <a:off x="5980176" y="3192017"/>
            <a:ext cx="564489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승압제 감량·혈압 반응의 임상 신호 확인. 적용</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대상과 안전성 사전 규정 필요</a:t>
            </a:r>
            <a:endParaRPr/>
          </a:p>
        </p:txBody>
      </p:sp>
      <p:sp>
        <p:nvSpPr>
          <p:cNvPr id="97" name="Google Shape;97;p13"/>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3"/>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99" name="Google Shape;99;p13"/>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[TR01] Early adjunctive methylene blue in patients with septic s…</a:t>
            </a:r>
            <a:endParaRPr/>
          </a:p>
        </p:txBody>
      </p:sp>
      <p:sp>
        <p:nvSpPr>
          <p:cNvPr id="100" name="Google Shape;100;p13"/>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[KR01] MFDS 의약품안전나라 — 프로베블루주0.5%(메틸렌블루) 품목…</a:t>
            </a:r>
            <a:endParaRPr/>
          </a:p>
        </p:txBody>
      </p:sp>
      <p:sp>
        <p:nvSpPr>
          <p:cNvPr id="101" name="Google Shape;101;p13"/>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102" name="Google Shape;102;p13">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103" name="Google Shape;103;p13"/>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01 / 36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08" name="Shape 108"/>
        <p:cNvGrpSpPr/>
        <p:nvPr/>
      </p:nvGrpSpPr>
      <p:grpSpPr>
        <a:xfrm>
          <a:off x="0" y="0"/>
          <a:ext cx="0" cy="0"/>
          <a:chOff x="0" y="0"/>
          <a:chExt cx="0" cy="0"/>
        </a:xfrm>
      </p:grpSpPr>
      <p:sp>
        <p:nvSpPr>
          <p:cNvPr id="109" name="Google Shape;109;p14"/>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02 / 혈압과 혈관저항</a:t>
            </a:r>
            <a:endParaRPr/>
          </a:p>
        </p:txBody>
      </p:sp>
      <p:sp>
        <p:nvSpPr>
          <p:cNvPr id="110" name="Google Shape;110;p14"/>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111" name="Google Shape;111;p14"/>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4"/>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혈관이 과도하게 이완되면 심장이 뛰어도 관류압이 유지되지 않음</a:t>
            </a:r>
            <a:endParaRPr/>
          </a:p>
        </p:txBody>
      </p:sp>
      <p:sp>
        <p:nvSpPr>
          <p:cNvPr id="113" name="Google Shape;113;p14"/>
          <p:cNvSpPr/>
          <p:nvPr/>
        </p:nvSpPr>
        <p:spPr>
          <a:xfrm>
            <a:off x="566928" y="1603756"/>
            <a:ext cx="3466591" cy="41148"/>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4"/>
          <p:cNvSpPr txBox="1"/>
          <p:nvPr/>
        </p:nvSpPr>
        <p:spPr>
          <a:xfrm>
            <a:off x="566928"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115" name="Google Shape;115;p14"/>
          <p:cNvSpPr txBox="1"/>
          <p:nvPr/>
        </p:nvSpPr>
        <p:spPr>
          <a:xfrm>
            <a:off x="932688" y="1841500"/>
            <a:ext cx="3100831" cy="1290827"/>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평균동맥압(MAP)은</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심박출량(CO)과</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전신혈관저항(SVR)의</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영향을 받음</a:t>
            </a:r>
            <a:endParaRPr/>
          </a:p>
        </p:txBody>
      </p:sp>
      <p:sp>
        <p:nvSpPr>
          <p:cNvPr id="116" name="Google Shape;116;p14"/>
          <p:cNvSpPr/>
          <p:nvPr/>
        </p:nvSpPr>
        <p:spPr>
          <a:xfrm>
            <a:off x="4362703" y="1603756"/>
            <a:ext cx="3466591" cy="41148"/>
          </a:xfrm>
          <a:prstGeom prst="rect">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4"/>
          <p:cNvSpPr txBox="1"/>
          <p:nvPr/>
        </p:nvSpPr>
        <p:spPr>
          <a:xfrm>
            <a:off x="4362703"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118" name="Google Shape;118;p14"/>
          <p:cNvSpPr txBox="1"/>
          <p:nvPr/>
        </p:nvSpPr>
        <p:spPr>
          <a:xfrm>
            <a:off x="4728463" y="1841500"/>
            <a:ext cx="3100831" cy="976121"/>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분포성 쇼크(distributive</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shock)는 낮은 SVR이</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핵심인 표현형임</a:t>
            </a:r>
            <a:endParaRPr/>
          </a:p>
        </p:txBody>
      </p:sp>
      <p:sp>
        <p:nvSpPr>
          <p:cNvPr id="119" name="Google Shape;119;p14"/>
          <p:cNvSpPr/>
          <p:nvPr/>
        </p:nvSpPr>
        <p:spPr>
          <a:xfrm>
            <a:off x="8158479" y="1603756"/>
            <a:ext cx="3466591" cy="41148"/>
          </a:xfrm>
          <a:prstGeom prst="rect">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4"/>
          <p:cNvSpPr txBox="1"/>
          <p:nvPr/>
        </p:nvSpPr>
        <p:spPr>
          <a:xfrm>
            <a:off x="8158479"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121" name="Google Shape;121;p14"/>
          <p:cNvSpPr txBox="1"/>
          <p:nvPr/>
        </p:nvSpPr>
        <p:spPr>
          <a:xfrm>
            <a:off x="8524239" y="1841500"/>
            <a:ext cx="3100831" cy="1290827"/>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혈관마비(vasoplegia)는</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혈관 긴장 저하와 승압제</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반응 부족이 지속되는</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상태임</a:t>
            </a:r>
            <a:endParaRPr/>
          </a:p>
        </p:txBody>
      </p:sp>
      <p:sp>
        <p:nvSpPr>
          <p:cNvPr id="122" name="Google Shape;122;p14"/>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4"/>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124" name="Google Shape;124;p14"/>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[G02] Society of Critical Care Medicine. Surviving Sepsis Campa…</a:t>
            </a:r>
            <a:endParaRPr/>
          </a:p>
        </p:txBody>
      </p:sp>
      <p:sp>
        <p:nvSpPr>
          <p:cNvPr id="125" name="Google Shape;125;p14"/>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[MA03] Leyh RG, Kofidis T, Strüber M, et al. Methylene blue: the dr…</a:t>
            </a:r>
            <a:endParaRPr/>
          </a:p>
        </p:txBody>
      </p:sp>
      <p:sp>
        <p:nvSpPr>
          <p:cNvPr id="126" name="Google Shape;126;p14"/>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127" name="Google Shape;127;p14">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128" name="Google Shape;128;p14"/>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02 / 36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33" name="Shape 133"/>
        <p:cNvGrpSpPr/>
        <p:nvPr/>
      </p:nvGrpSpPr>
      <p:grpSpPr>
        <a:xfrm>
          <a:off x="0" y="0"/>
          <a:ext cx="0" cy="0"/>
          <a:chOff x="0" y="0"/>
          <a:chExt cx="0" cy="0"/>
        </a:xfrm>
      </p:grpSpPr>
      <p:sp>
        <p:nvSpPr>
          <p:cNvPr id="134" name="Google Shape;134;p15"/>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03 / 표적 환자군</a:t>
            </a:r>
            <a:endParaRPr/>
          </a:p>
        </p:txBody>
      </p:sp>
      <p:sp>
        <p:nvSpPr>
          <p:cNvPr id="135" name="Google Shape;135;p15"/>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136" name="Google Shape;136;p15"/>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5"/>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메틸렌블루의 약리학적 개연성은 낮은 SVR의 표현형에서 높음</a:t>
            </a:r>
            <a:endParaRPr/>
          </a:p>
        </p:txBody>
      </p:sp>
      <p:graphicFrame>
        <p:nvGraphicFramePr>
          <p:cNvPr id="138" name="Google Shape;138;p15"/>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076725"/>
                <a:gridCol w="3934125"/>
                <a:gridCol w="404730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표현형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우선 확인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MB 검토의 의미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혈관확장 우세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낮은 SVR·보존된 심박출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NO 관련 이완 신호 개입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저혈량 우세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체액·출혈·전부하</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원인 교정 우선</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수축력 저하 우세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좌·우심실 기능</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관류·심박출 회복 우선</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폐쇄성·혼합 쇼크</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폐색·심장압전·혼합 원인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단일 혈압 수치로 판단 불가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139" name="Google Shape;139;p15"/>
          <p:cNvSpPr txBox="1"/>
          <p:nvPr/>
        </p:nvSpPr>
        <p:spPr>
          <a:xfrm>
            <a:off x="566928" y="4474971"/>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140" name="Google Shape;140;p15"/>
          <p:cNvSpPr txBox="1"/>
          <p:nvPr/>
        </p:nvSpPr>
        <p:spPr>
          <a:xfrm>
            <a:off x="932688" y="4456684"/>
            <a:ext cx="10692383"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800" u="none" cap="none" strike="noStrike">
                <a:solidFill>
                  <a:srgbClr val="233446"/>
                </a:solidFill>
                <a:latin typeface="Noto Sans"/>
                <a:ea typeface="Noto Sans"/>
                <a:cs typeface="Noto Sans"/>
                <a:sym typeface="Noto Sans"/>
              </a:rPr>
              <a:t>low-SVR 평가는 사용 대상 선정의 근거임. MB 반응을 확정하는 검증된 동반진단은 아님</a:t>
            </a:r>
            <a:endParaRPr/>
          </a:p>
        </p:txBody>
      </p:sp>
      <p:sp>
        <p:nvSpPr>
          <p:cNvPr id="141" name="Google Shape;141;p15"/>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5"/>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143" name="Google Shape;143;p15"/>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[G02] Society of Critical Care Medicine. Surviving Sepsis Campa…</a:t>
            </a:r>
            <a:endParaRPr/>
          </a:p>
        </p:txBody>
      </p:sp>
      <p:sp>
        <p:nvSpPr>
          <p:cNvPr id="144" name="Google Shape;144;p15"/>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[PH02] Laes JR, Williams DM, Cole JB. Improvement in Hemodyn…</a:t>
            </a:r>
            <a:endParaRPr/>
          </a:p>
        </p:txBody>
      </p:sp>
      <p:sp>
        <p:nvSpPr>
          <p:cNvPr id="145" name="Google Shape;145;p15"/>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146" name="Google Shape;146;p15">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147" name="Google Shape;147;p15"/>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03 / 36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52" name="Shape 152"/>
        <p:cNvGrpSpPr/>
        <p:nvPr/>
      </p:nvGrpSpPr>
      <p:grpSpPr>
        <a:xfrm>
          <a:off x="0" y="0"/>
          <a:ext cx="0" cy="0"/>
          <a:chOff x="0" y="0"/>
          <a:chExt cx="0" cy="0"/>
        </a:xfrm>
      </p:grpSpPr>
      <p:sp>
        <p:nvSpPr>
          <p:cNvPr id="153" name="Google Shape;153;p16"/>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04 / 약리학적 가설</a:t>
            </a:r>
            <a:endParaRPr/>
          </a:p>
        </p:txBody>
      </p:sp>
      <p:sp>
        <p:nvSpPr>
          <p:cNvPr id="154" name="Google Shape;154;p16"/>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155" name="Google Shape;155;p16"/>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6"/>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NO–sGC–cGMP의 과활성은 혈관 이완과 SVR 감소로 이어짐</a:t>
            </a:r>
            <a:endParaRPr/>
          </a:p>
        </p:txBody>
      </p:sp>
      <p:sp>
        <p:nvSpPr>
          <p:cNvPr id="157" name="Google Shape;157;p16"/>
          <p:cNvSpPr/>
          <p:nvPr/>
        </p:nvSpPr>
        <p:spPr>
          <a:xfrm>
            <a:off x="566928" y="1695196"/>
            <a:ext cx="2510789" cy="1783080"/>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6"/>
          <p:cNvSpPr txBox="1"/>
          <p:nvPr/>
        </p:nvSpPr>
        <p:spPr>
          <a:xfrm>
            <a:off x="749808"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D8ED8B"/>
                </a:solidFill>
                <a:latin typeface="Noto Sans"/>
                <a:ea typeface="Noto Sans"/>
                <a:cs typeface="Noto Sans"/>
                <a:sym typeface="Noto Sans"/>
              </a:rPr>
              <a:t>01</a:t>
            </a:r>
            <a:endParaRPr/>
          </a:p>
        </p:txBody>
      </p:sp>
      <p:sp>
        <p:nvSpPr>
          <p:cNvPr id="159" name="Google Shape;159;p16"/>
          <p:cNvSpPr txBox="1"/>
          <p:nvPr/>
        </p:nvSpPr>
        <p:spPr>
          <a:xfrm>
            <a:off x="749808"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FFFFFF"/>
                </a:solidFill>
                <a:latin typeface="Noto Sans"/>
                <a:ea typeface="Noto Sans"/>
                <a:cs typeface="Noto Sans"/>
                <a:sym typeface="Noto Sans"/>
              </a:rPr>
              <a:t>염증·수술·독성</a:t>
            </a:r>
            <a:endParaRPr/>
          </a:p>
        </p:txBody>
      </p:sp>
      <p:sp>
        <p:nvSpPr>
          <p:cNvPr id="160" name="Google Shape;160;p16"/>
          <p:cNvSpPr txBox="1"/>
          <p:nvPr/>
        </p:nvSpPr>
        <p:spPr>
          <a:xfrm>
            <a:off x="749808"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FFFFFF"/>
                </a:solidFill>
                <a:latin typeface="Noto Sans"/>
                <a:ea typeface="Noto Sans"/>
                <a:cs typeface="Noto Sans"/>
                <a:sym typeface="Noto Sans"/>
              </a:rPr>
              <a:t>NO 신호의 과활성화</a:t>
            </a:r>
            <a:endParaRPr/>
          </a:p>
        </p:txBody>
      </p:sp>
      <p:sp>
        <p:nvSpPr>
          <p:cNvPr id="161" name="Google Shape;161;p16"/>
          <p:cNvSpPr/>
          <p:nvPr/>
        </p:nvSpPr>
        <p:spPr>
          <a:xfrm>
            <a:off x="3114293" y="2472436"/>
            <a:ext cx="265176" cy="228600"/>
          </a:xfrm>
          <a:prstGeom prst="rightArrow">
            <a:avLst>
              <a:gd fmla="val 50000" name="adj1"/>
              <a:gd fmla="val 50000" name="adj2"/>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6"/>
          <p:cNvSpPr/>
          <p:nvPr/>
        </p:nvSpPr>
        <p:spPr>
          <a:xfrm>
            <a:off x="3416045" y="1695196"/>
            <a:ext cx="2510789" cy="1783080"/>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6"/>
          <p:cNvSpPr txBox="1"/>
          <p:nvPr/>
        </p:nvSpPr>
        <p:spPr>
          <a:xfrm>
            <a:off x="3598925"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164" name="Google Shape;164;p16"/>
          <p:cNvSpPr txBox="1"/>
          <p:nvPr/>
        </p:nvSpPr>
        <p:spPr>
          <a:xfrm>
            <a:off x="3598925"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233446"/>
                </a:solidFill>
                <a:latin typeface="Noto Sans"/>
                <a:ea typeface="Noto Sans"/>
                <a:cs typeface="Noto Sans"/>
                <a:sym typeface="Noto Sans"/>
              </a:rPr>
              <a:t>NO → sGC</a:t>
            </a:r>
            <a:endParaRPr/>
          </a:p>
        </p:txBody>
      </p:sp>
      <p:sp>
        <p:nvSpPr>
          <p:cNvPr id="165" name="Google Shape;165;p16"/>
          <p:cNvSpPr txBox="1"/>
          <p:nvPr/>
        </p:nvSpPr>
        <p:spPr>
          <a:xfrm>
            <a:off x="3598925"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596B7A"/>
                </a:solidFill>
                <a:latin typeface="Noto Sans"/>
                <a:ea typeface="Noto Sans"/>
                <a:cs typeface="Noto Sans"/>
                <a:sym typeface="Noto Sans"/>
              </a:rPr>
              <a:t>평활근 신호전달 활성</a:t>
            </a:r>
            <a:endParaRPr/>
          </a:p>
        </p:txBody>
      </p:sp>
      <p:sp>
        <p:nvSpPr>
          <p:cNvPr id="166" name="Google Shape;166;p16"/>
          <p:cNvSpPr/>
          <p:nvPr/>
        </p:nvSpPr>
        <p:spPr>
          <a:xfrm>
            <a:off x="5963411" y="2472436"/>
            <a:ext cx="265176" cy="228600"/>
          </a:xfrm>
          <a:prstGeom prst="rightArrow">
            <a:avLst>
              <a:gd fmla="val 50000" name="adj1"/>
              <a:gd fmla="val 50000" name="adj2"/>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6"/>
          <p:cNvSpPr/>
          <p:nvPr/>
        </p:nvSpPr>
        <p:spPr>
          <a:xfrm>
            <a:off x="6265163" y="1695196"/>
            <a:ext cx="2510789" cy="1783080"/>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6"/>
          <p:cNvSpPr txBox="1"/>
          <p:nvPr/>
        </p:nvSpPr>
        <p:spPr>
          <a:xfrm>
            <a:off x="6448043"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03</a:t>
            </a:r>
            <a:endParaRPr/>
          </a:p>
        </p:txBody>
      </p:sp>
      <p:sp>
        <p:nvSpPr>
          <p:cNvPr id="169" name="Google Shape;169;p16"/>
          <p:cNvSpPr txBox="1"/>
          <p:nvPr/>
        </p:nvSpPr>
        <p:spPr>
          <a:xfrm>
            <a:off x="6448043"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233446"/>
                </a:solidFill>
                <a:latin typeface="Noto Sans"/>
                <a:ea typeface="Noto Sans"/>
                <a:cs typeface="Noto Sans"/>
                <a:sym typeface="Noto Sans"/>
              </a:rPr>
              <a:t>cGMP 증가</a:t>
            </a:r>
            <a:endParaRPr/>
          </a:p>
        </p:txBody>
      </p:sp>
      <p:sp>
        <p:nvSpPr>
          <p:cNvPr id="170" name="Google Shape;170;p16"/>
          <p:cNvSpPr txBox="1"/>
          <p:nvPr/>
        </p:nvSpPr>
        <p:spPr>
          <a:xfrm>
            <a:off x="6448043"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596B7A"/>
                </a:solidFill>
                <a:latin typeface="Noto Sans"/>
                <a:ea typeface="Noto Sans"/>
                <a:cs typeface="Noto Sans"/>
                <a:sym typeface="Noto Sans"/>
              </a:rPr>
              <a:t>혈관 평활근 이완</a:t>
            </a:r>
            <a:endParaRPr/>
          </a:p>
        </p:txBody>
      </p:sp>
      <p:sp>
        <p:nvSpPr>
          <p:cNvPr id="171" name="Google Shape;171;p16"/>
          <p:cNvSpPr/>
          <p:nvPr/>
        </p:nvSpPr>
        <p:spPr>
          <a:xfrm>
            <a:off x="8812529" y="2472436"/>
            <a:ext cx="265176" cy="228600"/>
          </a:xfrm>
          <a:prstGeom prst="rightArrow">
            <a:avLst>
              <a:gd fmla="val 50000" name="adj1"/>
              <a:gd fmla="val 50000" name="adj2"/>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6"/>
          <p:cNvSpPr/>
          <p:nvPr/>
        </p:nvSpPr>
        <p:spPr>
          <a:xfrm>
            <a:off x="9114281" y="1695196"/>
            <a:ext cx="2510789" cy="1783080"/>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6"/>
          <p:cNvSpPr txBox="1"/>
          <p:nvPr/>
        </p:nvSpPr>
        <p:spPr>
          <a:xfrm>
            <a:off x="9297161"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04</a:t>
            </a:r>
            <a:endParaRPr/>
          </a:p>
        </p:txBody>
      </p:sp>
      <p:sp>
        <p:nvSpPr>
          <p:cNvPr id="174" name="Google Shape;174;p16"/>
          <p:cNvSpPr txBox="1"/>
          <p:nvPr/>
        </p:nvSpPr>
        <p:spPr>
          <a:xfrm>
            <a:off x="9297161"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233446"/>
                </a:solidFill>
                <a:latin typeface="Noto Sans"/>
                <a:ea typeface="Noto Sans"/>
                <a:cs typeface="Noto Sans"/>
                <a:sym typeface="Noto Sans"/>
              </a:rPr>
              <a:t>SVR 감소</a:t>
            </a:r>
            <a:endParaRPr/>
          </a:p>
        </p:txBody>
      </p:sp>
      <p:sp>
        <p:nvSpPr>
          <p:cNvPr id="175" name="Google Shape;175;p16"/>
          <p:cNvSpPr txBox="1"/>
          <p:nvPr/>
        </p:nvSpPr>
        <p:spPr>
          <a:xfrm>
            <a:off x="9297161"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596B7A"/>
                </a:solidFill>
                <a:latin typeface="Noto Sans"/>
                <a:ea typeface="Noto Sans"/>
                <a:cs typeface="Noto Sans"/>
                <a:sym typeface="Noto Sans"/>
              </a:rPr>
              <a:t>관류압 유지 곤란</a:t>
            </a:r>
            <a:endParaRPr/>
          </a:p>
        </p:txBody>
      </p:sp>
      <p:sp>
        <p:nvSpPr>
          <p:cNvPr id="176" name="Google Shape;176;p16"/>
          <p:cNvSpPr txBox="1"/>
          <p:nvPr/>
        </p:nvSpPr>
        <p:spPr>
          <a:xfrm>
            <a:off x="566928" y="3807460"/>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177" name="Google Shape;177;p16"/>
          <p:cNvSpPr txBox="1"/>
          <p:nvPr/>
        </p:nvSpPr>
        <p:spPr>
          <a:xfrm>
            <a:off x="932688" y="3789172"/>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NO: 산화질소 · sGC: 가용성 구아닐산고리화효소 · cGMP: 세포 내 이완 신호</a:t>
            </a:r>
            <a:endParaRPr/>
          </a:p>
        </p:txBody>
      </p:sp>
      <p:sp>
        <p:nvSpPr>
          <p:cNvPr id="178" name="Google Shape;178;p16"/>
          <p:cNvSpPr txBox="1"/>
          <p:nvPr/>
        </p:nvSpPr>
        <p:spPr>
          <a:xfrm>
            <a:off x="566928" y="4450080"/>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179" name="Google Shape;179;p16"/>
          <p:cNvSpPr txBox="1"/>
          <p:nvPr/>
        </p:nvSpPr>
        <p:spPr>
          <a:xfrm>
            <a:off x="932688" y="4431792"/>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염증·수술·독성 자극이 이 경로에 기여함. 쇼크의 모든 기전을 설명하지는 않음</a:t>
            </a:r>
            <a:endParaRPr/>
          </a:p>
        </p:txBody>
      </p:sp>
      <p:sp>
        <p:nvSpPr>
          <p:cNvPr id="180" name="Google Shape;180;p16"/>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6"/>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[MA01] Ignarro LJ, Buga GM, Wood KS, et al. Endothelium-derive…</a:t>
            </a:r>
            <a:endParaRPr/>
          </a:p>
        </p:txBody>
      </p:sp>
      <p:sp>
        <p:nvSpPr>
          <p:cNvPr id="182" name="Google Shape;182;p16"/>
          <p:cNvSpPr txBox="1"/>
          <p:nvPr/>
        </p:nvSpPr>
        <p:spPr>
          <a:xfrm>
            <a:off x="6233159"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[SF05] Mayer, Brunner and Schmidt. Inhibition of nitric oxide sy…</a:t>
            </a:r>
            <a:endParaRPr/>
          </a:p>
        </p:txBody>
      </p:sp>
      <p:sp>
        <p:nvSpPr>
          <p:cNvPr id="183" name="Google Shape;183;p16"/>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184" name="Google Shape;184;p16">
            <a:hlinkClick action="ppaction://hlinksldjump" r:id="rId5"/>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185" name="Google Shape;185;p16"/>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04 / 36</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90" name="Shape 190"/>
        <p:cNvGrpSpPr/>
        <p:nvPr/>
      </p:nvGrpSpPr>
      <p:grpSpPr>
        <a:xfrm>
          <a:off x="0" y="0"/>
          <a:ext cx="0" cy="0"/>
          <a:chOff x="0" y="0"/>
          <a:chExt cx="0" cy="0"/>
        </a:xfrm>
      </p:grpSpPr>
      <p:sp>
        <p:nvSpPr>
          <p:cNvPr id="191" name="Google Shape;191;p17"/>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05 / 메틸렌블루의 개입</a:t>
            </a:r>
            <a:endParaRPr/>
          </a:p>
        </p:txBody>
      </p:sp>
      <p:sp>
        <p:nvSpPr>
          <p:cNvPr id="192" name="Google Shape;192;p17"/>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193" name="Google Shape;193;p17"/>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7"/>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메틸렌블루는 과도한 이완 신호를 억제하는 추가 전략으로 연구됨</a:t>
            </a:r>
            <a:endParaRPr/>
          </a:p>
        </p:txBody>
      </p:sp>
      <p:sp>
        <p:nvSpPr>
          <p:cNvPr id="195" name="Google Shape;195;p17"/>
          <p:cNvSpPr/>
          <p:nvPr/>
        </p:nvSpPr>
        <p:spPr>
          <a:xfrm>
            <a:off x="566928" y="1695196"/>
            <a:ext cx="2510789" cy="1783080"/>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7"/>
          <p:cNvSpPr txBox="1"/>
          <p:nvPr/>
        </p:nvSpPr>
        <p:spPr>
          <a:xfrm>
            <a:off x="749808"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D8ED8B"/>
                </a:solidFill>
                <a:latin typeface="Noto Sans"/>
                <a:ea typeface="Noto Sans"/>
                <a:cs typeface="Noto Sans"/>
                <a:sym typeface="Noto Sans"/>
              </a:rPr>
              <a:t>01</a:t>
            </a:r>
            <a:endParaRPr/>
          </a:p>
        </p:txBody>
      </p:sp>
      <p:sp>
        <p:nvSpPr>
          <p:cNvPr id="197" name="Google Shape;197;p17"/>
          <p:cNvSpPr txBox="1"/>
          <p:nvPr/>
        </p:nvSpPr>
        <p:spPr>
          <a:xfrm>
            <a:off x="749808"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FFFFFF"/>
                </a:solidFill>
                <a:latin typeface="Noto Sans"/>
                <a:ea typeface="Noto Sans"/>
                <a:cs typeface="Noto Sans"/>
                <a:sym typeface="Noto Sans"/>
              </a:rPr>
              <a:t>메틸렌블루</a:t>
            </a:r>
            <a:endParaRPr/>
          </a:p>
        </p:txBody>
      </p:sp>
      <p:sp>
        <p:nvSpPr>
          <p:cNvPr id="198" name="Google Shape;198;p17"/>
          <p:cNvSpPr txBox="1"/>
          <p:nvPr/>
        </p:nvSpPr>
        <p:spPr>
          <a:xfrm>
            <a:off x="749808"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FFFFFF"/>
                </a:solidFill>
                <a:latin typeface="Noto Sans"/>
                <a:ea typeface="Noto Sans"/>
                <a:cs typeface="Noto Sans"/>
                <a:sym typeface="Noto Sans"/>
              </a:rPr>
              <a:t>NO 관련 신호 억제</a:t>
            </a:r>
            <a:endParaRPr/>
          </a:p>
        </p:txBody>
      </p:sp>
      <p:sp>
        <p:nvSpPr>
          <p:cNvPr id="199" name="Google Shape;199;p17"/>
          <p:cNvSpPr/>
          <p:nvPr/>
        </p:nvSpPr>
        <p:spPr>
          <a:xfrm>
            <a:off x="3114293" y="2472436"/>
            <a:ext cx="265176" cy="228600"/>
          </a:xfrm>
          <a:prstGeom prst="rightArrow">
            <a:avLst>
              <a:gd fmla="val 50000" name="adj1"/>
              <a:gd fmla="val 50000" name="adj2"/>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17"/>
          <p:cNvSpPr/>
          <p:nvPr/>
        </p:nvSpPr>
        <p:spPr>
          <a:xfrm>
            <a:off x="3416045" y="1695196"/>
            <a:ext cx="2510789" cy="1783080"/>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7"/>
          <p:cNvSpPr txBox="1"/>
          <p:nvPr/>
        </p:nvSpPr>
        <p:spPr>
          <a:xfrm>
            <a:off x="3598925"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202" name="Google Shape;202;p17"/>
          <p:cNvSpPr txBox="1"/>
          <p:nvPr/>
        </p:nvSpPr>
        <p:spPr>
          <a:xfrm>
            <a:off x="3598925"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233446"/>
                </a:solidFill>
                <a:latin typeface="Noto Sans"/>
                <a:ea typeface="Noto Sans"/>
                <a:cs typeface="Noto Sans"/>
                <a:sym typeface="Noto Sans"/>
              </a:rPr>
              <a:t>이완 신호 감소</a:t>
            </a:r>
            <a:endParaRPr/>
          </a:p>
        </p:txBody>
      </p:sp>
      <p:sp>
        <p:nvSpPr>
          <p:cNvPr id="203" name="Google Shape;203;p17"/>
          <p:cNvSpPr txBox="1"/>
          <p:nvPr/>
        </p:nvSpPr>
        <p:spPr>
          <a:xfrm>
            <a:off x="3598925"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596B7A"/>
                </a:solidFill>
                <a:latin typeface="Noto Sans"/>
                <a:ea typeface="Noto Sans"/>
                <a:cs typeface="Noto Sans"/>
                <a:sym typeface="Noto Sans"/>
              </a:rPr>
              <a:t>NO–sGC–cGMP 개입</a:t>
            </a:r>
            <a:endParaRPr/>
          </a:p>
        </p:txBody>
      </p:sp>
      <p:sp>
        <p:nvSpPr>
          <p:cNvPr id="204" name="Google Shape;204;p17"/>
          <p:cNvSpPr/>
          <p:nvPr/>
        </p:nvSpPr>
        <p:spPr>
          <a:xfrm>
            <a:off x="5963411" y="2472436"/>
            <a:ext cx="265176" cy="228600"/>
          </a:xfrm>
          <a:prstGeom prst="rightArrow">
            <a:avLst>
              <a:gd fmla="val 50000" name="adj1"/>
              <a:gd fmla="val 50000" name="adj2"/>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7"/>
          <p:cNvSpPr/>
          <p:nvPr/>
        </p:nvSpPr>
        <p:spPr>
          <a:xfrm>
            <a:off x="6265163" y="1695196"/>
            <a:ext cx="2510789" cy="1783080"/>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7"/>
          <p:cNvSpPr txBox="1"/>
          <p:nvPr/>
        </p:nvSpPr>
        <p:spPr>
          <a:xfrm>
            <a:off x="6448043"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03</a:t>
            </a:r>
            <a:endParaRPr/>
          </a:p>
        </p:txBody>
      </p:sp>
      <p:sp>
        <p:nvSpPr>
          <p:cNvPr id="207" name="Google Shape;207;p17"/>
          <p:cNvSpPr txBox="1"/>
          <p:nvPr/>
        </p:nvSpPr>
        <p:spPr>
          <a:xfrm>
            <a:off x="6448043"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233446"/>
                </a:solidFill>
                <a:latin typeface="Noto Sans"/>
                <a:ea typeface="Noto Sans"/>
                <a:cs typeface="Noto Sans"/>
                <a:sym typeface="Noto Sans"/>
              </a:rPr>
              <a:t>혈관 긴장 회복</a:t>
            </a:r>
            <a:endParaRPr/>
          </a:p>
        </p:txBody>
      </p:sp>
      <p:sp>
        <p:nvSpPr>
          <p:cNvPr id="208" name="Google Shape;208;p17"/>
          <p:cNvSpPr txBox="1"/>
          <p:nvPr/>
        </p:nvSpPr>
        <p:spPr>
          <a:xfrm>
            <a:off x="6448043"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596B7A"/>
                </a:solidFill>
                <a:latin typeface="Noto Sans"/>
                <a:ea typeface="Noto Sans"/>
                <a:cs typeface="Noto Sans"/>
                <a:sym typeface="Noto Sans"/>
              </a:rPr>
              <a:t>SVR 상승 가능</a:t>
            </a:r>
            <a:endParaRPr/>
          </a:p>
        </p:txBody>
      </p:sp>
      <p:sp>
        <p:nvSpPr>
          <p:cNvPr id="209" name="Google Shape;209;p17"/>
          <p:cNvSpPr/>
          <p:nvPr/>
        </p:nvSpPr>
        <p:spPr>
          <a:xfrm>
            <a:off x="8812529" y="2472436"/>
            <a:ext cx="265176" cy="228600"/>
          </a:xfrm>
          <a:prstGeom prst="rightArrow">
            <a:avLst>
              <a:gd fmla="val 50000" name="adj1"/>
              <a:gd fmla="val 50000" name="adj2"/>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17"/>
          <p:cNvSpPr/>
          <p:nvPr/>
        </p:nvSpPr>
        <p:spPr>
          <a:xfrm>
            <a:off x="9114281" y="1695196"/>
            <a:ext cx="2510789" cy="1783080"/>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7"/>
          <p:cNvSpPr txBox="1"/>
          <p:nvPr/>
        </p:nvSpPr>
        <p:spPr>
          <a:xfrm>
            <a:off x="9297161" y="1850644"/>
            <a:ext cx="2145029"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04</a:t>
            </a:r>
            <a:endParaRPr/>
          </a:p>
        </p:txBody>
      </p:sp>
      <p:sp>
        <p:nvSpPr>
          <p:cNvPr id="212" name="Google Shape;212;p17"/>
          <p:cNvSpPr txBox="1"/>
          <p:nvPr/>
        </p:nvSpPr>
        <p:spPr>
          <a:xfrm>
            <a:off x="9297161" y="2243836"/>
            <a:ext cx="2145029" cy="6583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000" u="none" cap="none" strike="noStrike">
                <a:solidFill>
                  <a:srgbClr val="233446"/>
                </a:solidFill>
                <a:latin typeface="Noto Sans"/>
                <a:ea typeface="Noto Sans"/>
                <a:cs typeface="Noto Sans"/>
                <a:sym typeface="Noto Sans"/>
              </a:rPr>
              <a:t>승압제 부담 감소</a:t>
            </a:r>
            <a:endParaRPr/>
          </a:p>
        </p:txBody>
      </p:sp>
      <p:sp>
        <p:nvSpPr>
          <p:cNvPr id="213" name="Google Shape;213;p17"/>
          <p:cNvSpPr txBox="1"/>
          <p:nvPr/>
        </p:nvSpPr>
        <p:spPr>
          <a:xfrm>
            <a:off x="9297161" y="3002788"/>
            <a:ext cx="2145029" cy="36576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500" u="none" cap="none" strike="noStrike">
                <a:solidFill>
                  <a:srgbClr val="596B7A"/>
                </a:solidFill>
                <a:latin typeface="Noto Sans"/>
                <a:ea typeface="Noto Sans"/>
                <a:cs typeface="Noto Sans"/>
                <a:sym typeface="Noto Sans"/>
              </a:rPr>
              <a:t>임상시험의 평가 대상</a:t>
            </a:r>
            <a:endParaRPr/>
          </a:p>
        </p:txBody>
      </p:sp>
      <p:sp>
        <p:nvSpPr>
          <p:cNvPr id="214" name="Google Shape;214;p17"/>
          <p:cNvSpPr txBox="1"/>
          <p:nvPr/>
        </p:nvSpPr>
        <p:spPr>
          <a:xfrm>
            <a:off x="566928" y="3807460"/>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215" name="Google Shape;215;p17"/>
          <p:cNvSpPr txBox="1"/>
          <p:nvPr/>
        </p:nvSpPr>
        <p:spPr>
          <a:xfrm>
            <a:off x="932688" y="3789172"/>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NOS 활성·NO 의존 cGMP 형성 억제의 실험 근거 확인</a:t>
            </a:r>
            <a:endParaRPr/>
          </a:p>
        </p:txBody>
      </p:sp>
      <p:sp>
        <p:nvSpPr>
          <p:cNvPr id="216" name="Google Shape;216;p17"/>
          <p:cNvSpPr txBox="1"/>
          <p:nvPr/>
        </p:nvSpPr>
        <p:spPr>
          <a:xfrm>
            <a:off x="566928" y="4450080"/>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217" name="Google Shape;217;p17"/>
          <p:cNvSpPr txBox="1"/>
          <p:nvPr/>
        </p:nvSpPr>
        <p:spPr>
          <a:xfrm>
            <a:off x="932688" y="4431792"/>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선택적 단일 표적 억제제로 단정 불가. 환자별 효과와 안전 역치는 별도 평가 필요</a:t>
            </a:r>
            <a:endParaRPr/>
          </a:p>
        </p:txBody>
      </p:sp>
      <p:sp>
        <p:nvSpPr>
          <p:cNvPr id="218" name="Google Shape;218;p17"/>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7"/>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[SF05] Mayer, Brunner and Schmidt. Inhibition of nitric oxide sy…</a:t>
            </a:r>
            <a:endParaRPr/>
          </a:p>
        </p:txBody>
      </p:sp>
      <p:sp>
        <p:nvSpPr>
          <p:cNvPr id="220" name="Google Shape;220;p17"/>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[MA03] Leyh RG, Kofidis T, Strüber M, et al. Methylene blue: the dr…</a:t>
            </a:r>
            <a:endParaRPr/>
          </a:p>
        </p:txBody>
      </p:sp>
      <p:sp>
        <p:nvSpPr>
          <p:cNvPr id="221" name="Google Shape;221;p17"/>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[TR01] Early adjunctive methylene blue in patients with septic s…</a:t>
            </a:r>
            <a:endParaRPr/>
          </a:p>
        </p:txBody>
      </p:sp>
      <p:sp>
        <p:nvSpPr>
          <p:cNvPr id="222" name="Google Shape;222;p17"/>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223" name="Google Shape;223;p17">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224" name="Google Shape;224;p17"/>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05 / 36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29" name="Shape 229"/>
        <p:cNvGrpSpPr/>
        <p:nvPr/>
      </p:nvGrpSpPr>
      <p:grpSpPr>
        <a:xfrm>
          <a:off x="0" y="0"/>
          <a:ext cx="0" cy="0"/>
          <a:chOff x="0" y="0"/>
          <a:chExt cx="0" cy="0"/>
        </a:xfrm>
      </p:grpSpPr>
      <p:sp>
        <p:nvSpPr>
          <p:cNvPr id="230" name="Google Shape;230;p18"/>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06 / 승압제 표적 비교</a:t>
            </a:r>
            <a:endParaRPr/>
          </a:p>
        </p:txBody>
      </p:sp>
      <p:sp>
        <p:nvSpPr>
          <p:cNvPr id="231" name="Google Shape;231;p18"/>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232" name="Google Shape;232;p18"/>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18"/>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노르에피네프린·바소프레신·메틸렌블루는 주된 개입 경로가 다름</a:t>
            </a:r>
            <a:endParaRPr/>
          </a:p>
        </p:txBody>
      </p:sp>
      <p:graphicFrame>
        <p:nvGraphicFramePr>
          <p:cNvPr id="234" name="Google Shape;234;p18"/>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2038675"/>
                <a:gridCol w="3858375"/>
                <a:gridCol w="516110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약제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주 표적</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임상 위치</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노르에피네프린</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주로 α₁ 수용체</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수축 신호 자극</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패혈성 쇼크 표준 1차 승압제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바소프레신</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주로 V₁a 수용체</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비아드레날린성 수축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NE 요구 증가 시 지침상 추가 약제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메틸렌블루</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NO–sGC–cGMP 경로</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과도한 이완 신호 억제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심장수술 난치성 혈관마비 고려 대상</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일부 패혈증 연구의 보조·2선 후보</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bl>
          </a:graphicData>
        </a:graphic>
      </p:graphicFrame>
      <p:sp>
        <p:nvSpPr>
          <p:cNvPr id="235" name="Google Shape;235;p18"/>
          <p:cNvSpPr/>
          <p:nvPr/>
        </p:nvSpPr>
        <p:spPr>
          <a:xfrm>
            <a:off x="566928" y="5907024"/>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8"/>
          <p:cNvSpPr txBox="1"/>
          <p:nvPr/>
        </p:nvSpPr>
        <p:spPr>
          <a:xfrm>
            <a:off x="566928"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237" name="Google Shape;237;p18"/>
          <p:cNvSpPr txBox="1"/>
          <p:nvPr/>
        </p:nvSpPr>
        <p:spPr>
          <a:xfrm>
            <a:off x="6233159"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[G02] Society of Critical Care Medicine. Surviving Sepsis Campa…</a:t>
            </a:r>
            <a:endParaRPr/>
          </a:p>
        </p:txBody>
      </p:sp>
      <p:sp>
        <p:nvSpPr>
          <p:cNvPr id="238" name="Google Shape;238;p18"/>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[SF05] Mayer, Brunner and Schmidt. Inhibition of nitric oxide sy…</a:t>
            </a:r>
            <a:endParaRPr/>
          </a:p>
        </p:txBody>
      </p:sp>
      <p:sp>
        <p:nvSpPr>
          <p:cNvPr id="239" name="Google Shape;239;p18"/>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6"/>
              </a:rPr>
              <a:t>[MO01] DailyMed. LEVOPHED (norepinephrine bitartrate) injectio…</a:t>
            </a:r>
            <a:endParaRPr/>
          </a:p>
        </p:txBody>
      </p:sp>
      <p:sp>
        <p:nvSpPr>
          <p:cNvPr id="240" name="Google Shape;240;p18"/>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7"/>
              </a:rPr>
              <a:t>[MO02] DailyMed. VASOSTRICT (vasopressin) injection. Mechanis…</a:t>
            </a:r>
            <a:endParaRPr/>
          </a:p>
        </p:txBody>
      </p:sp>
      <p:sp>
        <p:nvSpPr>
          <p:cNvPr id="241" name="Google Shape;241;p18"/>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242" name="Google Shape;242;p18">
            <a:hlinkClick action="ppaction://hlinksldjump" r:id="rId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243" name="Google Shape;243;p18"/>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06 / 36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48" name="Shape 248"/>
        <p:cNvGrpSpPr/>
        <p:nvPr/>
      </p:nvGrpSpPr>
      <p:grpSpPr>
        <a:xfrm>
          <a:off x="0" y="0"/>
          <a:ext cx="0" cy="0"/>
          <a:chOff x="0" y="0"/>
          <a:chExt cx="0" cy="0"/>
        </a:xfrm>
      </p:grpSpPr>
      <p:sp>
        <p:nvSpPr>
          <p:cNvPr id="249" name="Google Shape;249;p19"/>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07 / 두 가지 작용 구분</a:t>
            </a:r>
            <a:endParaRPr/>
          </a:p>
        </p:txBody>
      </p:sp>
      <p:sp>
        <p:nvSpPr>
          <p:cNvPr id="250" name="Google Shape;250;p19"/>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251" name="Google Shape;251;p19"/>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19"/>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메트헤모글로빈혈증의 환원 작용과 혈관마비 가설은 서로 다름</a:t>
            </a:r>
            <a:endParaRPr/>
          </a:p>
        </p:txBody>
      </p:sp>
      <p:graphicFrame>
        <p:nvGraphicFramePr>
          <p:cNvPr id="253" name="Google Shape;253;p19"/>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2514500"/>
                <a:gridCol w="4794450"/>
                <a:gridCol w="374920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비교 기준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메트헤모글로빈혈증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혈관마비성 쇼크</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목표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산소 운반 기능 회복</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혈관 긴장·관류압 회복</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주요 설명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NADPH 의존 환원</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MetHb의 Fe³⁺ → Fe²⁺</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NO–sGC–cGMP 이완 신호 억제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국내 품목 허가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약물에 의한 메트헤모글로빈혈증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확인한 효능·효과에 없음</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bl>
          </a:graphicData>
        </a:graphic>
      </p:graphicFrame>
      <p:sp>
        <p:nvSpPr>
          <p:cNvPr id="254" name="Google Shape;254;p19"/>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19"/>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[KR01] MFDS 의약품안전나라 — 프로베블루주0.5%(메틸렌블루) 품목…</a:t>
            </a:r>
            <a:endParaRPr/>
          </a:p>
        </p:txBody>
      </p:sp>
      <p:sp>
        <p:nvSpPr>
          <p:cNvPr id="256" name="Google Shape;256;p19"/>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[SF01] FDA PROVAYBLUE (methylene blue) injection: Prescribing…</a:t>
            </a:r>
            <a:endParaRPr/>
          </a:p>
        </p:txBody>
      </p:sp>
      <p:sp>
        <p:nvSpPr>
          <p:cNvPr id="257" name="Google Shape;257;p19"/>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[SF05] Mayer, Brunner and Schmidt. Inhibition of nitric oxide sy…</a:t>
            </a:r>
            <a:endParaRPr/>
          </a:p>
        </p:txBody>
      </p:sp>
      <p:sp>
        <p:nvSpPr>
          <p:cNvPr id="258" name="Google Shape;258;p19"/>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259" name="Google Shape;259;p19">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260" name="Google Shape;260;p19"/>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07 / 36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65" name="Shape 265"/>
        <p:cNvGrpSpPr/>
        <p:nvPr/>
      </p:nvGrpSpPr>
      <p:grpSpPr>
        <a:xfrm>
          <a:off x="0" y="0"/>
          <a:ext cx="0" cy="0"/>
          <a:chOff x="0" y="0"/>
          <a:chExt cx="0" cy="0"/>
        </a:xfrm>
      </p:grpSpPr>
      <p:sp>
        <p:nvSpPr>
          <p:cNvPr id="266" name="Google Shape;266;p20"/>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08 / 약리에서 임상 반응으로</a:t>
            </a:r>
            <a:endParaRPr/>
          </a:p>
        </p:txBody>
      </p:sp>
      <p:sp>
        <p:nvSpPr>
          <p:cNvPr id="267" name="Google Shape;267;p20"/>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268" name="Google Shape;268;p20"/>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0"/>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카테콜아민 불응성 혈관마비에서 다른 경로에 개입한 반응이 보고됨</a:t>
            </a:r>
            <a:endParaRPr/>
          </a:p>
        </p:txBody>
      </p:sp>
      <p:sp>
        <p:nvSpPr>
          <p:cNvPr id="270" name="Google Shape;270;p20"/>
          <p:cNvSpPr/>
          <p:nvPr/>
        </p:nvSpPr>
        <p:spPr>
          <a:xfrm>
            <a:off x="566928" y="1603756"/>
            <a:ext cx="3749039" cy="4449572"/>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0"/>
          <p:cNvSpPr txBox="1"/>
          <p:nvPr/>
        </p:nvSpPr>
        <p:spPr>
          <a:xfrm>
            <a:off x="768096" y="1768348"/>
            <a:ext cx="3346703" cy="1051560"/>
          </a:xfrm>
          <a:prstGeom prst="rect">
            <a:avLst/>
          </a:prstGeom>
          <a:noFill/>
          <a:ln>
            <a:noFill/>
          </a:ln>
        </p:spPr>
        <p:txBody>
          <a:bodyPr anchorCtr="0" anchor="t" bIns="0" lIns="0" spcFirstLastPara="1" rIns="0" wrap="square" tIns="0">
            <a:noAutofit/>
          </a:bodyPr>
          <a:lstStyle/>
          <a:p>
            <a:pPr indent="0" lvl="0" marL="0" marR="0" rtl="0" algn="l">
              <a:lnSpc>
                <a:spcPct val="117970"/>
              </a:lnSpc>
              <a:spcBef>
                <a:spcPts val="0"/>
              </a:spcBef>
              <a:spcAft>
                <a:spcPts val="0"/>
              </a:spcAft>
              <a:buNone/>
            </a:pPr>
            <a:r>
              <a:rPr b="1" i="0" lang="ko-KR" sz="3400" u="none" cap="none" strike="noStrike">
                <a:solidFill>
                  <a:srgbClr val="D8ED8B"/>
                </a:solidFill>
                <a:latin typeface="Noto Sans"/>
                <a:ea typeface="Noto Sans"/>
                <a:cs typeface="Noto Sans"/>
                <a:sym typeface="Noto Sans"/>
              </a:rPr>
              <a:t>51명</a:t>
            </a:r>
            <a:endParaRPr/>
          </a:p>
        </p:txBody>
      </p:sp>
      <p:sp>
        <p:nvSpPr>
          <p:cNvPr id="272" name="Google Shape;272;p20"/>
          <p:cNvSpPr txBox="1"/>
          <p:nvPr/>
        </p:nvSpPr>
        <p:spPr>
          <a:xfrm>
            <a:off x="768096" y="2883916"/>
            <a:ext cx="3346703" cy="571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FFFFFF"/>
                </a:solidFill>
                <a:latin typeface="Noto Sans"/>
                <a:ea typeface="Noto Sans"/>
                <a:cs typeface="Noto Sans"/>
                <a:sym typeface="Noto Sans"/>
              </a:rPr>
              <a:t>1시간 이내 SVR 증가·NE 요구</a:t>
            </a:r>
            <a:br>
              <a:rPr b="1" i="0" lang="ko-KR" sz="1800" u="none" cap="none" strike="noStrike">
                <a:solidFill>
                  <a:srgbClr val="FFFFFF"/>
                </a:solidFill>
                <a:latin typeface="Noto Sans"/>
                <a:ea typeface="Noto Sans"/>
                <a:cs typeface="Noto Sans"/>
                <a:sym typeface="Noto Sans"/>
              </a:rPr>
            </a:br>
            <a:r>
              <a:rPr b="1" i="0" lang="ko-KR" sz="1800" u="none" cap="none" strike="noStrike">
                <a:solidFill>
                  <a:srgbClr val="FFFFFF"/>
                </a:solidFill>
                <a:latin typeface="Noto Sans"/>
                <a:ea typeface="Noto Sans"/>
                <a:cs typeface="Noto Sans"/>
                <a:sym typeface="Noto Sans"/>
              </a:rPr>
              <a:t>감소 보고</a:t>
            </a:r>
            <a:endParaRPr/>
          </a:p>
        </p:txBody>
      </p:sp>
      <p:sp>
        <p:nvSpPr>
          <p:cNvPr id="273" name="Google Shape;273;p20"/>
          <p:cNvSpPr txBox="1"/>
          <p:nvPr/>
        </p:nvSpPr>
        <p:spPr>
          <a:xfrm>
            <a:off x="768096" y="3546856"/>
            <a:ext cx="3346703" cy="236016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FFFFFF"/>
                </a:solidFill>
                <a:latin typeface="Noto Sans"/>
                <a:ea typeface="Noto Sans"/>
                <a:cs typeface="Noto Sans"/>
                <a:sym typeface="Noto Sans"/>
              </a:rPr>
              <a:t>Leyh 2003 · 54명 연구 · 초록 분모</a:t>
            </a:r>
            <a:br>
              <a:rPr b="0" i="0" lang="ko-KR" sz="1700" u="none" cap="none" strike="noStrike">
                <a:solidFill>
                  <a:srgbClr val="FFFFFF"/>
                </a:solidFill>
                <a:latin typeface="Noto Sans"/>
                <a:ea typeface="Noto Sans"/>
                <a:cs typeface="Noto Sans"/>
                <a:sym typeface="Noto Sans"/>
              </a:rPr>
            </a:br>
            <a:r>
              <a:rPr b="0" i="0" lang="ko-KR" sz="1700" u="none" cap="none" strike="noStrike">
                <a:solidFill>
                  <a:srgbClr val="FFFFFF"/>
                </a:solidFill>
                <a:latin typeface="Noto Sans"/>
                <a:ea typeface="Noto Sans"/>
                <a:cs typeface="Noto Sans"/>
                <a:sym typeface="Noto Sans"/>
              </a:rPr>
              <a:t>불일치</a:t>
            </a:r>
            <a:endParaRPr/>
          </a:p>
        </p:txBody>
      </p:sp>
      <p:sp>
        <p:nvSpPr>
          <p:cNvPr id="274" name="Google Shape;274;p20"/>
          <p:cNvSpPr txBox="1"/>
          <p:nvPr/>
        </p:nvSpPr>
        <p:spPr>
          <a:xfrm>
            <a:off x="4681728" y="1695196"/>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275" name="Google Shape;275;p20"/>
          <p:cNvSpPr txBox="1"/>
          <p:nvPr/>
        </p:nvSpPr>
        <p:spPr>
          <a:xfrm>
            <a:off x="5047488" y="1676908"/>
            <a:ext cx="6577583"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lang="ko-KR" sz="2100">
                <a:solidFill>
                  <a:srgbClr val="233446"/>
                </a:solidFill>
                <a:latin typeface="Noto Sans"/>
                <a:ea typeface="Noto Sans"/>
                <a:cs typeface="Noto Sans"/>
                <a:sym typeface="Noto Sans"/>
              </a:rPr>
              <a:t>NE 불응성 환자에게 MB를 추가한 실제 치료 연구</a:t>
            </a:r>
            <a:endParaRPr/>
          </a:p>
        </p:txBody>
      </p:sp>
      <p:sp>
        <p:nvSpPr>
          <p:cNvPr id="276" name="Google Shape;276;p20"/>
          <p:cNvSpPr txBox="1"/>
          <p:nvPr/>
        </p:nvSpPr>
        <p:spPr>
          <a:xfrm>
            <a:off x="4681728" y="266750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277" name="Google Shape;277;p20"/>
          <p:cNvSpPr txBox="1"/>
          <p:nvPr/>
        </p:nvSpPr>
        <p:spPr>
          <a:xfrm>
            <a:off x="5047488" y="2649220"/>
            <a:ext cx="6577583"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lang="ko-KR" sz="2100">
                <a:solidFill>
                  <a:srgbClr val="233446"/>
                </a:solidFill>
                <a:latin typeface="Noto Sans"/>
                <a:ea typeface="Noto Sans"/>
                <a:cs typeface="Noto Sans"/>
                <a:sym typeface="Noto Sans"/>
              </a:rPr>
              <a:t>무대조 연구. 병용치료·자연 회복의 영향 분리 불가</a:t>
            </a:r>
            <a:endParaRPr/>
          </a:p>
        </p:txBody>
      </p:sp>
      <p:sp>
        <p:nvSpPr>
          <p:cNvPr id="278" name="Google Shape;278;p20"/>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0"/>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[MA03] Leyh RG, Kofidis T, Strüber M, et al. Methylene blue: the dr…</a:t>
            </a:r>
            <a:endParaRPr/>
          </a:p>
        </p:txBody>
      </p:sp>
      <p:sp>
        <p:nvSpPr>
          <p:cNvPr id="280" name="Google Shape;280;p20"/>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281" name="Google Shape;281;p20">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282" name="Google Shape;282;p20"/>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08 / 36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87" name="Shape 287"/>
        <p:cNvGrpSpPr/>
        <p:nvPr/>
      </p:nvGrpSpPr>
      <p:grpSpPr>
        <a:xfrm>
          <a:off x="0" y="0"/>
          <a:ext cx="0" cy="0"/>
          <a:chOff x="0" y="0"/>
          <a:chExt cx="0" cy="0"/>
        </a:xfrm>
      </p:grpSpPr>
      <p:sp>
        <p:nvSpPr>
          <p:cNvPr id="288" name="Google Shape;288;p21"/>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09 / 2선 후보·추가·구제의 의미</a:t>
            </a:r>
            <a:endParaRPr/>
          </a:p>
        </p:txBody>
      </p:sp>
      <p:sp>
        <p:nvSpPr>
          <p:cNvPr id="289" name="Google Shape;289;p21"/>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290" name="Google Shape;290;p21"/>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1"/>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메틸렌블루의 사용 시점은 예방·초기 보조·구제 연구마다 다름</a:t>
            </a:r>
            <a:endParaRPr/>
          </a:p>
        </p:txBody>
      </p:sp>
      <p:graphicFrame>
        <p:nvGraphicFramePr>
          <p:cNvPr id="292" name="Google Shape;292;p21"/>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2705875"/>
                <a:gridCol w="4513025"/>
                <a:gridCol w="383925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연구 맥락</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대표 자료</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해석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수술 전 예방</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Ozal 2005</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발생 전 고위험군 연구</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초기 보조요법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Ibarra-Estrada 2023</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승압제 시작 24시간 이내 추가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두 번째 약제 후보</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Kuri 2025</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NE 다음 MB·바소프레신 직접 비교</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발생 후·불응성 구제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Levin 2004·Leyh 2003</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기관 코호트·증례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불응 기준과 환자군은 연구별 상이</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293" name="Google Shape;293;p21"/>
          <p:cNvSpPr/>
          <p:nvPr/>
        </p:nvSpPr>
        <p:spPr>
          <a:xfrm>
            <a:off x="566928" y="5907024"/>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1"/>
          <p:cNvSpPr txBox="1"/>
          <p:nvPr/>
        </p:nvSpPr>
        <p:spPr>
          <a:xfrm>
            <a:off x="566928"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[TR01] Early adjunctive methylene blue in patients with septic s…</a:t>
            </a:r>
            <a:endParaRPr/>
          </a:p>
        </p:txBody>
      </p:sp>
      <p:sp>
        <p:nvSpPr>
          <p:cNvPr id="295" name="Google Shape;295;p21"/>
          <p:cNvSpPr txBox="1"/>
          <p:nvPr/>
        </p:nvSpPr>
        <p:spPr>
          <a:xfrm>
            <a:off x="6233159"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[TR02] Methylene blue reduces mortality and morbidity in vasop…</a:t>
            </a:r>
            <a:endParaRPr/>
          </a:p>
        </p:txBody>
      </p:sp>
      <p:sp>
        <p:nvSpPr>
          <p:cNvPr id="296" name="Google Shape;296;p21"/>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[TR03] Preoperative methylene blue administration in patients a…</a:t>
            </a:r>
            <a:endParaRPr/>
          </a:p>
        </p:txBody>
      </p:sp>
      <p:sp>
        <p:nvSpPr>
          <p:cNvPr id="297" name="Google Shape;297;p21"/>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6"/>
              </a:rPr>
              <a:t>[TR08] Effects of Early Use of Methylene Blue and Vasopressin o…</a:t>
            </a:r>
            <a:endParaRPr/>
          </a:p>
        </p:txBody>
      </p:sp>
      <p:sp>
        <p:nvSpPr>
          <p:cNvPr id="298" name="Google Shape;298;p21"/>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7"/>
              </a:rPr>
              <a:t>[MA03] Leyh RG, Kofidis T, Strüber M, et al. Methylene blue: the dr…</a:t>
            </a:r>
            <a:endParaRPr/>
          </a:p>
        </p:txBody>
      </p:sp>
      <p:sp>
        <p:nvSpPr>
          <p:cNvPr id="299" name="Google Shape;299;p21"/>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300" name="Google Shape;300;p21">
            <a:hlinkClick action="ppaction://hlinksldjump" r:id="rId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301" name="Google Shape;301;p21"/>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09 / 36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306" name="Shape 306"/>
        <p:cNvGrpSpPr/>
        <p:nvPr/>
      </p:nvGrpSpPr>
      <p:grpSpPr>
        <a:xfrm>
          <a:off x="0" y="0"/>
          <a:ext cx="0" cy="0"/>
          <a:chOff x="0" y="0"/>
          <a:chExt cx="0" cy="0"/>
        </a:xfrm>
      </p:grpSpPr>
      <p:sp>
        <p:nvSpPr>
          <p:cNvPr id="307" name="Google Shape;307;p22"/>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10 / 현행 지침의 적용 범위</a:t>
            </a:r>
            <a:endParaRPr/>
          </a:p>
        </p:txBody>
      </p:sp>
      <p:sp>
        <p:nvSpPr>
          <p:cNvPr id="308" name="Google Shape;308;p22"/>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309" name="Google Shape;309;p22"/>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2"/>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lang="ko-KR" sz="2800">
                <a:solidFill>
                  <a:srgbClr val="152B42"/>
                </a:solidFill>
                <a:latin typeface="Noto Sans"/>
                <a:ea typeface="Noto Sans"/>
                <a:cs typeface="Noto Sans"/>
                <a:sym typeface="Noto Sans"/>
              </a:rPr>
              <a:t>심장수술의 대체약 권고와 패혈증의 근거 부족을 구분해야 함</a:t>
            </a:r>
            <a:endParaRPr/>
          </a:p>
        </p:txBody>
      </p:sp>
      <p:graphicFrame>
        <p:nvGraphicFramePr>
          <p:cNvPr id="311" name="Google Shape;311;p22"/>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013475"/>
                <a:gridCol w="4288400"/>
                <a:gridCol w="375625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지침</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확인한 문구</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적용 범위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1069850">
                <a:tc>
                  <a:txBody>
                    <a:bodyPr/>
                    <a:lstStyle/>
                    <a:p>
                      <a:pPr indent="0" lvl="0" marL="0" marR="0" rtl="0" algn="l">
                        <a:lnSpc>
                          <a:spcPct val="117999"/>
                        </a:lnSpc>
                        <a:spcBef>
                          <a:spcPts val="0"/>
                        </a:spcBef>
                        <a:spcAft>
                          <a:spcPts val="0"/>
                        </a:spcAft>
                        <a:buNone/>
                      </a:pPr>
                      <a:r>
                        <a:rPr lang="ko-KR" sz="1800">
                          <a:solidFill>
                            <a:srgbClr val="233446"/>
                          </a:solidFill>
                          <a:latin typeface="Noto Sans"/>
                          <a:ea typeface="Noto Sans"/>
                          <a:cs typeface="Noto Sans"/>
                          <a:sym typeface="Noto Sans"/>
                        </a:rPr>
                        <a:t>2024 EACTS /</a:t>
                      </a:r>
                      <a:br>
                        <a:rPr lang="ko-KR" sz="1800">
                          <a:solidFill>
                            <a:srgbClr val="233446"/>
                          </a:solidFill>
                          <a:latin typeface="Noto Sans"/>
                          <a:ea typeface="Noto Sans"/>
                          <a:cs typeface="Noto Sans"/>
                          <a:sym typeface="Noto Sans"/>
                        </a:rPr>
                      </a:br>
                      <a:r>
                        <a:rPr lang="ko-KR" sz="1800">
                          <a:solidFill>
                            <a:srgbClr val="233446"/>
                          </a:solidFill>
                          <a:latin typeface="Noto Sans"/>
                          <a:ea typeface="Noto Sans"/>
                          <a:cs typeface="Noto Sans"/>
                          <a:sym typeface="Noto Sans"/>
                        </a:rPr>
                        <a:t>EACTAIC / EBCP</a:t>
                      </a:r>
                      <a:br>
                        <a:rPr lang="ko-KR" sz="1800">
                          <a:solidFill>
                            <a:srgbClr val="233446"/>
                          </a:solidFill>
                          <a:latin typeface="Noto Sans"/>
                          <a:ea typeface="Noto Sans"/>
                          <a:cs typeface="Noto Sans"/>
                          <a:sym typeface="Noto Sans"/>
                        </a:rPr>
                      </a:br>
                      <a:r>
                        <a:rPr lang="ko-KR" sz="1800">
                          <a:solidFill>
                            <a:srgbClr val="233446"/>
                          </a:solidFill>
                          <a:latin typeface="Noto Sans"/>
                          <a:ea typeface="Noto Sans"/>
                          <a:cs typeface="Noto Sans"/>
                          <a:sym typeface="Noto Sans"/>
                        </a:rPr>
                        <a:t>2025년 출판</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난치성 혈관마비에서</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MB·테를리프레신 등 대체약 고려</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Class IIa · Level B</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성인 심폐우회술·심장수술 맥락</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Recommendation Table 40</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SSC 2026</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불응성 패혈성 쇼크의 IV MB</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권고를 내릴 근거 부족</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혈압 개선 가능성과</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구제치료 생존효과 구분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312" name="Google Shape;312;p22"/>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2"/>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314" name="Google Shape;314;p22"/>
          <p:cNvSpPr txBox="1"/>
          <p:nvPr/>
        </p:nvSpPr>
        <p:spPr>
          <a:xfrm>
            <a:off x="6233159"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[G02] Society of Critical Care Medicine. Surviving Sepsis Campa…</a:t>
            </a:r>
            <a:endParaRPr/>
          </a:p>
        </p:txBody>
      </p:sp>
      <p:sp>
        <p:nvSpPr>
          <p:cNvPr id="315" name="Google Shape;315;p22"/>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316" name="Google Shape;316;p22">
            <a:hlinkClick action="ppaction://hlinksldjump" r:id="rId5"/>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317" name="Google Shape;317;p22"/>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10 / 36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322" name="Shape 322"/>
        <p:cNvGrpSpPr/>
        <p:nvPr/>
      </p:nvGrpSpPr>
      <p:grpSpPr>
        <a:xfrm>
          <a:off x="0" y="0"/>
          <a:ext cx="0" cy="0"/>
          <a:chOff x="0" y="0"/>
          <a:chExt cx="0" cy="0"/>
        </a:xfrm>
      </p:grpSpPr>
      <p:sp>
        <p:nvSpPr>
          <p:cNvPr id="323" name="Google Shape;323;p23"/>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11 / 무작위시험 · 패혈성 쇼크</a:t>
            </a:r>
            <a:endParaRPr/>
          </a:p>
        </p:txBody>
      </p:sp>
      <p:sp>
        <p:nvSpPr>
          <p:cNvPr id="324" name="Google Shape;324;p23"/>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325" name="Google Shape;325;p23"/>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3"/>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초기 보조 MB는 승압제 중단 중앙값을 69시간으로 앞당겼음</a:t>
            </a:r>
            <a:endParaRPr/>
          </a:p>
        </p:txBody>
      </p:sp>
      <p:sp>
        <p:nvSpPr>
          <p:cNvPr id="327" name="Google Shape;327;p23"/>
          <p:cNvSpPr txBox="1"/>
          <p:nvPr/>
        </p:nvSpPr>
        <p:spPr>
          <a:xfrm>
            <a:off x="566928" y="1603756"/>
            <a:ext cx="11058143" cy="286765"/>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596B7A"/>
                </a:solidFill>
                <a:latin typeface="Noto Sans"/>
                <a:ea typeface="Noto Sans"/>
                <a:cs typeface="Noto Sans"/>
                <a:sym typeface="Noto Sans"/>
              </a:rPr>
              <a:t>Ibarra-Estrada 2023 · 멕시코 · 92명 배정, 91명 분석(45 / 46)</a:t>
            </a:r>
            <a:endParaRPr/>
          </a:p>
        </p:txBody>
      </p:sp>
      <p:sp>
        <p:nvSpPr>
          <p:cNvPr id="328" name="Google Shape;328;p23"/>
          <p:cNvSpPr/>
          <p:nvPr/>
        </p:nvSpPr>
        <p:spPr>
          <a:xfrm>
            <a:off x="566928" y="2091689"/>
            <a:ext cx="5446775" cy="2139284"/>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3"/>
          <p:cNvSpPr txBox="1"/>
          <p:nvPr/>
        </p:nvSpPr>
        <p:spPr>
          <a:xfrm>
            <a:off x="768096" y="2256282"/>
            <a:ext cx="5044439" cy="8343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69시간</a:t>
            </a:r>
            <a:endParaRPr/>
          </a:p>
        </p:txBody>
      </p:sp>
      <p:sp>
        <p:nvSpPr>
          <p:cNvPr id="330" name="Google Shape;330;p23"/>
          <p:cNvSpPr txBox="1"/>
          <p:nvPr/>
        </p:nvSpPr>
        <p:spPr>
          <a:xfrm>
            <a:off x="768096" y="3154610"/>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메틸렌블루군</a:t>
            </a:r>
            <a:endParaRPr/>
          </a:p>
        </p:txBody>
      </p:sp>
      <p:sp>
        <p:nvSpPr>
          <p:cNvPr id="331" name="Google Shape;331;p23"/>
          <p:cNvSpPr txBox="1"/>
          <p:nvPr/>
        </p:nvSpPr>
        <p:spPr>
          <a:xfrm>
            <a:off x="768096" y="3547802"/>
            <a:ext cx="5044439" cy="536867"/>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승압제 중단 중앙값</a:t>
            </a:r>
            <a:endParaRPr/>
          </a:p>
        </p:txBody>
      </p:sp>
      <p:sp>
        <p:nvSpPr>
          <p:cNvPr id="332" name="Google Shape;332;p23"/>
          <p:cNvSpPr/>
          <p:nvPr/>
        </p:nvSpPr>
        <p:spPr>
          <a:xfrm>
            <a:off x="6178295" y="2091689"/>
            <a:ext cx="5446775" cy="2139284"/>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3"/>
          <p:cNvSpPr txBox="1"/>
          <p:nvPr/>
        </p:nvSpPr>
        <p:spPr>
          <a:xfrm>
            <a:off x="6379463" y="2256282"/>
            <a:ext cx="5044439" cy="8343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94시간</a:t>
            </a:r>
            <a:endParaRPr/>
          </a:p>
        </p:txBody>
      </p:sp>
      <p:sp>
        <p:nvSpPr>
          <p:cNvPr id="334" name="Google Shape;334;p23"/>
          <p:cNvSpPr txBox="1"/>
          <p:nvPr/>
        </p:nvSpPr>
        <p:spPr>
          <a:xfrm>
            <a:off x="6379463" y="3154610"/>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대조군</a:t>
            </a:r>
            <a:endParaRPr/>
          </a:p>
        </p:txBody>
      </p:sp>
      <p:sp>
        <p:nvSpPr>
          <p:cNvPr id="335" name="Google Shape;335;p23"/>
          <p:cNvSpPr txBox="1"/>
          <p:nvPr/>
        </p:nvSpPr>
        <p:spPr>
          <a:xfrm>
            <a:off x="6379463" y="3547802"/>
            <a:ext cx="5044439" cy="536867"/>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p&lt;0.001 · 중앙값 단순 차이 25시간</a:t>
            </a:r>
            <a:endParaRPr/>
          </a:p>
        </p:txBody>
      </p:sp>
      <p:sp>
        <p:nvSpPr>
          <p:cNvPr id="336" name="Google Shape;336;p23"/>
          <p:cNvSpPr txBox="1"/>
          <p:nvPr/>
        </p:nvSpPr>
        <p:spPr>
          <a:xfrm>
            <a:off x="566928" y="446871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337" name="Google Shape;337;p23"/>
          <p:cNvSpPr txBox="1"/>
          <p:nvPr/>
        </p:nvSpPr>
        <p:spPr>
          <a:xfrm>
            <a:off x="932688" y="445043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승압제 시작 24시간 이내 보조요법. 최종 불응성 구제시험과 구분</a:t>
            </a:r>
            <a:endParaRPr/>
          </a:p>
        </p:txBody>
      </p:sp>
      <p:sp>
        <p:nvSpPr>
          <p:cNvPr id="338" name="Google Shape;338;p23"/>
          <p:cNvSpPr txBox="1"/>
          <p:nvPr/>
        </p:nvSpPr>
        <p:spPr>
          <a:xfrm>
            <a:off x="566928" y="511133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339" name="Google Shape;339;p23"/>
          <p:cNvSpPr txBox="1"/>
          <p:nvPr/>
        </p:nvSpPr>
        <p:spPr>
          <a:xfrm>
            <a:off x="932688" y="509305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28일 사망률 차이 미확인(p=0.23). 혈역학적 성과와 생존효과 별도 평가</a:t>
            </a:r>
            <a:endParaRPr/>
          </a:p>
        </p:txBody>
      </p:sp>
      <p:sp>
        <p:nvSpPr>
          <p:cNvPr id="340" name="Google Shape;340;p23"/>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3"/>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[TR01] Early adjunctive methylene blue in patients with septic s…</a:t>
            </a:r>
            <a:endParaRPr/>
          </a:p>
        </p:txBody>
      </p:sp>
      <p:sp>
        <p:nvSpPr>
          <p:cNvPr id="342" name="Google Shape;342;p23"/>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343" name="Google Shape;343;p23">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344" name="Google Shape;344;p23"/>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11 / 36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349" name="Shape 349"/>
        <p:cNvGrpSpPr/>
        <p:nvPr/>
      </p:nvGrpSpPr>
      <p:grpSpPr>
        <a:xfrm>
          <a:off x="0" y="0"/>
          <a:ext cx="0" cy="0"/>
          <a:chOff x="0" y="0"/>
          <a:chExt cx="0" cy="0"/>
        </a:xfrm>
      </p:grpSpPr>
      <p:sp>
        <p:nvSpPr>
          <p:cNvPr id="350" name="Google Shape;350;p24"/>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12 / 무작위시험 · 심장수술 후</a:t>
            </a:r>
            <a:endParaRPr/>
          </a:p>
        </p:txBody>
      </p:sp>
      <p:sp>
        <p:nvSpPr>
          <p:cNvPr id="351" name="Google Shape;351;p24"/>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352" name="Google Shape;352;p24"/>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24"/>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수술 후 혈관마비 RCT에서 사망 0/28 대 6/28의 긍정 신호 확인</a:t>
            </a:r>
            <a:endParaRPr/>
          </a:p>
        </p:txBody>
      </p:sp>
      <p:sp>
        <p:nvSpPr>
          <p:cNvPr id="354" name="Google Shape;354;p24"/>
          <p:cNvSpPr txBox="1"/>
          <p:nvPr/>
        </p:nvSpPr>
        <p:spPr>
          <a:xfrm>
            <a:off x="566928" y="1603756"/>
            <a:ext cx="11058143" cy="286765"/>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596B7A"/>
                </a:solidFill>
                <a:latin typeface="Noto Sans"/>
                <a:ea typeface="Noto Sans"/>
                <a:cs typeface="Noto Sans"/>
                <a:sym typeface="Noto Sans"/>
              </a:rPr>
              <a:t>Levin 2004 · 아르헨티나 · 심장수술 후 발생한 혈관마비 56명</a:t>
            </a:r>
            <a:endParaRPr/>
          </a:p>
        </p:txBody>
      </p:sp>
      <p:sp>
        <p:nvSpPr>
          <p:cNvPr id="355" name="Google Shape;355;p24"/>
          <p:cNvSpPr/>
          <p:nvPr/>
        </p:nvSpPr>
        <p:spPr>
          <a:xfrm>
            <a:off x="566928" y="2091689"/>
            <a:ext cx="5446775" cy="2139284"/>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24"/>
          <p:cNvSpPr txBox="1"/>
          <p:nvPr/>
        </p:nvSpPr>
        <p:spPr>
          <a:xfrm>
            <a:off x="768096" y="2256282"/>
            <a:ext cx="5044439" cy="8343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0 / 28명</a:t>
            </a:r>
            <a:endParaRPr/>
          </a:p>
        </p:txBody>
      </p:sp>
      <p:sp>
        <p:nvSpPr>
          <p:cNvPr id="357" name="Google Shape;357;p24"/>
          <p:cNvSpPr txBox="1"/>
          <p:nvPr/>
        </p:nvSpPr>
        <p:spPr>
          <a:xfrm>
            <a:off x="768096" y="3154610"/>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메틸렌블루군 사망</a:t>
            </a:r>
            <a:endParaRPr/>
          </a:p>
        </p:txBody>
      </p:sp>
      <p:sp>
        <p:nvSpPr>
          <p:cNvPr id="358" name="Google Shape;358;p24"/>
          <p:cNvSpPr txBox="1"/>
          <p:nvPr/>
        </p:nvSpPr>
        <p:spPr>
          <a:xfrm>
            <a:off x="768096" y="3547802"/>
            <a:ext cx="5044439" cy="536867"/>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소규모 무작위시험</a:t>
            </a:r>
            <a:endParaRPr/>
          </a:p>
        </p:txBody>
      </p:sp>
      <p:sp>
        <p:nvSpPr>
          <p:cNvPr id="359" name="Google Shape;359;p24"/>
          <p:cNvSpPr/>
          <p:nvPr/>
        </p:nvSpPr>
        <p:spPr>
          <a:xfrm>
            <a:off x="6178295" y="2091689"/>
            <a:ext cx="5446775" cy="2139284"/>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24"/>
          <p:cNvSpPr txBox="1"/>
          <p:nvPr/>
        </p:nvSpPr>
        <p:spPr>
          <a:xfrm>
            <a:off x="6379463" y="2256282"/>
            <a:ext cx="5044439" cy="8343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6 / 28명</a:t>
            </a:r>
            <a:endParaRPr/>
          </a:p>
        </p:txBody>
      </p:sp>
      <p:sp>
        <p:nvSpPr>
          <p:cNvPr id="361" name="Google Shape;361;p24"/>
          <p:cNvSpPr txBox="1"/>
          <p:nvPr/>
        </p:nvSpPr>
        <p:spPr>
          <a:xfrm>
            <a:off x="6379463" y="3154610"/>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대조군 사망</a:t>
            </a:r>
            <a:endParaRPr/>
          </a:p>
        </p:txBody>
      </p:sp>
      <p:sp>
        <p:nvSpPr>
          <p:cNvPr id="362" name="Google Shape;362;p24"/>
          <p:cNvSpPr txBox="1"/>
          <p:nvPr/>
        </p:nvSpPr>
        <p:spPr>
          <a:xfrm>
            <a:off x="6379463" y="3547802"/>
            <a:ext cx="5044439" cy="536867"/>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p=0.01</a:t>
            </a:r>
            <a:endParaRPr/>
          </a:p>
        </p:txBody>
      </p:sp>
      <p:sp>
        <p:nvSpPr>
          <p:cNvPr id="363" name="Google Shape;363;p24"/>
          <p:cNvSpPr txBox="1"/>
          <p:nvPr/>
        </p:nvSpPr>
        <p:spPr>
          <a:xfrm>
            <a:off x="566928" y="446871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364" name="Google Shape;364;p24"/>
          <p:cNvSpPr txBox="1"/>
          <p:nvPr/>
        </p:nvSpPr>
        <p:spPr>
          <a:xfrm>
            <a:off x="932688" y="445043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혈관마비 발생 후 치료의 임상 반응과 사망 신호를 보고한 원저</a:t>
            </a:r>
            <a:endParaRPr/>
          </a:p>
        </p:txBody>
      </p:sp>
      <p:sp>
        <p:nvSpPr>
          <p:cNvPr id="365" name="Google Shape;365;p24"/>
          <p:cNvSpPr txBox="1"/>
          <p:nvPr/>
        </p:nvSpPr>
        <p:spPr>
          <a:xfrm>
            <a:off x="566928" y="511133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366" name="Google Shape;366;p24"/>
          <p:cNvSpPr txBox="1"/>
          <p:nvPr/>
        </p:nvSpPr>
        <p:spPr>
          <a:xfrm>
            <a:off x="932688" y="509305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현대적 다중 승압제 불응 조건은 확인 초록에서 미확인. 대규모 재현 검증 필요</a:t>
            </a:r>
            <a:endParaRPr/>
          </a:p>
        </p:txBody>
      </p:sp>
      <p:sp>
        <p:nvSpPr>
          <p:cNvPr id="367" name="Google Shape;367;p24"/>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24"/>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[TR02] Methylene blue reduces mortality and morbidity in vasop…</a:t>
            </a:r>
            <a:endParaRPr/>
          </a:p>
        </p:txBody>
      </p:sp>
      <p:sp>
        <p:nvSpPr>
          <p:cNvPr id="369" name="Google Shape;369;p24"/>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370" name="Google Shape;370;p24">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371" name="Google Shape;371;p24"/>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12 / 36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376" name="Shape 376"/>
        <p:cNvGrpSpPr/>
        <p:nvPr/>
      </p:nvGrpSpPr>
      <p:grpSpPr>
        <a:xfrm>
          <a:off x="0" y="0"/>
          <a:ext cx="0" cy="0"/>
          <a:chOff x="0" y="0"/>
          <a:chExt cx="0" cy="0"/>
        </a:xfrm>
      </p:grpSpPr>
      <p:sp>
        <p:nvSpPr>
          <p:cNvPr id="377" name="Google Shape;377;p25"/>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13 / 무작위시험 · 예방</a:t>
            </a:r>
            <a:endParaRPr/>
          </a:p>
        </p:txBody>
      </p:sp>
      <p:sp>
        <p:nvSpPr>
          <p:cNvPr id="378" name="Google Shape;378;p25"/>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379" name="Google Shape;379;p25"/>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5"/>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고위험 CABG 예방시험은 혈관마비 발생률 0% 대 26%를 보고함</a:t>
            </a:r>
            <a:endParaRPr/>
          </a:p>
        </p:txBody>
      </p:sp>
      <p:sp>
        <p:nvSpPr>
          <p:cNvPr id="381" name="Google Shape;381;p25"/>
          <p:cNvSpPr txBox="1"/>
          <p:nvPr/>
        </p:nvSpPr>
        <p:spPr>
          <a:xfrm>
            <a:off x="566928" y="1603756"/>
            <a:ext cx="11058143" cy="286765"/>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596B7A"/>
                </a:solidFill>
                <a:latin typeface="Noto Sans"/>
                <a:ea typeface="Noto Sans"/>
                <a:cs typeface="Noto Sans"/>
                <a:sym typeface="Noto Sans"/>
              </a:rPr>
              <a:t>Ozal 2005 · 튀르키예 · 고위험 관상동맥우회술(CABG) 100명</a:t>
            </a:r>
            <a:endParaRPr/>
          </a:p>
        </p:txBody>
      </p:sp>
      <p:sp>
        <p:nvSpPr>
          <p:cNvPr id="382" name="Google Shape;382;p25"/>
          <p:cNvSpPr/>
          <p:nvPr/>
        </p:nvSpPr>
        <p:spPr>
          <a:xfrm>
            <a:off x="566928" y="2091689"/>
            <a:ext cx="5446775" cy="2139284"/>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768096" y="2256282"/>
            <a:ext cx="5044439" cy="8343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0%</a:t>
            </a:r>
            <a:endParaRPr/>
          </a:p>
        </p:txBody>
      </p:sp>
      <p:sp>
        <p:nvSpPr>
          <p:cNvPr id="384" name="Google Shape;384;p25"/>
          <p:cNvSpPr txBox="1"/>
          <p:nvPr/>
        </p:nvSpPr>
        <p:spPr>
          <a:xfrm>
            <a:off x="768096" y="3154610"/>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메틸렌블루군 발생률</a:t>
            </a:r>
            <a:endParaRPr/>
          </a:p>
        </p:txBody>
      </p:sp>
      <p:sp>
        <p:nvSpPr>
          <p:cNvPr id="385" name="Google Shape;385;p25"/>
          <p:cNvSpPr txBox="1"/>
          <p:nvPr/>
        </p:nvSpPr>
        <p:spPr>
          <a:xfrm>
            <a:off x="768096" y="3547802"/>
            <a:ext cx="5044439" cy="536867"/>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수술 전 예방 투여</a:t>
            </a:r>
            <a:endParaRPr/>
          </a:p>
        </p:txBody>
      </p:sp>
      <p:sp>
        <p:nvSpPr>
          <p:cNvPr id="386" name="Google Shape;386;p25"/>
          <p:cNvSpPr/>
          <p:nvPr/>
        </p:nvSpPr>
        <p:spPr>
          <a:xfrm>
            <a:off x="6178295" y="2091689"/>
            <a:ext cx="5446775" cy="2139284"/>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5"/>
          <p:cNvSpPr txBox="1"/>
          <p:nvPr/>
        </p:nvSpPr>
        <p:spPr>
          <a:xfrm>
            <a:off x="6379463" y="2256282"/>
            <a:ext cx="5044439" cy="8343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26%</a:t>
            </a:r>
            <a:endParaRPr/>
          </a:p>
        </p:txBody>
      </p:sp>
      <p:sp>
        <p:nvSpPr>
          <p:cNvPr id="388" name="Google Shape;388;p25"/>
          <p:cNvSpPr txBox="1"/>
          <p:nvPr/>
        </p:nvSpPr>
        <p:spPr>
          <a:xfrm>
            <a:off x="6379463" y="3154610"/>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대조군 발생률</a:t>
            </a:r>
            <a:endParaRPr/>
          </a:p>
        </p:txBody>
      </p:sp>
      <p:sp>
        <p:nvSpPr>
          <p:cNvPr id="389" name="Google Shape;389;p25"/>
          <p:cNvSpPr txBox="1"/>
          <p:nvPr/>
        </p:nvSpPr>
        <p:spPr>
          <a:xfrm>
            <a:off x="6379463" y="3547802"/>
            <a:ext cx="5044439" cy="536867"/>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p&lt;0.001</a:t>
            </a:r>
            <a:endParaRPr/>
          </a:p>
        </p:txBody>
      </p:sp>
      <p:sp>
        <p:nvSpPr>
          <p:cNvPr id="390" name="Google Shape;390;p25"/>
          <p:cNvSpPr txBox="1"/>
          <p:nvPr/>
        </p:nvSpPr>
        <p:spPr>
          <a:xfrm>
            <a:off x="566928" y="446871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391" name="Google Shape;391;p25"/>
          <p:cNvSpPr txBox="1"/>
          <p:nvPr/>
        </p:nvSpPr>
        <p:spPr>
          <a:xfrm>
            <a:off x="932688" y="445043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예방 투여의 긍정 신호로 약리학적 개연성을 뒷받침함</a:t>
            </a:r>
            <a:endParaRPr/>
          </a:p>
        </p:txBody>
      </p:sp>
      <p:sp>
        <p:nvSpPr>
          <p:cNvPr id="392" name="Google Shape;392;p25"/>
          <p:cNvSpPr txBox="1"/>
          <p:nvPr/>
        </p:nvSpPr>
        <p:spPr>
          <a:xfrm>
            <a:off x="566928" y="511133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393" name="Google Shape;393;p25"/>
          <p:cNvSpPr txBox="1"/>
          <p:nvPr/>
        </p:nvSpPr>
        <p:spPr>
          <a:xfrm>
            <a:off x="932688" y="509305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이미 발생한 난치성 쇼크의 구제치료 효과나 일률적 예방정책 근거로 전용 불가</a:t>
            </a:r>
            <a:endParaRPr/>
          </a:p>
        </p:txBody>
      </p:sp>
      <p:sp>
        <p:nvSpPr>
          <p:cNvPr id="394" name="Google Shape;394;p25"/>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5"/>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[TR03] Preoperative methylene blue administration in patients a…</a:t>
            </a:r>
            <a:endParaRPr/>
          </a:p>
        </p:txBody>
      </p:sp>
      <p:sp>
        <p:nvSpPr>
          <p:cNvPr id="396" name="Google Shape;396;p25"/>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397" name="Google Shape;397;p25">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398" name="Google Shape;398;p25"/>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13 / 36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403" name="Shape 403"/>
        <p:cNvGrpSpPr/>
        <p:nvPr/>
      </p:nvGrpSpPr>
      <p:grpSpPr>
        <a:xfrm>
          <a:off x="0" y="0"/>
          <a:ext cx="0" cy="0"/>
          <a:chOff x="0" y="0"/>
          <a:chExt cx="0" cy="0"/>
        </a:xfrm>
      </p:grpSpPr>
      <p:sp>
        <p:nvSpPr>
          <p:cNvPr id="404" name="Google Shape;404;p26"/>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14 / 최근 소규모 무작위시험</a:t>
            </a:r>
            <a:endParaRPr/>
          </a:p>
        </p:txBody>
      </p:sp>
      <p:sp>
        <p:nvSpPr>
          <p:cNvPr id="405" name="Google Shape;405;p26"/>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406" name="Google Shape;406;p26"/>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6"/>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최근 시험에서도 승압제와 미세순환 지표의 개선 신호가 반복됨</a:t>
            </a:r>
            <a:endParaRPr/>
          </a:p>
        </p:txBody>
      </p:sp>
      <p:graphicFrame>
        <p:nvGraphicFramePr>
          <p:cNvPr id="408" name="Google Shape;408;p26"/>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655000"/>
                <a:gridCol w="4148800"/>
                <a:gridCol w="325435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연구·대상</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확인 결과</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주요 경계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Luis-Silva 2024 · 브라질</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42명 분석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NE·바소프레신 감량 촉진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배정 후 38명 제외</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선택·탈락 편향 주의</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10698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Shaker 2025 · 이집트</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암·기계환기 환자 90명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승압제 중단 평균</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73.6·70.1 대 94.3시간</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전체 p&lt;0.001</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두 MB군 대 위약</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특정 환자군·평균값</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Dong 2025 · 중국</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72명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미세혈류지수 차이 0.21</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95% CI 0.09–0.33</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미세순환 평가</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생존효과와 구분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bl>
          </a:graphicData>
        </a:graphic>
      </p:graphicFrame>
      <p:sp>
        <p:nvSpPr>
          <p:cNvPr id="409" name="Google Shape;409;p26"/>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26"/>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[TR06] Methylene blue therapy in addition to standard treatmen…</a:t>
            </a:r>
            <a:endParaRPr/>
          </a:p>
        </p:txBody>
      </p:sp>
      <p:sp>
        <p:nvSpPr>
          <p:cNvPr id="411" name="Google Shape;411;p26"/>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[TR07] Comparative study between high and low dose methylen…</a:t>
            </a:r>
            <a:endParaRPr/>
          </a:p>
        </p:txBody>
      </p:sp>
      <p:sp>
        <p:nvSpPr>
          <p:cNvPr id="412" name="Google Shape;412;p26"/>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[TR09] The Effect of Methylene Blue on Sublingual Microcirculati…</a:t>
            </a:r>
            <a:endParaRPr/>
          </a:p>
        </p:txBody>
      </p:sp>
      <p:sp>
        <p:nvSpPr>
          <p:cNvPr id="413" name="Google Shape;413;p26"/>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414" name="Google Shape;414;p26">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415" name="Google Shape;415;p26"/>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14 / 36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420" name="Shape 420"/>
        <p:cNvGrpSpPr/>
        <p:nvPr/>
      </p:nvGrpSpPr>
      <p:grpSpPr>
        <a:xfrm>
          <a:off x="0" y="0"/>
          <a:ext cx="0" cy="0"/>
          <a:chOff x="0" y="0"/>
          <a:chExt cx="0" cy="0"/>
        </a:xfrm>
      </p:grpSpPr>
      <p:sp>
        <p:nvSpPr>
          <p:cNvPr id="421" name="Google Shape;421;p27"/>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15 / 두 번째 약제 직접 비교</a:t>
            </a:r>
            <a:endParaRPr/>
          </a:p>
        </p:txBody>
      </p:sp>
      <p:sp>
        <p:nvSpPr>
          <p:cNvPr id="422" name="Google Shape;422;p27"/>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423" name="Google Shape;423;p27"/>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27"/>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바소프레신과의 직접 비교는 MB의 표준 2차 지위를 뒷받침하지 못함</a:t>
            </a:r>
            <a:endParaRPr/>
          </a:p>
        </p:txBody>
      </p:sp>
      <p:sp>
        <p:nvSpPr>
          <p:cNvPr id="425" name="Google Shape;425;p27"/>
          <p:cNvSpPr txBox="1"/>
          <p:nvPr/>
        </p:nvSpPr>
        <p:spPr>
          <a:xfrm>
            <a:off x="566928" y="1603756"/>
            <a:ext cx="11058143" cy="286765"/>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596B7A"/>
                </a:solidFill>
                <a:latin typeface="Noto Sans"/>
                <a:ea typeface="Noto Sans"/>
                <a:cs typeface="Noto Sans"/>
                <a:sym typeface="Noto Sans"/>
              </a:rPr>
              <a:t>Kuri 2025 · 인도 · 패혈성 쇼크 74명(37 / 37) · 공개형 RCT</a:t>
            </a:r>
            <a:endParaRPr/>
          </a:p>
        </p:txBody>
      </p:sp>
      <p:graphicFrame>
        <p:nvGraphicFramePr>
          <p:cNvPr id="426" name="Google Shape;426;p27"/>
          <p:cNvGraphicFramePr/>
          <p:nvPr/>
        </p:nvGraphicFramePr>
        <p:xfrm>
          <a:off x="566928" y="2091689"/>
          <a:ext cx="3000000" cy="3000000"/>
        </p:xfrm>
        <a:graphic>
          <a:graphicData uri="http://schemas.openxmlformats.org/drawingml/2006/table">
            <a:tbl>
              <a:tblPr firstRow="1">
                <a:noFill/>
                <a:tableStyleId>{4A9CCFD4-8BD0-40DB-BB06-D8941175CC39}</a:tableStyleId>
              </a:tblPr>
              <a:tblGrid>
                <a:gridCol w="2644950"/>
                <a:gridCol w="2644950"/>
                <a:gridCol w="3123275"/>
                <a:gridCol w="264495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평가 시점</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MB군 NE 용량</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바소프레신군 NE 용량</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p값</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6시간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1.50±0.53</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1.41±0.51</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0.431</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12시간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1.54±0.59</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1.27±0.56</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0.042</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24시간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1.55±0.80</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1.06±0.79</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0.009</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bl>
          </a:graphicData>
        </a:graphic>
      </p:graphicFrame>
      <p:sp>
        <p:nvSpPr>
          <p:cNvPr id="427" name="Google Shape;427;p27"/>
          <p:cNvSpPr txBox="1"/>
          <p:nvPr/>
        </p:nvSpPr>
        <p:spPr>
          <a:xfrm>
            <a:off x="566928" y="4432553"/>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428" name="Google Shape;428;p27"/>
          <p:cNvSpPr txBox="1"/>
          <p:nvPr/>
        </p:nvSpPr>
        <p:spPr>
          <a:xfrm>
            <a:off x="932688" y="4414266"/>
            <a:ext cx="10692383"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800" u="none" cap="none" strike="noStrike">
                <a:solidFill>
                  <a:srgbClr val="233446"/>
                </a:solidFill>
                <a:latin typeface="Noto Sans"/>
                <a:ea typeface="Noto Sans"/>
                <a:cs typeface="Noto Sans"/>
                <a:sym typeface="Noto Sans"/>
              </a:rPr>
              <a:t>단위 μg/kg/min. 12·24시간 NE 요구량은 바소프레신군이 더 낮음</a:t>
            </a:r>
            <a:endParaRPr/>
          </a:p>
        </p:txBody>
      </p:sp>
      <p:sp>
        <p:nvSpPr>
          <p:cNvPr id="429" name="Google Shape;429;p27"/>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27"/>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[TR08] Effects of Early Use of Methylene Blue and Vasopressin o…</a:t>
            </a:r>
            <a:endParaRPr/>
          </a:p>
        </p:txBody>
      </p:sp>
      <p:sp>
        <p:nvSpPr>
          <p:cNvPr id="431" name="Google Shape;431;p27"/>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432" name="Google Shape;432;p27">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433" name="Google Shape;433;p27"/>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15 / 36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438" name="Shape 438"/>
        <p:cNvGrpSpPr/>
        <p:nvPr/>
      </p:nvGrpSpPr>
      <p:grpSpPr>
        <a:xfrm>
          <a:off x="0" y="0"/>
          <a:ext cx="0" cy="0"/>
          <a:chOff x="0" y="0"/>
          <a:chExt cx="0" cy="0"/>
        </a:xfrm>
      </p:grpSpPr>
      <p:sp>
        <p:nvSpPr>
          <p:cNvPr id="439" name="Google Shape;439;p28"/>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16 / 통합분석의 의미</a:t>
            </a:r>
            <a:endParaRPr/>
          </a:p>
        </p:txBody>
      </p:sp>
      <p:sp>
        <p:nvSpPr>
          <p:cNvPr id="440" name="Google Shape;440;p28"/>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441" name="Google Shape;441;p28"/>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28"/>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메타분석은 유익성 방향을 제시하며 확증의 한계도 남김</a:t>
            </a:r>
            <a:endParaRPr/>
          </a:p>
        </p:txBody>
      </p:sp>
      <p:graphicFrame>
        <p:nvGraphicFramePr>
          <p:cNvPr id="443" name="Google Shape;443;p28"/>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762375"/>
                <a:gridCol w="3223375"/>
                <a:gridCol w="4072375"/>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분석·범위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사망 상대효과</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해석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Pruna 2024</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11개 RCT·556명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RR 0.60</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95% CI 0.43–0.84</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중환자·수술주기 혼합</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사망 분석 9개 시험</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Fernando 2024</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6개 RCT·302명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RR 0.66</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95% CI 0.47–0.94</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사망 분석 5개·260명</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낮은 확실성</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Perdhana 2021</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CPB 관련 5개 연구</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OR 0.12</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95% CI 0.03–0.46</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RCT·관찰연구 혼합</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총 n 초록 미확인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bl>
          </a:graphicData>
        </a:graphic>
      </p:graphicFrame>
      <p:sp>
        <p:nvSpPr>
          <p:cNvPr id="444" name="Google Shape;444;p28"/>
          <p:cNvSpPr txBox="1"/>
          <p:nvPr/>
        </p:nvSpPr>
        <p:spPr>
          <a:xfrm>
            <a:off x="566928" y="4753863"/>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445" name="Google Shape;445;p28"/>
          <p:cNvSpPr txBox="1"/>
          <p:nvPr/>
        </p:nvSpPr>
        <p:spPr>
          <a:xfrm>
            <a:off x="932688" y="4735576"/>
            <a:ext cx="10692383"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800" u="none" cap="none" strike="noStrike">
                <a:solidFill>
                  <a:srgbClr val="233446"/>
                </a:solidFill>
                <a:latin typeface="Noto Sans"/>
                <a:ea typeface="Noto Sans"/>
                <a:cs typeface="Noto Sans"/>
                <a:sym typeface="Noto Sans"/>
              </a:rPr>
              <a:t>Fernando: 고위험 편향 연구 제외 시 RR 0.77(95% CI 0.48–1.24). 생존효과 확정 불가</a:t>
            </a:r>
            <a:endParaRPr/>
          </a:p>
        </p:txBody>
      </p:sp>
      <p:sp>
        <p:nvSpPr>
          <p:cNvPr id="446" name="Google Shape;446;p28"/>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28"/>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[TR10] Methylene Blue in Septic Shock: A Systematic Review and…</a:t>
            </a:r>
            <a:endParaRPr/>
          </a:p>
        </p:txBody>
      </p:sp>
      <p:sp>
        <p:nvSpPr>
          <p:cNvPr id="448" name="Google Shape;448;p28"/>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[TR12] Methylene Blue Reduces Mortality in Critically Ill and Peri…</a:t>
            </a:r>
            <a:endParaRPr/>
          </a:p>
        </p:txBody>
      </p:sp>
      <p:sp>
        <p:nvSpPr>
          <p:cNvPr id="449" name="Google Shape;449;p28"/>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[TR16] Methylene blue for vasoplegic syndrome in cardiopulmo…</a:t>
            </a:r>
            <a:endParaRPr/>
          </a:p>
        </p:txBody>
      </p:sp>
      <p:sp>
        <p:nvSpPr>
          <p:cNvPr id="450" name="Google Shape;450;p28"/>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451" name="Google Shape;451;p28">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452" name="Google Shape;452;p28"/>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16 / 36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457" name="Shape 457"/>
        <p:cNvGrpSpPr/>
        <p:nvPr/>
      </p:nvGrpSpPr>
      <p:grpSpPr>
        <a:xfrm>
          <a:off x="0" y="0"/>
          <a:ext cx="0" cy="0"/>
          <a:chOff x="0" y="0"/>
          <a:chExt cx="0" cy="0"/>
        </a:xfrm>
      </p:grpSpPr>
      <p:sp>
        <p:nvSpPr>
          <p:cNvPr id="458" name="Google Shape;458;p29"/>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17 / 미국 실제 사용</a:t>
            </a:r>
            <a:endParaRPr/>
          </a:p>
        </p:txBody>
      </p:sp>
      <p:sp>
        <p:nvSpPr>
          <p:cNvPr id="459" name="Google Shape;459;p29"/>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460" name="Google Shape;460;p29"/>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29"/>
          <p:cNvSpPr txBox="1"/>
          <p:nvPr/>
        </p:nvSpPr>
        <p:spPr>
          <a:xfrm>
            <a:off x="566928" y="932688"/>
            <a:ext cx="11058143" cy="8712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미국 UVA의 118명 코호트는 조기 투여와 더 낮은 사망률의 연관성을</a:t>
            </a:r>
            <a:br>
              <a:rPr b="1" i="0" lang="ko-KR" sz="2800" u="none" cap="none" strike="noStrike">
                <a:solidFill>
                  <a:srgbClr val="152B42"/>
                </a:solidFill>
                <a:latin typeface="Noto Sans"/>
                <a:ea typeface="Noto Sans"/>
                <a:cs typeface="Noto Sans"/>
                <a:sym typeface="Noto Sans"/>
              </a:rPr>
            </a:br>
            <a:r>
              <a:rPr b="1" i="0" lang="ko-KR" sz="2800" u="none" cap="none" strike="noStrike">
                <a:solidFill>
                  <a:srgbClr val="152B42"/>
                </a:solidFill>
                <a:latin typeface="Noto Sans"/>
                <a:ea typeface="Noto Sans"/>
                <a:cs typeface="Noto Sans"/>
                <a:sym typeface="Noto Sans"/>
              </a:rPr>
              <a:t>보고함</a:t>
            </a:r>
            <a:endParaRPr/>
          </a:p>
        </p:txBody>
      </p:sp>
      <p:sp>
        <p:nvSpPr>
          <p:cNvPr id="462" name="Google Shape;462;p29"/>
          <p:cNvSpPr txBox="1"/>
          <p:nvPr/>
        </p:nvSpPr>
        <p:spPr>
          <a:xfrm>
            <a:off x="566928" y="2023364"/>
            <a:ext cx="11058143" cy="286765"/>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596B7A"/>
                </a:solidFill>
                <a:latin typeface="Noto Sans"/>
                <a:ea typeface="Noto Sans"/>
                <a:cs typeface="Noto Sans"/>
                <a:sym typeface="Noto Sans"/>
              </a:rPr>
              <a:t>Mehaffey 2017 · University of Virginia · 심장수술 후 혈관마비</a:t>
            </a:r>
            <a:endParaRPr/>
          </a:p>
        </p:txBody>
      </p:sp>
      <p:sp>
        <p:nvSpPr>
          <p:cNvPr id="463" name="Google Shape;463;p29"/>
          <p:cNvSpPr/>
          <p:nvPr/>
        </p:nvSpPr>
        <p:spPr>
          <a:xfrm>
            <a:off x="566928" y="2511298"/>
            <a:ext cx="5446775" cy="1912696"/>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29"/>
          <p:cNvSpPr txBox="1"/>
          <p:nvPr/>
        </p:nvSpPr>
        <p:spPr>
          <a:xfrm>
            <a:off x="768096" y="2675890"/>
            <a:ext cx="5044439" cy="7459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10.4%</a:t>
            </a:r>
            <a:endParaRPr/>
          </a:p>
        </p:txBody>
      </p:sp>
      <p:sp>
        <p:nvSpPr>
          <p:cNvPr id="465" name="Google Shape;465;p29"/>
          <p:cNvSpPr txBox="1"/>
          <p:nvPr/>
        </p:nvSpPr>
        <p:spPr>
          <a:xfrm>
            <a:off x="768096" y="3485849"/>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조기 투여군 사망률</a:t>
            </a:r>
            <a:endParaRPr/>
          </a:p>
        </p:txBody>
      </p:sp>
      <p:sp>
        <p:nvSpPr>
          <p:cNvPr id="466" name="Google Shape;466;p29"/>
          <p:cNvSpPr txBox="1"/>
          <p:nvPr/>
        </p:nvSpPr>
        <p:spPr>
          <a:xfrm>
            <a:off x="768096" y="3879041"/>
            <a:ext cx="5044439" cy="39864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수술 중 투여</a:t>
            </a:r>
            <a:endParaRPr/>
          </a:p>
        </p:txBody>
      </p:sp>
      <p:sp>
        <p:nvSpPr>
          <p:cNvPr id="467" name="Google Shape;467;p29"/>
          <p:cNvSpPr/>
          <p:nvPr/>
        </p:nvSpPr>
        <p:spPr>
          <a:xfrm>
            <a:off x="6178295" y="2511298"/>
            <a:ext cx="5446775" cy="1912696"/>
          </a:xfrm>
          <a:prstGeom prst="rect">
            <a:avLst/>
          </a:prstGeom>
          <a:solidFill>
            <a:srgbClr val="EAF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29"/>
          <p:cNvSpPr txBox="1"/>
          <p:nvPr/>
        </p:nvSpPr>
        <p:spPr>
          <a:xfrm>
            <a:off x="6379463" y="2675890"/>
            <a:ext cx="5044439" cy="7459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3000" u="none" cap="none" strike="noStrike">
                <a:solidFill>
                  <a:srgbClr val="245DA8"/>
                </a:solidFill>
                <a:latin typeface="Noto Sans"/>
                <a:ea typeface="Noto Sans"/>
                <a:cs typeface="Noto Sans"/>
                <a:sym typeface="Noto Sans"/>
              </a:rPr>
              <a:t>28.6%</a:t>
            </a:r>
            <a:endParaRPr/>
          </a:p>
        </p:txBody>
      </p:sp>
      <p:sp>
        <p:nvSpPr>
          <p:cNvPr id="469" name="Google Shape;469;p29"/>
          <p:cNvSpPr txBox="1"/>
          <p:nvPr/>
        </p:nvSpPr>
        <p:spPr>
          <a:xfrm>
            <a:off x="6379463" y="3485849"/>
            <a:ext cx="5044439"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800" u="none" cap="none" strike="noStrike">
                <a:solidFill>
                  <a:srgbClr val="233446"/>
                </a:solidFill>
                <a:latin typeface="Noto Sans"/>
                <a:ea typeface="Noto Sans"/>
                <a:cs typeface="Noto Sans"/>
                <a:sym typeface="Noto Sans"/>
              </a:rPr>
              <a:t>후기 투여군 사망률</a:t>
            </a:r>
            <a:endParaRPr/>
          </a:p>
        </p:txBody>
      </p:sp>
      <p:sp>
        <p:nvSpPr>
          <p:cNvPr id="470" name="Google Shape;470;p29"/>
          <p:cNvSpPr txBox="1"/>
          <p:nvPr/>
        </p:nvSpPr>
        <p:spPr>
          <a:xfrm>
            <a:off x="6379463" y="3879041"/>
            <a:ext cx="5044439" cy="39864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None/>
            </a:pPr>
            <a:r>
              <a:rPr b="0" i="0" lang="ko-KR" sz="1700" u="none" cap="none" strike="noStrike">
                <a:solidFill>
                  <a:srgbClr val="233446"/>
                </a:solidFill>
                <a:latin typeface="Noto Sans"/>
                <a:ea typeface="Noto Sans"/>
                <a:cs typeface="Noto Sans"/>
                <a:sym typeface="Noto Sans"/>
              </a:rPr>
              <a:t>ICU 투여</a:t>
            </a:r>
            <a:endParaRPr/>
          </a:p>
        </p:txBody>
      </p:sp>
      <p:sp>
        <p:nvSpPr>
          <p:cNvPr id="471" name="Google Shape;471;p29"/>
          <p:cNvSpPr txBox="1"/>
          <p:nvPr/>
        </p:nvSpPr>
        <p:spPr>
          <a:xfrm>
            <a:off x="566928" y="466173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472" name="Google Shape;472;p29"/>
          <p:cNvSpPr txBox="1"/>
          <p:nvPr/>
        </p:nvSpPr>
        <p:spPr>
          <a:xfrm>
            <a:off x="932688" y="464345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실제 치료에 사용된 기관 경험 확인. 무작위 배정 비교는 아님</a:t>
            </a:r>
            <a:endParaRPr/>
          </a:p>
        </p:txBody>
      </p:sp>
      <p:sp>
        <p:nvSpPr>
          <p:cNvPr id="473" name="Google Shape;473;p29"/>
          <p:cNvSpPr txBox="1"/>
          <p:nvPr/>
        </p:nvSpPr>
        <p:spPr>
          <a:xfrm>
            <a:off x="566928" y="530435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474" name="Google Shape;474;p29"/>
          <p:cNvSpPr txBox="1"/>
          <p:nvPr/>
        </p:nvSpPr>
        <p:spPr>
          <a:xfrm>
            <a:off x="932688" y="5286070"/>
            <a:ext cx="10692383" cy="33172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2000" u="none" cap="none" strike="noStrike">
                <a:solidFill>
                  <a:srgbClr val="233446"/>
                </a:solidFill>
                <a:latin typeface="Noto Sans"/>
                <a:ea typeface="Noto Sans"/>
                <a:cs typeface="Noto Sans"/>
                <a:sym typeface="Noto Sans"/>
              </a:rPr>
              <a:t>중증도·선택·투여 시점의 교란 존재. 조기 MB의 생존 인과효과로 확정 불가</a:t>
            </a:r>
            <a:endParaRPr/>
          </a:p>
        </p:txBody>
      </p:sp>
      <p:sp>
        <p:nvSpPr>
          <p:cNvPr id="475" name="Google Shape;475;p29"/>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29"/>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[CT01] Methylene Blue for Vasoplegic Syndrome After Cardiac O…</a:t>
            </a:r>
            <a:endParaRPr/>
          </a:p>
        </p:txBody>
      </p:sp>
      <p:sp>
        <p:nvSpPr>
          <p:cNvPr id="477" name="Google Shape;477;p29"/>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478" name="Google Shape;478;p29">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479" name="Google Shape;479;p29"/>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17 / 36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484" name="Shape 484"/>
        <p:cNvGrpSpPr/>
        <p:nvPr/>
      </p:nvGrpSpPr>
      <p:grpSpPr>
        <a:xfrm>
          <a:off x="0" y="0"/>
          <a:ext cx="0" cy="0"/>
          <a:chOff x="0" y="0"/>
          <a:chExt cx="0" cy="0"/>
        </a:xfrm>
      </p:grpSpPr>
      <p:sp>
        <p:nvSpPr>
          <p:cNvPr id="485" name="Google Shape;485;p30"/>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18 / 독일·프랑스 실제 사용</a:t>
            </a:r>
            <a:endParaRPr/>
          </a:p>
        </p:txBody>
      </p:sp>
      <p:sp>
        <p:nvSpPr>
          <p:cNvPr id="486" name="Google Shape;486;p30"/>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487" name="Google Shape;487;p30"/>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30"/>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lang="ko-KR" sz="2800">
                <a:solidFill>
                  <a:srgbClr val="152B42"/>
                </a:solidFill>
                <a:latin typeface="Noto Sans"/>
                <a:ea typeface="Noto Sans"/>
                <a:cs typeface="Noto Sans"/>
                <a:sym typeface="Noto Sans"/>
              </a:rPr>
              <a:t>유럽 코호트는 실제 치료에서 승압제·미세순환 반응을 보고함</a:t>
            </a:r>
            <a:endParaRPr/>
          </a:p>
        </p:txBody>
      </p:sp>
      <p:graphicFrame>
        <p:nvGraphicFramePr>
          <p:cNvPr id="489" name="Google Shape;489;p30"/>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4163775"/>
                <a:gridCol w="3142375"/>
                <a:gridCol w="3751975"/>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국가·기관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자료</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확인 결과·경계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독일 · LMU Hospital Munich</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Kofler 2022</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매칭 60명 대 60명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혈압·승압제 감소 신호</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생존 유의차 미확인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프랑스 · Louis Pradel</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Hospices Civils de Lyon</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Maurin 2022</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25명 전향 코호트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미세순환 지표 신호</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무대조·소표본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490" name="Google Shape;490;p30"/>
          <p:cNvSpPr txBox="1"/>
          <p:nvPr/>
        </p:nvSpPr>
        <p:spPr>
          <a:xfrm>
            <a:off x="566928" y="3953763"/>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491" name="Google Shape;491;p30"/>
          <p:cNvSpPr txBox="1"/>
          <p:nvPr/>
        </p:nvSpPr>
        <p:spPr>
          <a:xfrm>
            <a:off x="932688" y="3935475"/>
            <a:ext cx="10692383"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800" u="none" cap="none" strike="noStrike">
                <a:solidFill>
                  <a:srgbClr val="233446"/>
                </a:solidFill>
                <a:latin typeface="Noto Sans"/>
                <a:ea typeface="Noto Sans"/>
                <a:cs typeface="Noto Sans"/>
                <a:sym typeface="Noto Sans"/>
              </a:rPr>
              <a:t>기관별 실제 사용 자료임. 독일·프랑스 전체의 채택률이나 표준정책을 의미하지 않음</a:t>
            </a:r>
            <a:endParaRPr/>
          </a:p>
        </p:txBody>
      </p:sp>
      <p:sp>
        <p:nvSpPr>
          <p:cNvPr id="492" name="Google Shape;492;p30"/>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0"/>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[CT02] Early Use of Methylene Blue in Vasoplegic Syndrome: A 1…</a:t>
            </a:r>
            <a:endParaRPr/>
          </a:p>
        </p:txBody>
      </p:sp>
      <p:sp>
        <p:nvSpPr>
          <p:cNvPr id="494" name="Google Shape;494;p30"/>
          <p:cNvSpPr txBox="1"/>
          <p:nvPr/>
        </p:nvSpPr>
        <p:spPr>
          <a:xfrm>
            <a:off x="6233159"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[CT04] Effects of methylene blue on microcirculatory alterations…</a:t>
            </a:r>
            <a:endParaRPr/>
          </a:p>
        </p:txBody>
      </p:sp>
      <p:sp>
        <p:nvSpPr>
          <p:cNvPr id="495" name="Google Shape;495;p30"/>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496" name="Google Shape;496;p30">
            <a:hlinkClick action="ppaction://hlinksldjump" r:id="rId5"/>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497" name="Google Shape;497;p30"/>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18 / 36</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02" name="Shape 502"/>
        <p:cNvGrpSpPr/>
        <p:nvPr/>
      </p:nvGrpSpPr>
      <p:grpSpPr>
        <a:xfrm>
          <a:off x="0" y="0"/>
          <a:ext cx="0" cy="0"/>
          <a:chOff x="0" y="0"/>
          <a:chExt cx="0" cy="0"/>
        </a:xfrm>
      </p:grpSpPr>
      <p:sp>
        <p:nvSpPr>
          <p:cNvPr id="503" name="Google Shape;503;p31"/>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19 / 영국·캐나다·호주 자료</a:t>
            </a:r>
            <a:endParaRPr/>
          </a:p>
        </p:txBody>
      </p:sp>
      <p:sp>
        <p:nvSpPr>
          <p:cNvPr id="504" name="Google Shape;504;p31"/>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505" name="Google Shape;505;p31"/>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31"/>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lang="ko-KR" sz="2800">
                <a:solidFill>
                  <a:srgbClr val="152B42"/>
                </a:solidFill>
                <a:latin typeface="Noto Sans"/>
                <a:ea typeface="Noto Sans"/>
                <a:cs typeface="Noto Sans"/>
                <a:sym typeface="Noto Sans"/>
              </a:rPr>
              <a:t>처방집은 운영 경로를, 증례는 반응과 위험을 보여줌</a:t>
            </a:r>
            <a:endParaRPr/>
          </a:p>
        </p:txBody>
      </p:sp>
      <p:graphicFrame>
        <p:nvGraphicFramePr>
          <p:cNvPr id="507" name="Google Shape;507;p31"/>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857225"/>
                <a:gridCol w="3503950"/>
                <a:gridCol w="369695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국가·기관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확인 자료</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의미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영국 · Kent and Medway NHS</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지역 처방집</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ICU 허가초과 용도 기재</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운영 경로 확인</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실제 투여 건수 미확인</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캐나다 · Calgary / Alberta</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Health Services</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Manji 2017</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원인 미상 불응성 쇼크 증례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승압제 이탈 보고</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단일 사례·인과성 미확정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호주 · Prince of Wales</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Sydney</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Chan 2018</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중독성 혈관마비 증례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혈압 반응과 함께</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중증 세로토닌증후군 보고</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bl>
          </a:graphicData>
        </a:graphic>
      </p:graphicFrame>
      <p:sp>
        <p:nvSpPr>
          <p:cNvPr id="508" name="Google Shape;508;p31"/>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31"/>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[CT03] Methaemoglobinaemia — Methylthionium chloride (met…</a:t>
            </a:r>
            <a:endParaRPr/>
          </a:p>
        </p:txBody>
      </p:sp>
      <p:sp>
        <p:nvSpPr>
          <p:cNvPr id="510" name="Google Shape;510;p31"/>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[CT06] Severe Undifferentiated Vasoplegic Shock Refractory to V…</a:t>
            </a:r>
            <a:endParaRPr/>
          </a:p>
        </p:txBody>
      </p:sp>
      <p:sp>
        <p:nvSpPr>
          <p:cNvPr id="511" name="Google Shape;511;p31"/>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[CT05] Vasoplegic Shock Treated with Methylene Blue Complicat…</a:t>
            </a:r>
            <a:endParaRPr/>
          </a:p>
        </p:txBody>
      </p:sp>
      <p:sp>
        <p:nvSpPr>
          <p:cNvPr id="512" name="Google Shape;512;p31"/>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513" name="Google Shape;513;p31">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514" name="Google Shape;514;p31"/>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19 / 36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19" name="Shape 519"/>
        <p:cNvGrpSpPr/>
        <p:nvPr/>
      </p:nvGrpSpPr>
      <p:grpSpPr>
        <a:xfrm>
          <a:off x="0" y="0"/>
          <a:ext cx="0" cy="0"/>
          <a:chOff x="0" y="0"/>
          <a:chExt cx="0" cy="0"/>
        </a:xfrm>
      </p:grpSpPr>
      <p:sp>
        <p:nvSpPr>
          <p:cNvPr id="520" name="Google Shape;520;p32"/>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20 / 일본·한국 실제 사용</a:t>
            </a:r>
            <a:endParaRPr/>
          </a:p>
        </p:txBody>
      </p:sp>
      <p:sp>
        <p:nvSpPr>
          <p:cNvPr id="521" name="Google Shape;521;p32"/>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522" name="Google Shape;522;p32"/>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2"/>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일본과 한국 증례는 구제사용 경험과 환자 결과의 차이를 보여줌</a:t>
            </a:r>
            <a:endParaRPr/>
          </a:p>
        </p:txBody>
      </p:sp>
      <p:graphicFrame>
        <p:nvGraphicFramePr>
          <p:cNvPr id="524" name="Google Shape;524;p32"/>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774475"/>
                <a:gridCol w="3618050"/>
                <a:gridCol w="366560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국가·기관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환자 맥락</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보고 경과</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일본 · Hitachi General Hospital</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Takahashi 2024</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메트포르민 중독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혈압 호전 후</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저산소성 뇌병증·사망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한국 · 경희대학교</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마취통증의학교실</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2019 비심장수술</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혈관마비 증례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혈압 반응</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구토로 주입 중단 후 퇴원</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525" name="Google Shape;525;p32"/>
          <p:cNvSpPr txBox="1"/>
          <p:nvPr/>
        </p:nvSpPr>
        <p:spPr>
          <a:xfrm>
            <a:off x="566928" y="3953763"/>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526" name="Google Shape;526;p32"/>
          <p:cNvSpPr txBox="1"/>
          <p:nvPr/>
        </p:nvSpPr>
        <p:spPr>
          <a:xfrm>
            <a:off x="932688" y="3935475"/>
            <a:ext cx="10692383"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800" u="none" cap="none" strike="noStrike">
                <a:solidFill>
                  <a:srgbClr val="233446"/>
                </a:solidFill>
                <a:latin typeface="Noto Sans"/>
                <a:ea typeface="Noto Sans"/>
                <a:cs typeface="Noto Sans"/>
                <a:sym typeface="Noto Sans"/>
              </a:rPr>
              <a:t>국내 실제 사용 원저 확인. 혈압 반응이 곧 생존·무해성을 뜻하지 않음</a:t>
            </a:r>
            <a:endParaRPr/>
          </a:p>
        </p:txBody>
      </p:sp>
      <p:sp>
        <p:nvSpPr>
          <p:cNvPr id="527" name="Google Shape;527;p32"/>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32"/>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[CT07] Successful use of methylene blue for catecholamine-refra…</a:t>
            </a:r>
            <a:endParaRPr/>
          </a:p>
        </p:txBody>
      </p:sp>
      <p:sp>
        <p:nvSpPr>
          <p:cNvPr id="529" name="Google Shape;529;p32"/>
          <p:cNvSpPr txBox="1"/>
          <p:nvPr/>
        </p:nvSpPr>
        <p:spPr>
          <a:xfrm>
            <a:off x="6233159"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[CT08] Use of methylene blue in vasoplegic syndrome that devel…</a:t>
            </a:r>
            <a:endParaRPr/>
          </a:p>
        </p:txBody>
      </p:sp>
      <p:sp>
        <p:nvSpPr>
          <p:cNvPr id="530" name="Google Shape;530;p32"/>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531" name="Google Shape;531;p32">
            <a:hlinkClick action="ppaction://hlinksldjump" r:id="rId5"/>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532" name="Google Shape;532;p32"/>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 / 36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37" name="Shape 537"/>
        <p:cNvGrpSpPr/>
        <p:nvPr/>
      </p:nvGrpSpPr>
      <p:grpSpPr>
        <a:xfrm>
          <a:off x="0" y="0"/>
          <a:ext cx="0" cy="0"/>
          <a:chOff x="0" y="0"/>
          <a:chExt cx="0" cy="0"/>
        </a:xfrm>
      </p:grpSpPr>
      <p:sp>
        <p:nvSpPr>
          <p:cNvPr id="538" name="Google Shape;538;p33"/>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21 / 다른 분포성 쇼크 표현형</a:t>
            </a:r>
            <a:endParaRPr/>
          </a:p>
        </p:txBody>
      </p:sp>
      <p:sp>
        <p:nvSpPr>
          <p:cNvPr id="539" name="Google Shape;539;p33"/>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540" name="Google Shape;540;p33"/>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33"/>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lang="ko-KR" sz="2800">
                <a:solidFill>
                  <a:srgbClr val="152B42"/>
                </a:solidFill>
                <a:latin typeface="Noto Sans"/>
                <a:ea typeface="Noto Sans"/>
                <a:cs typeface="Noto Sans"/>
                <a:sym typeface="Noto Sans"/>
              </a:rPr>
              <a:t>아나필락시스·약물중독의 구제 반응은 증례 수준임</a:t>
            </a:r>
            <a:endParaRPr/>
          </a:p>
        </p:txBody>
      </p:sp>
      <p:graphicFrame>
        <p:nvGraphicFramePr>
          <p:cNvPr id="542" name="Google Shape;542;p33"/>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815450"/>
                <a:gridCol w="3650625"/>
                <a:gridCol w="359205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원저·표현형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투여 후 관찰</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근거의 경계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Stocche 2004 · 브라질</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불응성 아나필락시스 1명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수축기혈압</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60 → 85 → 105 mmHg</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SVR·CO 실측 미확인</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MAP가 아닌 수축기혈압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10698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Laes 2015 · 미국 Hennepin</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혈관확장 우세 혼합중독 1명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SVR 240 → 1,204</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dyn·s·cm⁻⁵</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1시간 이내 관찰</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EF 60–65%·CO 10.5 L/min</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무대조·복수 치료 병용</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543" name="Google Shape;543;p33"/>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33"/>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[PH01] Stocche RM, Garcia LV, Reis MP, et al. Methylene blue to tr…</a:t>
            </a:r>
            <a:endParaRPr/>
          </a:p>
        </p:txBody>
      </p:sp>
      <p:sp>
        <p:nvSpPr>
          <p:cNvPr id="545" name="Google Shape;545;p33"/>
          <p:cNvSpPr txBox="1"/>
          <p:nvPr/>
        </p:nvSpPr>
        <p:spPr>
          <a:xfrm>
            <a:off x="6233159"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[PH02] Laes JR, Williams DM, Cole JB. Improvement in Hemodyn…</a:t>
            </a:r>
            <a:endParaRPr/>
          </a:p>
        </p:txBody>
      </p:sp>
      <p:sp>
        <p:nvSpPr>
          <p:cNvPr id="546" name="Google Shape;546;p33"/>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547" name="Google Shape;547;p33">
            <a:hlinkClick action="ppaction://hlinksldjump" r:id="rId5"/>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548" name="Google Shape;548;p33"/>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21 / 36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53" name="Shape 553"/>
        <p:cNvGrpSpPr/>
        <p:nvPr/>
      </p:nvGrpSpPr>
      <p:grpSpPr>
        <a:xfrm>
          <a:off x="0" y="0"/>
          <a:ext cx="0" cy="0"/>
          <a:chOff x="0" y="0"/>
          <a:chExt cx="0" cy="0"/>
        </a:xfrm>
      </p:grpSpPr>
      <p:sp>
        <p:nvSpPr>
          <p:cNvPr id="554" name="Google Shape;554;p34"/>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22 / 성과를 읽는 기준</a:t>
            </a:r>
            <a:endParaRPr/>
          </a:p>
        </p:txBody>
      </p:sp>
      <p:sp>
        <p:nvSpPr>
          <p:cNvPr id="555" name="Google Shape;555;p34"/>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556" name="Google Shape;556;p34"/>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4"/>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혈압·승압제·장기 관류·생존은 별도로 평가해야 함</a:t>
            </a:r>
            <a:endParaRPr/>
          </a:p>
        </p:txBody>
      </p:sp>
      <p:sp>
        <p:nvSpPr>
          <p:cNvPr id="558" name="Google Shape;558;p34"/>
          <p:cNvSpPr/>
          <p:nvPr/>
        </p:nvSpPr>
        <p:spPr>
          <a:xfrm>
            <a:off x="566928" y="1603756"/>
            <a:ext cx="3466591" cy="41148"/>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34"/>
          <p:cNvSpPr txBox="1"/>
          <p:nvPr/>
        </p:nvSpPr>
        <p:spPr>
          <a:xfrm>
            <a:off x="566928"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560" name="Google Shape;560;p34"/>
          <p:cNvSpPr txBox="1"/>
          <p:nvPr/>
        </p:nvSpPr>
        <p:spPr>
          <a:xfrm>
            <a:off x="932688" y="1841500"/>
            <a:ext cx="3100831" cy="976121"/>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혈역학 반응: MAP·SVR</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회복과 승압제 감량을</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확인함</a:t>
            </a:r>
            <a:endParaRPr/>
          </a:p>
        </p:txBody>
      </p:sp>
      <p:sp>
        <p:nvSpPr>
          <p:cNvPr id="561" name="Google Shape;561;p34"/>
          <p:cNvSpPr/>
          <p:nvPr/>
        </p:nvSpPr>
        <p:spPr>
          <a:xfrm>
            <a:off x="4362703" y="1603756"/>
            <a:ext cx="3466591" cy="41148"/>
          </a:xfrm>
          <a:prstGeom prst="rect">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34"/>
          <p:cNvSpPr txBox="1"/>
          <p:nvPr/>
        </p:nvSpPr>
        <p:spPr>
          <a:xfrm>
            <a:off x="4362703"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563" name="Google Shape;563;p34"/>
          <p:cNvSpPr txBox="1"/>
          <p:nvPr/>
        </p:nvSpPr>
        <p:spPr>
          <a:xfrm>
            <a:off x="4728463" y="1841500"/>
            <a:ext cx="3100831" cy="976121"/>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장기 효과: 산소화·젖산·장</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기 기능·미세순환을 함께</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평가함</a:t>
            </a:r>
            <a:endParaRPr/>
          </a:p>
        </p:txBody>
      </p:sp>
      <p:sp>
        <p:nvSpPr>
          <p:cNvPr id="564" name="Google Shape;564;p34"/>
          <p:cNvSpPr/>
          <p:nvPr/>
        </p:nvSpPr>
        <p:spPr>
          <a:xfrm>
            <a:off x="8158479" y="1603756"/>
            <a:ext cx="3466591" cy="41148"/>
          </a:xfrm>
          <a:prstGeom prst="rect">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34"/>
          <p:cNvSpPr txBox="1"/>
          <p:nvPr/>
        </p:nvSpPr>
        <p:spPr>
          <a:xfrm>
            <a:off x="8158479"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566" name="Google Shape;566;p34"/>
          <p:cNvSpPr txBox="1"/>
          <p:nvPr/>
        </p:nvSpPr>
        <p:spPr>
          <a:xfrm>
            <a:off x="8524239" y="1841500"/>
            <a:ext cx="3100831" cy="976121"/>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생존 효과: 소규모 신호</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존재. 혈압 상승만으로 확정</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불가</a:t>
            </a:r>
            <a:endParaRPr/>
          </a:p>
        </p:txBody>
      </p:sp>
      <p:sp>
        <p:nvSpPr>
          <p:cNvPr id="567" name="Google Shape;567;p34"/>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34"/>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[TR01] Early adjunctive methylene blue in patients with septic s…</a:t>
            </a:r>
            <a:endParaRPr/>
          </a:p>
        </p:txBody>
      </p:sp>
      <p:sp>
        <p:nvSpPr>
          <p:cNvPr id="569" name="Google Shape;569;p34"/>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[SF07] Weingartner et al. Blockade of the action of nitric oxide in…</a:t>
            </a:r>
            <a:endParaRPr/>
          </a:p>
        </p:txBody>
      </p:sp>
      <p:sp>
        <p:nvSpPr>
          <p:cNvPr id="570" name="Google Shape;570;p34"/>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[G02] Society of Critical Care Medicine. Surviving Sepsis Campa…</a:t>
            </a:r>
            <a:endParaRPr/>
          </a:p>
        </p:txBody>
      </p:sp>
      <p:sp>
        <p:nvSpPr>
          <p:cNvPr id="571" name="Google Shape;571;p34"/>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572" name="Google Shape;572;p34">
            <a:hlinkClick action="ppaction://hlinksldjump" r:id="rId6"/>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573" name="Google Shape;573;p34"/>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22 / 36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78" name="Shape 578"/>
        <p:cNvGrpSpPr/>
        <p:nvPr/>
      </p:nvGrpSpPr>
      <p:grpSpPr>
        <a:xfrm>
          <a:off x="0" y="0"/>
          <a:ext cx="0" cy="0"/>
          <a:chOff x="0" y="0"/>
          <a:chExt cx="0" cy="0"/>
        </a:xfrm>
      </p:grpSpPr>
      <p:sp>
        <p:nvSpPr>
          <p:cNvPr id="579" name="Google Shape;579;p35"/>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23 / 국내 실제 보유 품목</a:t>
            </a:r>
            <a:endParaRPr/>
          </a:p>
        </p:txBody>
      </p:sp>
      <p:sp>
        <p:nvSpPr>
          <p:cNvPr id="580" name="Google Shape;580;p35"/>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581" name="Google Shape;581;p35"/>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2" name="Google Shape;582;p35"/>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프로베블루주 0.5%는 약물 유발 메트헤모글로빈혈증 허가품목임</a:t>
            </a:r>
            <a:endParaRPr/>
          </a:p>
        </p:txBody>
      </p:sp>
      <p:graphicFrame>
        <p:nvGraphicFramePr>
          <p:cNvPr id="583" name="Google Shape;583;p35"/>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786875"/>
                <a:gridCol w="7271275"/>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확인 항목</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공식 정보</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품목</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프로베블루주0.5%(메틸렌블루) · (주)삼오제약</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품목기준코드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201708376</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농도</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0.5% = 5 mg/mL</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허가 적응증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약물에 의한 메트헤모글로빈혈증</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584" name="Google Shape;584;p35"/>
          <p:cNvSpPr txBox="1"/>
          <p:nvPr/>
        </p:nvSpPr>
        <p:spPr>
          <a:xfrm>
            <a:off x="566928" y="4474971"/>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585" name="Google Shape;585;p35"/>
          <p:cNvSpPr txBox="1"/>
          <p:nvPr/>
        </p:nvSpPr>
        <p:spPr>
          <a:xfrm>
            <a:off x="932688" y="4456684"/>
            <a:ext cx="10692383" cy="30175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800" u="none" cap="none" strike="noStrike">
                <a:solidFill>
                  <a:srgbClr val="233446"/>
                </a:solidFill>
                <a:latin typeface="Noto Sans"/>
                <a:ea typeface="Noto Sans"/>
                <a:cs typeface="Noto Sans"/>
                <a:sym typeface="Noto Sans"/>
              </a:rPr>
              <a:t>혈관마비성 쇼크는 확인한 허가 효능·효과에 없음. 실물 앰플·포장단위는 약제부 확인 필요</a:t>
            </a:r>
            <a:endParaRPr/>
          </a:p>
        </p:txBody>
      </p:sp>
      <p:sp>
        <p:nvSpPr>
          <p:cNvPr id="586" name="Google Shape;586;p35"/>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35"/>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[KR01] MFDS 의약품안전나라 — 프로베블루주0.5%(메틸렌블루) 품목…</a:t>
            </a:r>
            <a:endParaRPr/>
          </a:p>
        </p:txBody>
      </p:sp>
      <p:sp>
        <p:nvSpPr>
          <p:cNvPr id="588" name="Google Shape;588;p35"/>
          <p:cNvSpPr txBox="1"/>
          <p:nvPr/>
        </p:nvSpPr>
        <p:spPr>
          <a:xfrm>
            <a:off x="6233159"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[P01] 약학정보원. 프로베블루주0.5% 복약안내문. 의약품코드 201712…</a:t>
            </a:r>
            <a:endParaRPr/>
          </a:p>
        </p:txBody>
      </p:sp>
      <p:sp>
        <p:nvSpPr>
          <p:cNvPr id="589" name="Google Shape;589;p35"/>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590" name="Google Shape;590;p35">
            <a:hlinkClick action="ppaction://hlinksldjump" r:id="rId5"/>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591" name="Google Shape;591;p35"/>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23 / 36</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96" name="Shape 596"/>
        <p:cNvGrpSpPr/>
        <p:nvPr/>
      </p:nvGrpSpPr>
      <p:grpSpPr>
        <a:xfrm>
          <a:off x="0" y="0"/>
          <a:ext cx="0" cy="0"/>
          <a:chOff x="0" y="0"/>
          <a:chExt cx="0" cy="0"/>
        </a:xfrm>
      </p:grpSpPr>
      <p:sp>
        <p:nvSpPr>
          <p:cNvPr id="597" name="Google Shape;597;p36"/>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24 / 가장 중요한 안전장치</a:t>
            </a:r>
            <a:endParaRPr/>
          </a:p>
        </p:txBody>
      </p:sp>
      <p:sp>
        <p:nvSpPr>
          <p:cNvPr id="598" name="Google Shape;598;p36"/>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599" name="Google Shape;599;p36"/>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p36"/>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세로토닌성 병용약과 G6PD 결핍은 투여 전 우선 확인 대상임</a:t>
            </a:r>
            <a:endParaRPr/>
          </a:p>
        </p:txBody>
      </p:sp>
      <p:sp>
        <p:nvSpPr>
          <p:cNvPr id="601" name="Google Shape;601;p36"/>
          <p:cNvSpPr/>
          <p:nvPr/>
        </p:nvSpPr>
        <p:spPr>
          <a:xfrm>
            <a:off x="566928" y="1603756"/>
            <a:ext cx="3466591" cy="41148"/>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2" name="Google Shape;602;p36"/>
          <p:cNvSpPr txBox="1"/>
          <p:nvPr/>
        </p:nvSpPr>
        <p:spPr>
          <a:xfrm>
            <a:off x="566928"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603" name="Google Shape;603;p36"/>
          <p:cNvSpPr txBox="1"/>
          <p:nvPr/>
        </p:nvSpPr>
        <p:spPr>
          <a:xfrm>
            <a:off x="932688" y="1841500"/>
            <a:ext cx="3100831" cy="976121"/>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MAO-A 억제: 세로토닌성</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약물·오피오이드와 중증</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세로토닌증후군 위험</a:t>
            </a:r>
            <a:endParaRPr/>
          </a:p>
        </p:txBody>
      </p:sp>
      <p:sp>
        <p:nvSpPr>
          <p:cNvPr id="604" name="Google Shape;604;p36"/>
          <p:cNvSpPr/>
          <p:nvPr/>
        </p:nvSpPr>
        <p:spPr>
          <a:xfrm>
            <a:off x="4362703" y="1603756"/>
            <a:ext cx="3466591" cy="41148"/>
          </a:xfrm>
          <a:prstGeom prst="rect">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5" name="Google Shape;605;p36"/>
          <p:cNvSpPr txBox="1"/>
          <p:nvPr/>
        </p:nvSpPr>
        <p:spPr>
          <a:xfrm>
            <a:off x="4362703"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606" name="Google Shape;606;p36"/>
          <p:cNvSpPr txBox="1"/>
          <p:nvPr/>
        </p:nvSpPr>
        <p:spPr>
          <a:xfrm>
            <a:off x="4728463" y="1841500"/>
            <a:ext cx="3100831" cy="1290827"/>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G6PD 결핍: 알려진</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결핍에서 금기·용혈 위험.</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미상 상태를 정상으로 간주</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불가</a:t>
            </a:r>
            <a:endParaRPr/>
          </a:p>
        </p:txBody>
      </p:sp>
      <p:sp>
        <p:nvSpPr>
          <p:cNvPr id="607" name="Google Shape;607;p36"/>
          <p:cNvSpPr/>
          <p:nvPr/>
        </p:nvSpPr>
        <p:spPr>
          <a:xfrm>
            <a:off x="8158479" y="1603756"/>
            <a:ext cx="3466591" cy="41148"/>
          </a:xfrm>
          <a:prstGeom prst="rect">
            <a:avLst/>
          </a:prstGeom>
          <a:solidFill>
            <a:srgbClr val="245DA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36"/>
          <p:cNvSpPr txBox="1"/>
          <p:nvPr/>
        </p:nvSpPr>
        <p:spPr>
          <a:xfrm>
            <a:off x="8158479" y="185978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609" name="Google Shape;609;p36"/>
          <p:cNvSpPr txBox="1"/>
          <p:nvPr/>
        </p:nvSpPr>
        <p:spPr>
          <a:xfrm>
            <a:off x="8524239" y="1841500"/>
            <a:ext cx="3100831" cy="976121"/>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약력 검토: 입원 전 약·최근</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중단약·수술 및 ICU</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투여약까지 확인</a:t>
            </a:r>
            <a:endParaRPr/>
          </a:p>
        </p:txBody>
      </p:sp>
      <p:sp>
        <p:nvSpPr>
          <p:cNvPr id="610" name="Google Shape;610;p36"/>
          <p:cNvSpPr/>
          <p:nvPr/>
        </p:nvSpPr>
        <p:spPr>
          <a:xfrm>
            <a:off x="566928" y="5907024"/>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36"/>
          <p:cNvSpPr txBox="1"/>
          <p:nvPr/>
        </p:nvSpPr>
        <p:spPr>
          <a:xfrm>
            <a:off x="566928"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[KR01] MFDS 의약품안전나라 — 프로베블루주0.5%(메틸렌블루) 품목…</a:t>
            </a:r>
            <a:endParaRPr/>
          </a:p>
        </p:txBody>
      </p:sp>
      <p:sp>
        <p:nvSpPr>
          <p:cNvPr id="612" name="Google Shape;612;p36"/>
          <p:cNvSpPr txBox="1"/>
          <p:nvPr/>
        </p:nvSpPr>
        <p:spPr>
          <a:xfrm>
            <a:off x="6233159"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[SF01] FDA PROVAYBLUE (methylene blue) injection: Prescribing…</a:t>
            </a:r>
            <a:endParaRPr/>
          </a:p>
        </p:txBody>
      </p:sp>
      <p:sp>
        <p:nvSpPr>
          <p:cNvPr id="613" name="Google Shape;613;p36"/>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[SF03] EMA: Methylthioninium chloride Proveblue 5 mg/ml — EP…</a:t>
            </a:r>
            <a:endParaRPr/>
          </a:p>
        </p:txBody>
      </p:sp>
      <p:sp>
        <p:nvSpPr>
          <p:cNvPr id="614" name="Google Shape;614;p36"/>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6"/>
              </a:rPr>
              <a:t>[SF04] Ramsay et al. Methylene blue and serotonin toxicity: inhi…</a:t>
            </a:r>
            <a:endParaRPr/>
          </a:p>
        </p:txBody>
      </p:sp>
      <p:sp>
        <p:nvSpPr>
          <p:cNvPr id="615" name="Google Shape;615;p36"/>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7"/>
              </a:rPr>
              <a:t>[SF10] Hencken et al. Serotonin Syndrome Following Methylene…</a:t>
            </a:r>
            <a:endParaRPr/>
          </a:p>
        </p:txBody>
      </p:sp>
      <p:sp>
        <p:nvSpPr>
          <p:cNvPr id="616" name="Google Shape;616;p36"/>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617" name="Google Shape;617;p36">
            <a:hlinkClick action="ppaction://hlinksldjump" r:id="rId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618" name="Google Shape;618;p36"/>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24 / 36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623" name="Shape 623"/>
        <p:cNvGrpSpPr/>
        <p:nvPr/>
      </p:nvGrpSpPr>
      <p:grpSpPr>
        <a:xfrm>
          <a:off x="0" y="0"/>
          <a:ext cx="0" cy="0"/>
          <a:chOff x="0" y="0"/>
          <a:chExt cx="0" cy="0"/>
        </a:xfrm>
      </p:grpSpPr>
      <p:sp>
        <p:nvSpPr>
          <p:cNvPr id="624" name="Google Shape;624;p37"/>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25 / 조제·감시 안전성</a:t>
            </a:r>
            <a:endParaRPr/>
          </a:p>
        </p:txBody>
      </p:sp>
      <p:sp>
        <p:nvSpPr>
          <p:cNvPr id="625" name="Google Shape;625;p37"/>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626" name="Google Shape;626;p37"/>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37"/>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농도·신기능·산소화·광학 간섭을 분리해 감시할 필요가 있음</a:t>
            </a:r>
            <a:endParaRPr/>
          </a:p>
        </p:txBody>
      </p:sp>
      <p:graphicFrame>
        <p:nvGraphicFramePr>
          <p:cNvPr id="628" name="Google Shape;628;p37"/>
          <p:cNvGraphicFramePr/>
          <p:nvPr/>
        </p:nvGraphicFramePr>
        <p:xfrm>
          <a:off x="566928" y="1603756"/>
          <a:ext cx="3000000" cy="3000000"/>
        </p:xfrm>
        <a:graphic>
          <a:graphicData uri="http://schemas.openxmlformats.org/drawingml/2006/table">
            <a:tbl>
              <a:tblPr firstRow="1">
                <a:noFill/>
                <a:tableStyleId>{4A9CCFD4-8BD0-40DB-BB06-D8941175CC39}</a:tableStyleId>
              </a:tblPr>
              <a:tblGrid>
                <a:gridCol w="3428850"/>
                <a:gridCol w="7629300"/>
              </a:tblGrid>
              <a:tr h="530350">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위험</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c>
                  <a:txBody>
                    <a:bodyPr/>
                    <a:lstStyle/>
                    <a:p>
                      <a:pPr indent="0" lvl="0" marL="0" marR="0" rtl="0" algn="l">
                        <a:lnSpc>
                          <a:spcPct val="117999"/>
                        </a:lnSpc>
                        <a:spcBef>
                          <a:spcPts val="0"/>
                        </a:spcBef>
                        <a:spcAft>
                          <a:spcPts val="0"/>
                        </a:spcAft>
                        <a:buNone/>
                      </a:pPr>
                      <a:r>
                        <a:rPr b="1" lang="ko-KR" sz="1800" u="none" cap="none" strike="noStrike">
                          <a:solidFill>
                            <a:srgbClr val="FFFFFF"/>
                          </a:solidFill>
                          <a:latin typeface="Noto Sans"/>
                          <a:ea typeface="Noto Sans"/>
                          <a:cs typeface="Noto Sans"/>
                          <a:sym typeface="Noto Sans"/>
                        </a:rPr>
                        <a:t>운영 통제</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152B42"/>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농도·누적량·희석 오류</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mg와 mL 분리 확인 · 조제·투여 이중 점검</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국내 품목 기준으로 희석·배합 확정</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신장애·반복 주입</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노출 증가 고려 · 환자 상태별 위험평가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r h="53035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폐혈관·우심실·산소화</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혈압 반응과 폐기능·우심실 부담 함께 평가</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FFFFFF"/>
                    </a:solidFill>
                  </a:tcPr>
                </a:tc>
              </a:tr>
              <a:tr h="800100">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SpO₂·광학 검사 간섭</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c>
                  <a:txBody>
                    <a:bodyPr/>
                    <a:lstStyle/>
                    <a:p>
                      <a:pPr indent="0" lvl="0" marL="0" marR="0" rtl="0" algn="l">
                        <a:lnSpc>
                          <a:spcPct val="117999"/>
                        </a:lnSpc>
                        <a:spcBef>
                          <a:spcPts val="0"/>
                        </a:spcBef>
                        <a:spcAft>
                          <a:spcPts val="0"/>
                        </a:spcAft>
                        <a:buNone/>
                      </a:pPr>
                      <a:r>
                        <a:rPr b="0" lang="ko-KR" sz="1800" u="none" cap="none" strike="noStrike">
                          <a:solidFill>
                            <a:srgbClr val="233446"/>
                          </a:solidFill>
                          <a:latin typeface="Noto Sans"/>
                          <a:ea typeface="Noto Sans"/>
                          <a:cs typeface="Noto Sans"/>
                          <a:sym typeface="Noto Sans"/>
                        </a:rPr>
                        <a:t>실제 저산소화와 측정 간섭 구분</a:t>
                      </a:r>
                      <a:br>
                        <a:rPr b="0" lang="ko-KR" sz="1800" u="none" cap="none" strike="noStrike">
                          <a:solidFill>
                            <a:srgbClr val="233446"/>
                          </a:solidFill>
                          <a:latin typeface="Noto Sans"/>
                          <a:ea typeface="Noto Sans"/>
                          <a:cs typeface="Noto Sans"/>
                          <a:sym typeface="Noto Sans"/>
                        </a:rPr>
                      </a:br>
                      <a:r>
                        <a:rPr b="0" lang="ko-KR" sz="1800" u="none" cap="none" strike="noStrike">
                          <a:solidFill>
                            <a:srgbClr val="233446"/>
                          </a:solidFill>
                          <a:latin typeface="Noto Sans"/>
                          <a:ea typeface="Noto Sans"/>
                          <a:cs typeface="Noto Sans"/>
                          <a:sym typeface="Noto Sans"/>
                        </a:rPr>
                        <a:t>혈액가스·장비 특성·임상소견 대조</a:t>
                      </a:r>
                      <a:endParaRPr/>
                    </a:p>
                  </a:txBody>
                  <a:tcPr marT="54875" marB="54875" marR="109725" marL="109725" anchor="ctr">
                    <a:lnL cap="flat" cmpd="sng" w="9525">
                      <a:solidFill>
                        <a:srgbClr val="D2D9DF"/>
                      </a:solidFill>
                      <a:prstDash val="solid"/>
                      <a:round/>
                      <a:headEnd len="sm" w="sm" type="none"/>
                      <a:tailEnd len="sm" w="sm" type="none"/>
                    </a:lnL>
                    <a:lnR cap="flat" cmpd="sng" w="9525">
                      <a:solidFill>
                        <a:srgbClr val="D2D9DF"/>
                      </a:solidFill>
                      <a:prstDash val="solid"/>
                      <a:round/>
                      <a:headEnd len="sm" w="sm" type="none"/>
                      <a:tailEnd len="sm" w="sm" type="none"/>
                    </a:lnR>
                    <a:lnT cap="flat" cmpd="sng" w="9525">
                      <a:solidFill>
                        <a:srgbClr val="D2D9DF"/>
                      </a:solidFill>
                      <a:prstDash val="solid"/>
                      <a:round/>
                      <a:headEnd len="sm" w="sm" type="none"/>
                      <a:tailEnd len="sm" w="sm" type="none"/>
                    </a:lnT>
                    <a:lnB cap="flat" cmpd="sng" w="9525">
                      <a:solidFill>
                        <a:srgbClr val="D2D9DF"/>
                      </a:solidFill>
                      <a:prstDash val="solid"/>
                      <a:round/>
                      <a:headEnd len="sm" w="sm" type="none"/>
                      <a:tailEnd len="sm" w="sm" type="none"/>
                    </a:lnB>
                    <a:solidFill>
                      <a:srgbClr val="EAF0F6"/>
                    </a:solidFill>
                  </a:tcPr>
                </a:tc>
              </a:tr>
            </a:tbl>
          </a:graphicData>
        </a:graphic>
      </p:graphicFrame>
      <p:sp>
        <p:nvSpPr>
          <p:cNvPr id="629" name="Google Shape;629;p37"/>
          <p:cNvSpPr/>
          <p:nvPr/>
        </p:nvSpPr>
        <p:spPr>
          <a:xfrm>
            <a:off x="566928" y="5907024"/>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37"/>
          <p:cNvSpPr txBox="1"/>
          <p:nvPr/>
        </p:nvSpPr>
        <p:spPr>
          <a:xfrm>
            <a:off x="566928"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[KR01] MFDS 의약품안전나라 — 프로베블루주0.5%(메틸렌블루) 품목…</a:t>
            </a:r>
            <a:endParaRPr/>
          </a:p>
        </p:txBody>
      </p:sp>
      <p:sp>
        <p:nvSpPr>
          <p:cNvPr id="631" name="Google Shape;631;p37"/>
          <p:cNvSpPr txBox="1"/>
          <p:nvPr/>
        </p:nvSpPr>
        <p:spPr>
          <a:xfrm>
            <a:off x="6233159" y="5989320"/>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[SF01] FDA PROVAYBLUE (methylene blue) injection: Prescribing…</a:t>
            </a:r>
            <a:endParaRPr/>
          </a:p>
        </p:txBody>
      </p:sp>
      <p:sp>
        <p:nvSpPr>
          <p:cNvPr id="632" name="Google Shape;632;p37"/>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[SF03] EMA: Methylthioninium chloride Proveblue 5 mg/ml — EP…</a:t>
            </a:r>
            <a:endParaRPr/>
          </a:p>
        </p:txBody>
      </p:sp>
      <p:sp>
        <p:nvSpPr>
          <p:cNvPr id="633" name="Google Shape;633;p37"/>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6"/>
              </a:rPr>
              <a:t>[SF07] Weingartner et al. Blockade of the action of nitric oxide in…</a:t>
            </a:r>
            <a:endParaRPr/>
          </a:p>
        </p:txBody>
      </p:sp>
      <p:sp>
        <p:nvSpPr>
          <p:cNvPr id="634" name="Google Shape;634;p37"/>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7"/>
              </a:rPr>
              <a:t>[SF12] Stevic et al. Determining susceptibility of routine clinical…</a:t>
            </a:r>
            <a:endParaRPr/>
          </a:p>
        </p:txBody>
      </p:sp>
      <p:sp>
        <p:nvSpPr>
          <p:cNvPr id="635" name="Google Shape;635;p37"/>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636" name="Google Shape;636;p37">
            <a:hlinkClick action="ppaction://hlinksldjump" r:id="rId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637" name="Google Shape;637;p37"/>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25 / 36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642" name="Shape 642"/>
        <p:cNvGrpSpPr/>
        <p:nvPr/>
      </p:nvGrpSpPr>
      <p:grpSpPr>
        <a:xfrm>
          <a:off x="0" y="0"/>
          <a:ext cx="0" cy="0"/>
          <a:chOff x="0" y="0"/>
          <a:chExt cx="0" cy="0"/>
        </a:xfrm>
      </p:grpSpPr>
      <p:sp>
        <p:nvSpPr>
          <p:cNvPr id="643" name="Google Shape;643;p38"/>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26 / 제한사용 실행 체계</a:t>
            </a:r>
            <a:endParaRPr/>
          </a:p>
        </p:txBody>
      </p:sp>
      <p:sp>
        <p:nvSpPr>
          <p:cNvPr id="644" name="Google Shape;644;p38"/>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645" name="Google Shape;645;p38"/>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38"/>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lang="ko-KR" sz="2800">
                <a:solidFill>
                  <a:srgbClr val="152B42"/>
                </a:solidFill>
                <a:latin typeface="Noto Sans"/>
                <a:ea typeface="Noto Sans"/>
                <a:cs typeface="Noto Sans"/>
                <a:sym typeface="Noto Sans"/>
              </a:rPr>
              <a:t>대상 선정·다학제 확인·반응 기록을 비축과 함께 정립할 것을 제안함</a:t>
            </a:r>
            <a:endParaRPr/>
          </a:p>
        </p:txBody>
      </p:sp>
      <p:sp>
        <p:nvSpPr>
          <p:cNvPr id="647" name="Google Shape;647;p38"/>
          <p:cNvSpPr/>
          <p:nvPr/>
        </p:nvSpPr>
        <p:spPr>
          <a:xfrm>
            <a:off x="566928" y="1603756"/>
            <a:ext cx="4160520" cy="4294124"/>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38"/>
          <p:cNvSpPr/>
          <p:nvPr/>
        </p:nvSpPr>
        <p:spPr>
          <a:xfrm>
            <a:off x="822960" y="1896364"/>
            <a:ext cx="594360" cy="45720"/>
          </a:xfrm>
          <a:prstGeom prst="rect">
            <a:avLst/>
          </a:prstGeom>
          <a:solidFill>
            <a:srgbClr val="D8ED8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9" name="Google Shape;649;p38"/>
          <p:cNvSpPr txBox="1"/>
          <p:nvPr/>
        </p:nvSpPr>
        <p:spPr>
          <a:xfrm>
            <a:off x="841247" y="2207260"/>
            <a:ext cx="3611879" cy="3416300"/>
          </a:xfrm>
          <a:prstGeom prst="rect">
            <a:avLst/>
          </a:prstGeom>
          <a:noFill/>
          <a:ln>
            <a:noFill/>
          </a:ln>
        </p:spPr>
        <p:txBody>
          <a:bodyPr anchorCtr="0" anchor="t" bIns="0" lIns="0" spcFirstLastPara="1" rIns="0" wrap="square" tIns="0">
            <a:noAutofit/>
          </a:bodyPr>
          <a:lstStyle/>
          <a:p>
            <a:pPr indent="0" lvl="0" marL="0" marR="0" rtl="0" algn="l">
              <a:lnSpc>
                <a:spcPct val="117956"/>
              </a:lnSpc>
              <a:spcBef>
                <a:spcPts val="0"/>
              </a:spcBef>
              <a:spcAft>
                <a:spcPts val="0"/>
              </a:spcAft>
              <a:buNone/>
            </a:pPr>
            <a:r>
              <a:rPr b="1" i="0" lang="ko-KR" sz="2300" u="none" cap="none" strike="noStrike">
                <a:solidFill>
                  <a:srgbClr val="FFFFFF"/>
                </a:solidFill>
                <a:latin typeface="Noto Sans"/>
                <a:ea typeface="Noto Sans"/>
                <a:cs typeface="Noto Sans"/>
                <a:sym typeface="Noto Sans"/>
              </a:rPr>
              <a:t>대상 선정: low-SVR</a:t>
            </a:r>
            <a:br>
              <a:rPr b="1" i="0" lang="ko-KR" sz="2300" u="none" cap="none" strike="noStrike">
                <a:solidFill>
                  <a:srgbClr val="FFFFFF"/>
                </a:solidFill>
                <a:latin typeface="Noto Sans"/>
                <a:ea typeface="Noto Sans"/>
                <a:cs typeface="Noto Sans"/>
                <a:sym typeface="Noto Sans"/>
              </a:rPr>
            </a:br>
            <a:r>
              <a:rPr b="1" i="0" lang="ko-KR" sz="2300" u="none" cap="none" strike="noStrike">
                <a:solidFill>
                  <a:srgbClr val="FFFFFF"/>
                </a:solidFill>
                <a:latin typeface="Noto Sans"/>
                <a:ea typeface="Noto Sans"/>
                <a:cs typeface="Noto Sans"/>
                <a:sym typeface="Noto Sans"/>
              </a:rPr>
              <a:t>표현형·원인 교정·기존</a:t>
            </a:r>
            <a:br>
              <a:rPr b="1" i="0" lang="ko-KR" sz="2300" u="none" cap="none" strike="noStrike">
                <a:solidFill>
                  <a:srgbClr val="FFFFFF"/>
                </a:solidFill>
                <a:latin typeface="Noto Sans"/>
                <a:ea typeface="Noto Sans"/>
                <a:cs typeface="Noto Sans"/>
                <a:sym typeface="Noto Sans"/>
              </a:rPr>
            </a:br>
            <a:r>
              <a:rPr b="1" i="0" lang="ko-KR" sz="2300" u="none" cap="none" strike="noStrike">
                <a:solidFill>
                  <a:srgbClr val="FFFFFF"/>
                </a:solidFill>
                <a:latin typeface="Noto Sans"/>
                <a:ea typeface="Noto Sans"/>
                <a:cs typeface="Noto Sans"/>
                <a:sym typeface="Noto Sans"/>
              </a:rPr>
              <a:t>승압제 경과 확인</a:t>
            </a:r>
            <a:endParaRPr/>
          </a:p>
        </p:txBody>
      </p:sp>
      <p:sp>
        <p:nvSpPr>
          <p:cNvPr id="650" name="Google Shape;650;p38"/>
          <p:cNvSpPr txBox="1"/>
          <p:nvPr/>
        </p:nvSpPr>
        <p:spPr>
          <a:xfrm>
            <a:off x="5111496" y="1750059"/>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651" name="Google Shape;651;p38"/>
          <p:cNvSpPr txBox="1"/>
          <p:nvPr/>
        </p:nvSpPr>
        <p:spPr>
          <a:xfrm>
            <a:off x="5477256" y="1731771"/>
            <a:ext cx="614781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다학제 확인: 중환자·마취·진료 책임자와 약제부의</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품목·약력·위험 검토</a:t>
            </a:r>
            <a:endParaRPr/>
          </a:p>
        </p:txBody>
      </p:sp>
      <p:sp>
        <p:nvSpPr>
          <p:cNvPr id="652" name="Google Shape;652;p38"/>
          <p:cNvSpPr txBox="1"/>
          <p:nvPr/>
        </p:nvSpPr>
        <p:spPr>
          <a:xfrm>
            <a:off x="5111496" y="2722371"/>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653" name="Google Shape;653;p38"/>
          <p:cNvSpPr txBox="1"/>
          <p:nvPr/>
        </p:nvSpPr>
        <p:spPr>
          <a:xfrm>
            <a:off x="5477256" y="2704083"/>
            <a:ext cx="614781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반응 기록: 혈압·승압제·관류·산소화·이상반응과</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중단 사유 기록</a:t>
            </a:r>
            <a:endParaRPr/>
          </a:p>
        </p:txBody>
      </p:sp>
      <p:sp>
        <p:nvSpPr>
          <p:cNvPr id="654" name="Google Shape;654;p38"/>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5" name="Google Shape;655;p38"/>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656" name="Google Shape;656;p38"/>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[G02] Society of Critical Care Medicine. Surviving Sepsis Campa…</a:t>
            </a:r>
            <a:endParaRPr/>
          </a:p>
        </p:txBody>
      </p:sp>
      <p:sp>
        <p:nvSpPr>
          <p:cNvPr id="657" name="Google Shape;657;p38"/>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[KR01] MFDS 의약품안전나라 — 프로베블루주0.5%(메틸렌블루) 품목…</a:t>
            </a:r>
            <a:endParaRPr/>
          </a:p>
        </p:txBody>
      </p:sp>
      <p:sp>
        <p:nvSpPr>
          <p:cNvPr id="658" name="Google Shape;658;p38"/>
          <p:cNvSpPr txBox="1"/>
          <p:nvPr/>
        </p:nvSpPr>
        <p:spPr>
          <a:xfrm>
            <a:off x="6233159"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6"/>
              </a:rPr>
              <a:t>[SF01] FDA PROVAYBLUE (methylene blue) injection: Prescribing…</a:t>
            </a:r>
            <a:endParaRPr/>
          </a:p>
        </p:txBody>
      </p:sp>
      <p:sp>
        <p:nvSpPr>
          <p:cNvPr id="659" name="Google Shape;659;p38"/>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660" name="Google Shape;660;p38">
            <a:hlinkClick action="ppaction://hlinksldjump" r:id="rId7"/>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661" name="Google Shape;661;p38"/>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26 / 36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666" name="Shape 666"/>
        <p:cNvGrpSpPr/>
        <p:nvPr/>
      </p:nvGrpSpPr>
      <p:grpSpPr>
        <a:xfrm>
          <a:off x="0" y="0"/>
          <a:ext cx="0" cy="0"/>
          <a:chOff x="0" y="0"/>
          <a:chExt cx="0" cy="0"/>
        </a:xfrm>
      </p:grpSpPr>
      <p:sp>
        <p:nvSpPr>
          <p:cNvPr id="667" name="Google Shape;667;p39"/>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27 / 최소 비축의 설계</a:t>
            </a:r>
            <a:endParaRPr/>
          </a:p>
        </p:txBody>
      </p:sp>
      <p:sp>
        <p:nvSpPr>
          <p:cNvPr id="668" name="Google Shape;668;p39"/>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669" name="Google Shape;669;p39"/>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39"/>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비축 수량은 동시 대응능력·공급기간·실물 포장단위로 확정해야 함</a:t>
            </a:r>
            <a:endParaRPr/>
          </a:p>
        </p:txBody>
      </p:sp>
      <p:sp>
        <p:nvSpPr>
          <p:cNvPr id="671" name="Google Shape;671;p39"/>
          <p:cNvSpPr/>
          <p:nvPr/>
        </p:nvSpPr>
        <p:spPr>
          <a:xfrm>
            <a:off x="566928" y="1603756"/>
            <a:ext cx="4160520" cy="4449572"/>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39"/>
          <p:cNvSpPr/>
          <p:nvPr/>
        </p:nvSpPr>
        <p:spPr>
          <a:xfrm>
            <a:off x="822960" y="1896364"/>
            <a:ext cx="594360" cy="45720"/>
          </a:xfrm>
          <a:prstGeom prst="rect">
            <a:avLst/>
          </a:prstGeom>
          <a:solidFill>
            <a:srgbClr val="D8ED8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p39"/>
          <p:cNvSpPr txBox="1"/>
          <p:nvPr/>
        </p:nvSpPr>
        <p:spPr>
          <a:xfrm>
            <a:off x="841247" y="2207260"/>
            <a:ext cx="3611879" cy="3571748"/>
          </a:xfrm>
          <a:prstGeom prst="rect">
            <a:avLst/>
          </a:prstGeom>
          <a:noFill/>
          <a:ln>
            <a:noFill/>
          </a:ln>
        </p:spPr>
        <p:txBody>
          <a:bodyPr anchorCtr="0" anchor="t" bIns="0" lIns="0" spcFirstLastPara="1" rIns="0" wrap="square" tIns="0">
            <a:noAutofit/>
          </a:bodyPr>
          <a:lstStyle/>
          <a:p>
            <a:pPr indent="0" lvl="0" marL="0" marR="0" rtl="0" algn="l">
              <a:lnSpc>
                <a:spcPct val="117956"/>
              </a:lnSpc>
              <a:spcBef>
                <a:spcPts val="0"/>
              </a:spcBef>
              <a:spcAft>
                <a:spcPts val="0"/>
              </a:spcAft>
              <a:buNone/>
            </a:pPr>
            <a:r>
              <a:rPr b="1" i="0" lang="ko-KR" sz="2300" u="none" cap="none" strike="noStrike">
                <a:solidFill>
                  <a:srgbClr val="FFFFFF"/>
                </a:solidFill>
                <a:latin typeface="Noto Sans"/>
                <a:ea typeface="Noto Sans"/>
                <a:cs typeface="Noto Sans"/>
                <a:sym typeface="Noto Sans"/>
              </a:rPr>
              <a:t>수량 산식 제안: 승인된 1건당</a:t>
            </a:r>
            <a:br>
              <a:rPr b="1" i="0" lang="ko-KR" sz="2300" u="none" cap="none" strike="noStrike">
                <a:solidFill>
                  <a:srgbClr val="FFFFFF"/>
                </a:solidFill>
                <a:latin typeface="Noto Sans"/>
                <a:ea typeface="Noto Sans"/>
                <a:cs typeface="Noto Sans"/>
                <a:sym typeface="Noto Sans"/>
              </a:rPr>
            </a:br>
            <a:r>
              <a:rPr b="1" i="0" lang="ko-KR" sz="2300" u="none" cap="none" strike="noStrike">
                <a:solidFill>
                  <a:srgbClr val="FFFFFF"/>
                </a:solidFill>
                <a:latin typeface="Noto Sans"/>
                <a:ea typeface="Noto Sans"/>
                <a:cs typeface="Noto Sans"/>
                <a:sym typeface="Noto Sans"/>
              </a:rPr>
              <a:t>필요 수량 × 동시 대응 건수</a:t>
            </a:r>
            <a:br>
              <a:rPr b="1" i="0" lang="ko-KR" sz="2300" u="none" cap="none" strike="noStrike">
                <a:solidFill>
                  <a:srgbClr val="FFFFFF"/>
                </a:solidFill>
                <a:latin typeface="Noto Sans"/>
                <a:ea typeface="Noto Sans"/>
                <a:cs typeface="Noto Sans"/>
                <a:sym typeface="Noto Sans"/>
              </a:rPr>
            </a:br>
            <a:r>
              <a:rPr b="1" i="0" lang="ko-KR" sz="2300" u="none" cap="none" strike="noStrike">
                <a:solidFill>
                  <a:srgbClr val="FFFFFF"/>
                </a:solidFill>
                <a:latin typeface="Noto Sans"/>
                <a:ea typeface="Noto Sans"/>
                <a:cs typeface="Noto Sans"/>
                <a:sym typeface="Noto Sans"/>
              </a:rPr>
              <a:t>+ 안전재고</a:t>
            </a:r>
            <a:endParaRPr/>
          </a:p>
        </p:txBody>
      </p:sp>
      <p:sp>
        <p:nvSpPr>
          <p:cNvPr id="674" name="Google Shape;674;p39"/>
          <p:cNvSpPr txBox="1"/>
          <p:nvPr/>
        </p:nvSpPr>
        <p:spPr>
          <a:xfrm>
            <a:off x="5111496" y="1750059"/>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675" name="Google Shape;675;p39"/>
          <p:cNvSpPr txBox="1"/>
          <p:nvPr/>
        </p:nvSpPr>
        <p:spPr>
          <a:xfrm>
            <a:off x="5477256" y="1731771"/>
            <a:ext cx="614781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약제부 확정: 실제 앰플·유통 포장·조달기간·보관</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조건·유효기간 확인</a:t>
            </a:r>
            <a:endParaRPr/>
          </a:p>
        </p:txBody>
      </p:sp>
      <p:sp>
        <p:nvSpPr>
          <p:cNvPr id="676" name="Google Shape;676;p39"/>
          <p:cNvSpPr txBox="1"/>
          <p:nvPr/>
        </p:nvSpPr>
        <p:spPr>
          <a:xfrm>
            <a:off x="5111496" y="2722371"/>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677" name="Google Shape;677;p39"/>
          <p:cNvSpPr txBox="1"/>
          <p:nvPr/>
        </p:nvSpPr>
        <p:spPr>
          <a:xfrm>
            <a:off x="5477256" y="2704083"/>
            <a:ext cx="614781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운영 관리: 24시간 접근·출고·즉시 보충·정기 점검</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체계 구축</a:t>
            </a:r>
            <a:endParaRPr/>
          </a:p>
        </p:txBody>
      </p:sp>
      <p:sp>
        <p:nvSpPr>
          <p:cNvPr id="678" name="Google Shape;678;p39"/>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9" name="Google Shape;679;p39"/>
          <p:cNvSpPr txBox="1"/>
          <p:nvPr/>
        </p:nvSpPr>
        <p:spPr>
          <a:xfrm>
            <a:off x="566928" y="6336792"/>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[KR01] MFDS 의약품안전나라 — 프로베블루주0.5%(메틸렌블루) 품목…</a:t>
            </a:r>
            <a:endParaRPr/>
          </a:p>
        </p:txBody>
      </p:sp>
      <p:sp>
        <p:nvSpPr>
          <p:cNvPr id="680" name="Google Shape;680;p39"/>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681" name="Google Shape;681;p39">
            <a:hlinkClick action="ppaction://hlinksldjump" r:id="rId4"/>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682" name="Google Shape;682;p39"/>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27 / 36</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687" name="Shape 687"/>
        <p:cNvGrpSpPr/>
        <p:nvPr/>
      </p:nvGrpSpPr>
      <p:grpSpPr>
        <a:xfrm>
          <a:off x="0" y="0"/>
          <a:ext cx="0" cy="0"/>
          <a:chOff x="0" y="0"/>
          <a:chExt cx="0" cy="0"/>
        </a:xfrm>
      </p:grpSpPr>
      <p:sp>
        <p:nvSpPr>
          <p:cNvPr id="688" name="Google Shape;688;p40"/>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28 / 경영진 의사결정 제안</a:t>
            </a:r>
            <a:endParaRPr/>
          </a:p>
        </p:txBody>
      </p:sp>
      <p:sp>
        <p:nvSpPr>
          <p:cNvPr id="689" name="Google Shape;689;p40"/>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690" name="Google Shape;690;p40"/>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1" name="Google Shape;691;p40"/>
          <p:cNvSpPr txBox="1"/>
          <p:nvPr/>
        </p:nvSpPr>
        <p:spPr>
          <a:xfrm>
            <a:off x="566928" y="932688"/>
            <a:ext cx="11058143" cy="8712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lang="ko-KR" sz="2800">
                <a:solidFill>
                  <a:srgbClr val="152B42"/>
                </a:solidFill>
                <a:latin typeface="Noto Sans"/>
                <a:ea typeface="Noto Sans"/>
                <a:cs typeface="Noto Sans"/>
                <a:sym typeface="Noto Sans"/>
              </a:rPr>
              <a:t>최소 비축과 시행 조건을 함께 정립해</a:t>
            </a:r>
            <a:br>
              <a:rPr b="1" lang="ko-KR" sz="2800">
                <a:solidFill>
                  <a:srgbClr val="152B42"/>
                </a:solidFill>
                <a:latin typeface="Noto Sans"/>
                <a:ea typeface="Noto Sans"/>
                <a:cs typeface="Noto Sans"/>
                <a:sym typeface="Noto Sans"/>
              </a:rPr>
            </a:br>
            <a:r>
              <a:rPr b="1" lang="ko-KR" sz="2800">
                <a:solidFill>
                  <a:srgbClr val="152B42"/>
                </a:solidFill>
                <a:latin typeface="Noto Sans"/>
                <a:ea typeface="Noto Sans"/>
                <a:cs typeface="Noto Sans"/>
                <a:sym typeface="Noto Sans"/>
              </a:rPr>
              <a:t>준비된 구제 선택지를 확보할 필요가 있음</a:t>
            </a:r>
            <a:endParaRPr/>
          </a:p>
        </p:txBody>
      </p:sp>
      <p:sp>
        <p:nvSpPr>
          <p:cNvPr id="692" name="Google Shape;692;p40"/>
          <p:cNvSpPr/>
          <p:nvPr/>
        </p:nvSpPr>
        <p:spPr>
          <a:xfrm>
            <a:off x="566928" y="2023364"/>
            <a:ext cx="4160520" cy="3874516"/>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3" name="Google Shape;693;p40"/>
          <p:cNvSpPr/>
          <p:nvPr/>
        </p:nvSpPr>
        <p:spPr>
          <a:xfrm>
            <a:off x="822960" y="2315972"/>
            <a:ext cx="594360" cy="45720"/>
          </a:xfrm>
          <a:prstGeom prst="rect">
            <a:avLst/>
          </a:prstGeom>
          <a:solidFill>
            <a:srgbClr val="D8ED8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4" name="Google Shape;694;p40"/>
          <p:cNvSpPr txBox="1"/>
          <p:nvPr/>
        </p:nvSpPr>
        <p:spPr>
          <a:xfrm>
            <a:off x="841247" y="2626868"/>
            <a:ext cx="3611879" cy="2996692"/>
          </a:xfrm>
          <a:prstGeom prst="rect">
            <a:avLst/>
          </a:prstGeom>
          <a:noFill/>
          <a:ln>
            <a:noFill/>
          </a:ln>
        </p:spPr>
        <p:txBody>
          <a:bodyPr anchorCtr="0" anchor="t" bIns="0" lIns="0" spcFirstLastPara="1" rIns="0" wrap="square" tIns="0">
            <a:noAutofit/>
          </a:bodyPr>
          <a:lstStyle/>
          <a:p>
            <a:pPr indent="0" lvl="0" marL="0" marR="0" rtl="0" algn="l">
              <a:lnSpc>
                <a:spcPct val="117956"/>
              </a:lnSpc>
              <a:spcBef>
                <a:spcPts val="0"/>
              </a:spcBef>
              <a:spcAft>
                <a:spcPts val="0"/>
              </a:spcAft>
              <a:buNone/>
            </a:pPr>
            <a:r>
              <a:rPr b="1" lang="ko-KR" sz="2300">
                <a:solidFill>
                  <a:srgbClr val="FFFFFF"/>
                </a:solidFill>
                <a:latin typeface="Noto Sans"/>
                <a:ea typeface="Noto Sans"/>
                <a:cs typeface="Noto Sans"/>
                <a:sym typeface="Noto Sans"/>
              </a:rPr>
              <a:t>프로베블루주 0.5% 최소 비축·제한사용 체계 정립 제안</a:t>
            </a:r>
            <a:endParaRPr/>
          </a:p>
        </p:txBody>
      </p:sp>
      <p:sp>
        <p:nvSpPr>
          <p:cNvPr id="695" name="Google Shape;695;p40"/>
          <p:cNvSpPr txBox="1"/>
          <p:nvPr/>
        </p:nvSpPr>
        <p:spPr>
          <a:xfrm>
            <a:off x="5111496" y="2169668"/>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01</a:t>
            </a:r>
            <a:endParaRPr/>
          </a:p>
        </p:txBody>
      </p:sp>
      <p:sp>
        <p:nvSpPr>
          <p:cNvPr id="696" name="Google Shape;696;p40"/>
          <p:cNvSpPr txBox="1"/>
          <p:nvPr/>
        </p:nvSpPr>
        <p:spPr>
          <a:xfrm>
            <a:off x="5477256" y="2151380"/>
            <a:ext cx="614781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lang="ko-KR" sz="2100">
                <a:solidFill>
                  <a:srgbClr val="233446"/>
                </a:solidFill>
                <a:latin typeface="Noto Sans"/>
                <a:ea typeface="Noto Sans"/>
                <a:cs typeface="Noto Sans"/>
                <a:sym typeface="Noto Sans"/>
              </a:rPr>
              <a:t>약리 표적·혈역학 반응·기관 사용 경험이 비축 검토를 뒷받침함</a:t>
            </a:r>
            <a:endParaRPr/>
          </a:p>
        </p:txBody>
      </p:sp>
      <p:sp>
        <p:nvSpPr>
          <p:cNvPr id="697" name="Google Shape;697;p40"/>
          <p:cNvSpPr txBox="1"/>
          <p:nvPr/>
        </p:nvSpPr>
        <p:spPr>
          <a:xfrm>
            <a:off x="5111496" y="3141980"/>
            <a:ext cx="274320" cy="24688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200" u="none" cap="none" strike="noStrike">
                <a:solidFill>
                  <a:srgbClr val="245DA8"/>
                </a:solidFill>
                <a:latin typeface="Noto Sans"/>
                <a:ea typeface="Noto Sans"/>
                <a:cs typeface="Noto Sans"/>
                <a:sym typeface="Noto Sans"/>
              </a:rPr>
              <a:t>02</a:t>
            </a:r>
            <a:endParaRPr/>
          </a:p>
        </p:txBody>
      </p:sp>
      <p:sp>
        <p:nvSpPr>
          <p:cNvPr id="698" name="Google Shape;698;p40"/>
          <p:cNvSpPr txBox="1"/>
          <p:nvPr/>
        </p:nvSpPr>
        <p:spPr>
          <a:xfrm>
            <a:off x="5477256" y="3123692"/>
            <a:ext cx="6147815" cy="661416"/>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None/>
            </a:pPr>
            <a:r>
              <a:rPr b="0" i="0" lang="ko-KR" sz="2100" u="none" cap="none" strike="noStrike">
                <a:solidFill>
                  <a:srgbClr val="233446"/>
                </a:solidFill>
                <a:latin typeface="Noto Sans"/>
                <a:ea typeface="Noto Sans"/>
                <a:cs typeface="Noto Sans"/>
                <a:sym typeface="Noto Sans"/>
              </a:rPr>
              <a:t>허가 범위·지침 대상·생존효과 한계를 유지하고 실제</a:t>
            </a:r>
            <a:br>
              <a:rPr b="0" i="0" lang="ko-KR" sz="2100" u="none" cap="none" strike="noStrike">
                <a:solidFill>
                  <a:srgbClr val="233446"/>
                </a:solidFill>
                <a:latin typeface="Noto Sans"/>
                <a:ea typeface="Noto Sans"/>
                <a:cs typeface="Noto Sans"/>
                <a:sym typeface="Noto Sans"/>
              </a:rPr>
            </a:br>
            <a:r>
              <a:rPr b="0" i="0" lang="ko-KR" sz="2100" u="none" cap="none" strike="noStrike">
                <a:solidFill>
                  <a:srgbClr val="233446"/>
                </a:solidFill>
                <a:latin typeface="Noto Sans"/>
                <a:ea typeface="Noto Sans"/>
                <a:cs typeface="Noto Sans"/>
                <a:sym typeface="Noto Sans"/>
              </a:rPr>
              <a:t>사용 결과를 점검함</a:t>
            </a:r>
            <a:endParaRPr/>
          </a:p>
        </p:txBody>
      </p:sp>
      <p:sp>
        <p:nvSpPr>
          <p:cNvPr id="699" name="Google Shape;699;p40"/>
          <p:cNvSpPr/>
          <p:nvPr/>
        </p:nvSpPr>
        <p:spPr>
          <a:xfrm>
            <a:off x="566928" y="6099048"/>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0" name="Google Shape;700;p40"/>
          <p:cNvSpPr txBox="1"/>
          <p:nvPr/>
        </p:nvSpPr>
        <p:spPr>
          <a:xfrm>
            <a:off x="566928"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3"/>
              </a:rPr>
              <a:t>[G01] Wahba A, Kunst G, De Somer F, et al. 2024 EACTS/EACTAIC…</a:t>
            </a:r>
            <a:endParaRPr/>
          </a:p>
        </p:txBody>
      </p:sp>
      <p:sp>
        <p:nvSpPr>
          <p:cNvPr id="701" name="Google Shape;701;p40"/>
          <p:cNvSpPr txBox="1"/>
          <p:nvPr/>
        </p:nvSpPr>
        <p:spPr>
          <a:xfrm>
            <a:off x="6233159" y="6181344"/>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4"/>
              </a:rPr>
              <a:t>[G02] Society of Critical Care Medicine. Surviving Sepsis Campa…</a:t>
            </a:r>
            <a:endParaRPr/>
          </a:p>
        </p:txBody>
      </p:sp>
      <p:sp>
        <p:nvSpPr>
          <p:cNvPr id="702" name="Google Shape;702;p40"/>
          <p:cNvSpPr txBox="1"/>
          <p:nvPr/>
        </p:nvSpPr>
        <p:spPr>
          <a:xfrm>
            <a:off x="566928"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5"/>
              </a:rPr>
              <a:t>[TR01] Early adjunctive methylene blue in patients with septic s…</a:t>
            </a:r>
            <a:endParaRPr/>
          </a:p>
        </p:txBody>
      </p:sp>
      <p:sp>
        <p:nvSpPr>
          <p:cNvPr id="703" name="Google Shape;703;p40"/>
          <p:cNvSpPr txBox="1"/>
          <p:nvPr/>
        </p:nvSpPr>
        <p:spPr>
          <a:xfrm>
            <a:off x="6233159" y="6373368"/>
            <a:ext cx="5391911"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50" u="sng" cap="none" strike="noStrike">
                <a:solidFill>
                  <a:schemeClr val="hlink"/>
                </a:solidFill>
                <a:latin typeface="Noto Sans"/>
                <a:ea typeface="Noto Sans"/>
                <a:cs typeface="Noto Sans"/>
                <a:sym typeface="Noto Sans"/>
                <a:hlinkClick r:id="rId6"/>
              </a:rPr>
              <a:t>[KR01] MFDS 의약품안전나라 — 프로베블루주0.5%(메틸렌블루) 품목…</a:t>
            </a:r>
            <a:endParaRPr/>
          </a:p>
        </p:txBody>
      </p:sp>
      <p:sp>
        <p:nvSpPr>
          <p:cNvPr id="704" name="Google Shape;704;p40"/>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705" name="Google Shape;705;p40">
            <a:hlinkClick action="ppaction://hlinksldjump" r:id="rId7"/>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참고문헌 ↗</a:t>
            </a:r>
            <a:endParaRPr/>
          </a:p>
        </p:txBody>
      </p:sp>
      <p:sp>
        <p:nvSpPr>
          <p:cNvPr id="706" name="Google Shape;706;p40"/>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28 / 36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711" name="Shape 711"/>
        <p:cNvGrpSpPr/>
        <p:nvPr/>
      </p:nvGrpSpPr>
      <p:grpSpPr>
        <a:xfrm>
          <a:off x="0" y="0"/>
          <a:ext cx="0" cy="0"/>
          <a:chOff x="0" y="0"/>
          <a:chExt cx="0" cy="0"/>
        </a:xfrm>
      </p:grpSpPr>
      <p:sp>
        <p:nvSpPr>
          <p:cNvPr id="712" name="Google Shape;712;p41"/>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713" name="Google Shape;713;p41"/>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714" name="Google Shape;714;p41"/>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5" name="Google Shape;715;p41"/>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1–5</a:t>
            </a:r>
            <a:endParaRPr/>
          </a:p>
        </p:txBody>
      </p:sp>
      <p:sp>
        <p:nvSpPr>
          <p:cNvPr id="716" name="Google Shape;716;p41"/>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[G01]</a:t>
            </a:r>
            <a:endParaRPr/>
          </a:p>
        </p:txBody>
      </p:sp>
      <p:sp>
        <p:nvSpPr>
          <p:cNvPr id="717" name="Google Shape;717;p41"/>
          <p:cNvSpPr txBox="1"/>
          <p:nvPr/>
        </p:nvSpPr>
        <p:spPr>
          <a:xfrm>
            <a:off x="1517904" y="1622044"/>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Wahba A, Kunst G, De Somer F, et al. 2024 EACTS/EACTAIC/EBCP Guidelines on cardiopulmonary bypass</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in adult cardiac surgery. Eur J Cardiothorac Surg. 2025;67(2):ezae354. doi:10.1093/ejcts/ezae354.</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6"/>
              </a:rPr>
              <a:t>Recommendation Table 40.</a:t>
            </a:r>
            <a:endParaRPr/>
          </a:p>
        </p:txBody>
      </p:sp>
      <p:sp>
        <p:nvSpPr>
          <p:cNvPr id="718" name="Google Shape;718;p41"/>
          <p:cNvSpPr/>
          <p:nvPr/>
        </p:nvSpPr>
        <p:spPr>
          <a:xfrm>
            <a:off x="566928" y="2780487"/>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9" name="Google Shape;719;p41"/>
          <p:cNvSpPr txBox="1"/>
          <p:nvPr/>
        </p:nvSpPr>
        <p:spPr>
          <a:xfrm>
            <a:off x="566928" y="2839923"/>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7"/>
              </a:rPr>
              <a:t>[G02]</a:t>
            </a:r>
            <a:endParaRPr/>
          </a:p>
        </p:txBody>
      </p:sp>
      <p:sp>
        <p:nvSpPr>
          <p:cNvPr id="720" name="Google Shape;720;p41"/>
          <p:cNvSpPr txBox="1"/>
          <p:nvPr/>
        </p:nvSpPr>
        <p:spPr>
          <a:xfrm>
            <a:off x="1517904" y="2821635"/>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8"/>
              </a:rPr>
              <a:t>Society of Critical Care Medicine. Surviving Sepsis Campaign: International Guidelines for Management</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9"/>
              </a:rPr>
              <a:t>of Sepsis and Septic Shock 2026. Published March 23, 2026. Methylene blue recommendation and</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0"/>
              </a:rPr>
              <a:t>remarks.</a:t>
            </a:r>
            <a:endParaRPr/>
          </a:p>
        </p:txBody>
      </p:sp>
      <p:sp>
        <p:nvSpPr>
          <p:cNvPr id="721" name="Google Shape;721;p41"/>
          <p:cNvSpPr/>
          <p:nvPr/>
        </p:nvSpPr>
        <p:spPr>
          <a:xfrm>
            <a:off x="566928" y="3980078"/>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2" name="Google Shape;722;p41"/>
          <p:cNvSpPr txBox="1"/>
          <p:nvPr/>
        </p:nvSpPr>
        <p:spPr>
          <a:xfrm>
            <a:off x="566928" y="4039514"/>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1"/>
              </a:rPr>
              <a:t>[P01]</a:t>
            </a:r>
            <a:endParaRPr/>
          </a:p>
        </p:txBody>
      </p:sp>
      <p:sp>
        <p:nvSpPr>
          <p:cNvPr id="723" name="Google Shape;723;p41"/>
          <p:cNvSpPr txBox="1"/>
          <p:nvPr/>
        </p:nvSpPr>
        <p:spPr>
          <a:xfrm>
            <a:off x="1517904" y="4021226"/>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2"/>
              </a:rPr>
              <a:t>약학정보원. 프로베블루주0.5% 복약안내문. 의약품코드 2017121500009. 사용자 지정 품목.</a:t>
            </a:r>
            <a:endParaRPr/>
          </a:p>
        </p:txBody>
      </p:sp>
      <p:sp>
        <p:nvSpPr>
          <p:cNvPr id="724" name="Google Shape;724;p41"/>
          <p:cNvSpPr/>
          <p:nvPr/>
        </p:nvSpPr>
        <p:spPr>
          <a:xfrm>
            <a:off x="566928" y="4700117"/>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5" name="Google Shape;725;p41"/>
          <p:cNvSpPr txBox="1"/>
          <p:nvPr/>
        </p:nvSpPr>
        <p:spPr>
          <a:xfrm>
            <a:off x="566928" y="4759553"/>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3"/>
              </a:rPr>
              <a:t>[KR01]</a:t>
            </a:r>
            <a:endParaRPr/>
          </a:p>
        </p:txBody>
      </p:sp>
      <p:sp>
        <p:nvSpPr>
          <p:cNvPr id="726" name="Google Shape;726;p41"/>
          <p:cNvSpPr txBox="1"/>
          <p:nvPr/>
        </p:nvSpPr>
        <p:spPr>
          <a:xfrm>
            <a:off x="1517904" y="4741265"/>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4"/>
              </a:rPr>
              <a:t>MFDS 의약품안전나라 — 프로베블루주0.5%(메틸렌블루) 품목 상세정보 (2017).</a:t>
            </a:r>
            <a:endParaRPr/>
          </a:p>
        </p:txBody>
      </p:sp>
      <p:sp>
        <p:nvSpPr>
          <p:cNvPr id="727" name="Google Shape;727;p41"/>
          <p:cNvSpPr/>
          <p:nvPr/>
        </p:nvSpPr>
        <p:spPr>
          <a:xfrm>
            <a:off x="566928" y="542015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8" name="Google Shape;728;p41"/>
          <p:cNvSpPr txBox="1"/>
          <p:nvPr/>
        </p:nvSpPr>
        <p:spPr>
          <a:xfrm>
            <a:off x="566928" y="547959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5"/>
              </a:rPr>
              <a:t>[KR02]</a:t>
            </a:r>
            <a:endParaRPr/>
          </a:p>
        </p:txBody>
      </p:sp>
      <p:sp>
        <p:nvSpPr>
          <p:cNvPr id="729" name="Google Shape;729;p41"/>
          <p:cNvSpPr txBox="1"/>
          <p:nvPr/>
        </p:nvSpPr>
        <p:spPr>
          <a:xfrm>
            <a:off x="1517904" y="5461304"/>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6"/>
              </a:rPr>
              <a:t>MFDS 의약품안전나라 — 품목기준코드 201708376 검색결과.</a:t>
            </a:r>
            <a:endParaRPr/>
          </a:p>
        </p:txBody>
      </p:sp>
      <p:sp>
        <p:nvSpPr>
          <p:cNvPr id="730" name="Google Shape;730;p41"/>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1" name="Google Shape;731;p41"/>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2" name="Google Shape;732;p41"/>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733" name="Google Shape;733;p41"/>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734" name="Google Shape;734;p41">
            <a:hlinkClick action="ppaction://hlinksldjump" r:id="rId17"/>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735" name="Google Shape;735;p41"/>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29 / 36</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740" name="Shape 740"/>
        <p:cNvGrpSpPr/>
        <p:nvPr/>
      </p:nvGrpSpPr>
      <p:grpSpPr>
        <a:xfrm>
          <a:off x="0" y="0"/>
          <a:ext cx="0" cy="0"/>
          <a:chOff x="0" y="0"/>
          <a:chExt cx="0" cy="0"/>
        </a:xfrm>
      </p:grpSpPr>
      <p:sp>
        <p:nvSpPr>
          <p:cNvPr id="741" name="Google Shape;741;p42"/>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742" name="Google Shape;742;p42"/>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743" name="Google Shape;743;p42"/>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4" name="Google Shape;744;p42"/>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6–10</a:t>
            </a:r>
            <a:endParaRPr/>
          </a:p>
        </p:txBody>
      </p:sp>
      <p:sp>
        <p:nvSpPr>
          <p:cNvPr id="745" name="Google Shape;745;p42"/>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[CT01]</a:t>
            </a:r>
            <a:endParaRPr/>
          </a:p>
        </p:txBody>
      </p:sp>
      <p:sp>
        <p:nvSpPr>
          <p:cNvPr id="746" name="Google Shape;746;p42"/>
          <p:cNvSpPr txBox="1"/>
          <p:nvPr/>
        </p:nvSpPr>
        <p:spPr>
          <a:xfrm>
            <a:off x="1517904" y="162204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Methylene Blue for Vasoplegic Syndrome After Cardiac Operation: Early Administration Improves</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Survival — Mehaffey et al.. 2017. University of Virginia, Charlottesville, Virginia; 흉부·심혈관외과.</a:t>
            </a:r>
            <a:endParaRPr/>
          </a:p>
        </p:txBody>
      </p:sp>
      <p:sp>
        <p:nvSpPr>
          <p:cNvPr id="747" name="Google Shape;747;p42"/>
          <p:cNvSpPr/>
          <p:nvPr/>
        </p:nvSpPr>
        <p:spPr>
          <a:xfrm>
            <a:off x="566928" y="2348890"/>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8" name="Google Shape;748;p42"/>
          <p:cNvSpPr txBox="1"/>
          <p:nvPr/>
        </p:nvSpPr>
        <p:spPr>
          <a:xfrm>
            <a:off x="566928" y="2408326"/>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6"/>
              </a:rPr>
              <a:t>[CT02]</a:t>
            </a:r>
            <a:endParaRPr/>
          </a:p>
        </p:txBody>
      </p:sp>
      <p:sp>
        <p:nvSpPr>
          <p:cNvPr id="749" name="Google Shape;749;p42"/>
          <p:cNvSpPr txBox="1"/>
          <p:nvPr/>
        </p:nvSpPr>
        <p:spPr>
          <a:xfrm>
            <a:off x="1517904" y="2390038"/>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7"/>
              </a:rPr>
              <a:t>Early Use of Methylene Blue in Vasoplegic Syndrome: A 10-Year Propensity Score-Matched Cohort Study</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8"/>
              </a:rPr>
              <a:t>— Kofler et al.. 2022. LMU Hospital, Ludwig-Maximilians-University Munich, München.</a:t>
            </a:r>
            <a:endParaRPr/>
          </a:p>
        </p:txBody>
      </p:sp>
      <p:sp>
        <p:nvSpPr>
          <p:cNvPr id="750" name="Google Shape;750;p42"/>
          <p:cNvSpPr/>
          <p:nvPr/>
        </p:nvSpPr>
        <p:spPr>
          <a:xfrm>
            <a:off x="566928" y="3116884"/>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1" name="Google Shape;751;p42"/>
          <p:cNvSpPr txBox="1"/>
          <p:nvPr/>
        </p:nvSpPr>
        <p:spPr>
          <a:xfrm>
            <a:off x="566928" y="3176320"/>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9"/>
              </a:rPr>
              <a:t>[CT03]</a:t>
            </a:r>
            <a:endParaRPr/>
          </a:p>
        </p:txBody>
      </p:sp>
      <p:sp>
        <p:nvSpPr>
          <p:cNvPr id="752" name="Google Shape;752;p42"/>
          <p:cNvSpPr txBox="1"/>
          <p:nvPr/>
        </p:nvSpPr>
        <p:spPr>
          <a:xfrm>
            <a:off x="1517904" y="3158032"/>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0"/>
              </a:rPr>
              <a:t>Methaemoglobinaemia — Methylthionium chloride (methylene blue) injection: approved uses in K&amp;M.</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1"/>
              </a:rPr>
              <a:t>발행연도 미표시. NHS Kent and Medway Joint Medicines Formulary; Maidstone and Tunbridge Wells,</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2"/>
              </a:rPr>
              <a:t>Dartford and Gravesham, Medway, East Kent의 지역 처방집.</a:t>
            </a:r>
            <a:endParaRPr/>
          </a:p>
        </p:txBody>
      </p:sp>
      <p:sp>
        <p:nvSpPr>
          <p:cNvPr id="753" name="Google Shape;753;p42"/>
          <p:cNvSpPr/>
          <p:nvPr/>
        </p:nvSpPr>
        <p:spPr>
          <a:xfrm>
            <a:off x="566928" y="4124655"/>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4" name="Google Shape;754;p42"/>
          <p:cNvSpPr txBox="1"/>
          <p:nvPr/>
        </p:nvSpPr>
        <p:spPr>
          <a:xfrm>
            <a:off x="566928" y="4184091"/>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3"/>
              </a:rPr>
              <a:t>[CT04]</a:t>
            </a:r>
            <a:endParaRPr/>
          </a:p>
        </p:txBody>
      </p:sp>
      <p:sp>
        <p:nvSpPr>
          <p:cNvPr id="755" name="Google Shape;755;p42"/>
          <p:cNvSpPr txBox="1"/>
          <p:nvPr/>
        </p:nvSpPr>
        <p:spPr>
          <a:xfrm>
            <a:off x="1517904" y="4165803"/>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4"/>
              </a:rPr>
              <a:t>Effects of methylene blue on microcirculatory alterations following cardiac surgery: A prospective</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5"/>
              </a:rPr>
              <a:t>cohort study — Maurin et al.; MAGIC BLUE, NCT04250389. 2022. Hôpital Cardiovasculaire et</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6"/>
              </a:rPr>
              <a:t>Pneumologique Louis Pradel, Hospices Civils de Lyon, Bron; 20병상 ICU.</a:t>
            </a:r>
            <a:endParaRPr/>
          </a:p>
        </p:txBody>
      </p:sp>
      <p:sp>
        <p:nvSpPr>
          <p:cNvPr id="756" name="Google Shape;756;p42"/>
          <p:cNvSpPr/>
          <p:nvPr/>
        </p:nvSpPr>
        <p:spPr>
          <a:xfrm>
            <a:off x="566928" y="5132425"/>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7" name="Google Shape;757;p42"/>
          <p:cNvSpPr txBox="1"/>
          <p:nvPr/>
        </p:nvSpPr>
        <p:spPr>
          <a:xfrm>
            <a:off x="566928" y="5191861"/>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7"/>
              </a:rPr>
              <a:t>[CT05]</a:t>
            </a:r>
            <a:endParaRPr/>
          </a:p>
        </p:txBody>
      </p:sp>
      <p:sp>
        <p:nvSpPr>
          <p:cNvPr id="758" name="Google Shape;758;p42"/>
          <p:cNvSpPr txBox="1"/>
          <p:nvPr/>
        </p:nvSpPr>
        <p:spPr>
          <a:xfrm>
            <a:off x="1517904" y="5173573"/>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8"/>
              </a:rPr>
              <a:t>Vasoplegic Shock Treated with Methylene Blue Complicated by Severe Serotonin Syndrome — Chan et</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9"/>
              </a:rPr>
              <a:t>al.. 2018. Prince of Wales Hospital, Sydney, New South Wales; Clinical Toxicology Unit 및 Emergency</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20"/>
              </a:rPr>
              <a:t>Medicine.</a:t>
            </a:r>
            <a:endParaRPr/>
          </a:p>
        </p:txBody>
      </p:sp>
      <p:sp>
        <p:nvSpPr>
          <p:cNvPr id="759" name="Google Shape;759;p42"/>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0" name="Google Shape;760;p42"/>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1" name="Google Shape;761;p42"/>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762" name="Google Shape;762;p42"/>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763" name="Google Shape;763;p42">
            <a:hlinkClick action="ppaction://hlinksldjump" r:id="rId21"/>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764" name="Google Shape;764;p42"/>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30 / 36</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769" name="Shape 769"/>
        <p:cNvGrpSpPr/>
        <p:nvPr/>
      </p:nvGrpSpPr>
      <p:grpSpPr>
        <a:xfrm>
          <a:off x="0" y="0"/>
          <a:ext cx="0" cy="0"/>
          <a:chOff x="0" y="0"/>
          <a:chExt cx="0" cy="0"/>
        </a:xfrm>
      </p:grpSpPr>
      <p:sp>
        <p:nvSpPr>
          <p:cNvPr id="770" name="Google Shape;770;p43"/>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771" name="Google Shape;771;p43"/>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772" name="Google Shape;772;p43"/>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3" name="Google Shape;773;p43"/>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11–15</a:t>
            </a:r>
            <a:endParaRPr/>
          </a:p>
        </p:txBody>
      </p:sp>
      <p:sp>
        <p:nvSpPr>
          <p:cNvPr id="774" name="Google Shape;774;p43"/>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[CT06]</a:t>
            </a:r>
            <a:endParaRPr/>
          </a:p>
        </p:txBody>
      </p:sp>
      <p:sp>
        <p:nvSpPr>
          <p:cNvPr id="775" name="Google Shape;775;p43"/>
          <p:cNvSpPr txBox="1"/>
          <p:nvPr/>
        </p:nvSpPr>
        <p:spPr>
          <a:xfrm>
            <a:off x="1517904" y="1622044"/>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Severe Undifferentiated Vasoplegic Shock Refractory to Vasoactive Agents Treated with Methylene Blue</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 Manji et al.. 2017. University of Calgary 및 Alberta Health Services, Calgary; 개별 치료 병원명은 원문</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6"/>
              </a:rPr>
              <a:t>미명시.</a:t>
            </a:r>
            <a:endParaRPr/>
          </a:p>
        </p:txBody>
      </p:sp>
      <p:sp>
        <p:nvSpPr>
          <p:cNvPr id="776" name="Google Shape;776;p43"/>
          <p:cNvSpPr/>
          <p:nvPr/>
        </p:nvSpPr>
        <p:spPr>
          <a:xfrm>
            <a:off x="566928" y="268457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7" name="Google Shape;777;p43"/>
          <p:cNvSpPr txBox="1"/>
          <p:nvPr/>
        </p:nvSpPr>
        <p:spPr>
          <a:xfrm>
            <a:off x="566928" y="274401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7"/>
              </a:rPr>
              <a:t>[CT07]</a:t>
            </a:r>
            <a:endParaRPr/>
          </a:p>
        </p:txBody>
      </p:sp>
      <p:sp>
        <p:nvSpPr>
          <p:cNvPr id="778" name="Google Shape;778;p43"/>
          <p:cNvSpPr txBox="1"/>
          <p:nvPr/>
        </p:nvSpPr>
        <p:spPr>
          <a:xfrm>
            <a:off x="1517904" y="2725724"/>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8"/>
              </a:rPr>
              <a:t>Successful use of methylene blue for catecholamine-refractory vasoplegic shock due to metformin</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9"/>
              </a:rPr>
              <a:t>intoxication: A case report and literature review — Takahashi et al.. 2024. Hitachi General Hospital,</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0"/>
              </a:rPr>
              <a:t>Hitachi, Ibaraki; Department of Emergency and Critical Care Medicine.</a:t>
            </a:r>
            <a:endParaRPr/>
          </a:p>
        </p:txBody>
      </p:sp>
      <p:sp>
        <p:nvSpPr>
          <p:cNvPr id="779" name="Google Shape;779;p43"/>
          <p:cNvSpPr/>
          <p:nvPr/>
        </p:nvSpPr>
        <p:spPr>
          <a:xfrm>
            <a:off x="566928" y="3788257"/>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0" name="Google Shape;780;p43"/>
          <p:cNvSpPr txBox="1"/>
          <p:nvPr/>
        </p:nvSpPr>
        <p:spPr>
          <a:xfrm>
            <a:off x="566928" y="3847693"/>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1"/>
              </a:rPr>
              <a:t>[CT08]</a:t>
            </a:r>
            <a:endParaRPr/>
          </a:p>
        </p:txBody>
      </p:sp>
      <p:sp>
        <p:nvSpPr>
          <p:cNvPr id="781" name="Google Shape;781;p43"/>
          <p:cNvSpPr txBox="1"/>
          <p:nvPr/>
        </p:nvSpPr>
        <p:spPr>
          <a:xfrm>
            <a:off x="1517904" y="3829405"/>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2"/>
              </a:rPr>
              <a:t>Use of methylene blue in vasoplegic syndrome that developed during non-cardiac surgery - A case</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3"/>
              </a:rPr>
              <a:t>report -. 2019. 경희대학교 의과대학 마취통증의학교실, 서울; 세부 병원 지점은 원문 미명시.</a:t>
            </a:r>
            <a:endParaRPr/>
          </a:p>
        </p:txBody>
      </p:sp>
      <p:sp>
        <p:nvSpPr>
          <p:cNvPr id="782" name="Google Shape;782;p43"/>
          <p:cNvSpPr/>
          <p:nvPr/>
        </p:nvSpPr>
        <p:spPr>
          <a:xfrm>
            <a:off x="566928" y="4652162"/>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3" name="Google Shape;783;p43"/>
          <p:cNvSpPr txBox="1"/>
          <p:nvPr/>
        </p:nvSpPr>
        <p:spPr>
          <a:xfrm>
            <a:off x="566928" y="4711598"/>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4"/>
              </a:rPr>
              <a:t>[CT11]</a:t>
            </a:r>
            <a:endParaRPr/>
          </a:p>
        </p:txBody>
      </p:sp>
      <p:sp>
        <p:nvSpPr>
          <p:cNvPr id="784" name="Google Shape;784;p43"/>
          <p:cNvSpPr txBox="1"/>
          <p:nvPr/>
        </p:nvSpPr>
        <p:spPr>
          <a:xfrm>
            <a:off x="1517904" y="4693310"/>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5"/>
              </a:rPr>
              <a:t>Methylene Blue for Postcardiopulmonary Bypass Vasoplegic Syndrome: A Cohort Study. 2017. Emory</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6"/>
              </a:rPr>
              <a:t>University의 성인 심장수술 임상기관, Atlanta, Georgia.</a:t>
            </a:r>
            <a:endParaRPr/>
          </a:p>
        </p:txBody>
      </p:sp>
      <p:sp>
        <p:nvSpPr>
          <p:cNvPr id="785" name="Google Shape;785;p43"/>
          <p:cNvSpPr/>
          <p:nvPr/>
        </p:nvSpPr>
        <p:spPr>
          <a:xfrm>
            <a:off x="566928" y="5516067"/>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6" name="Google Shape;786;p43"/>
          <p:cNvSpPr txBox="1"/>
          <p:nvPr/>
        </p:nvSpPr>
        <p:spPr>
          <a:xfrm>
            <a:off x="566928" y="5575503"/>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7"/>
              </a:rPr>
              <a:t>[SF01]</a:t>
            </a:r>
            <a:endParaRPr/>
          </a:p>
        </p:txBody>
      </p:sp>
      <p:sp>
        <p:nvSpPr>
          <p:cNvPr id="787" name="Google Shape;787;p43"/>
          <p:cNvSpPr txBox="1"/>
          <p:nvPr/>
        </p:nvSpPr>
        <p:spPr>
          <a:xfrm>
            <a:off x="1517904" y="5557215"/>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8"/>
              </a:rPr>
              <a:t>FDA PROVAYBLUE (methylene blue) injection: Prescribing Information, NDA 204630/S-023. 2024.</a:t>
            </a:r>
            <a:endParaRPr/>
          </a:p>
        </p:txBody>
      </p:sp>
      <p:sp>
        <p:nvSpPr>
          <p:cNvPr id="788" name="Google Shape;788;p43"/>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9" name="Google Shape;789;p43"/>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0" name="Google Shape;790;p43"/>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791" name="Google Shape;791;p43"/>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792" name="Google Shape;792;p43">
            <a:hlinkClick action="ppaction://hlinksldjump" r:id="rId19"/>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793" name="Google Shape;793;p43"/>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31 / 36</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798" name="Shape 798"/>
        <p:cNvGrpSpPr/>
        <p:nvPr/>
      </p:nvGrpSpPr>
      <p:grpSpPr>
        <a:xfrm>
          <a:off x="0" y="0"/>
          <a:ext cx="0" cy="0"/>
          <a:chOff x="0" y="0"/>
          <a:chExt cx="0" cy="0"/>
        </a:xfrm>
      </p:grpSpPr>
      <p:sp>
        <p:nvSpPr>
          <p:cNvPr id="799" name="Google Shape;799;p44"/>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800" name="Google Shape;800;p44"/>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801" name="Google Shape;801;p44"/>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2" name="Google Shape;802;p44"/>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16–20</a:t>
            </a:r>
            <a:endParaRPr/>
          </a:p>
        </p:txBody>
      </p:sp>
      <p:sp>
        <p:nvSpPr>
          <p:cNvPr id="803" name="Google Shape;803;p44"/>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[SF03]</a:t>
            </a:r>
            <a:endParaRPr/>
          </a:p>
        </p:txBody>
      </p:sp>
      <p:sp>
        <p:nvSpPr>
          <p:cNvPr id="804" name="Google Shape;804;p44"/>
          <p:cNvSpPr txBox="1"/>
          <p:nvPr/>
        </p:nvSpPr>
        <p:spPr>
          <a:xfrm>
            <a:off x="1517904" y="1622044"/>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EMA: Methylthioninium chloride Proveblue 5 mg/ml — EPAR Product Information / SmPC. 2025.</a:t>
            </a:r>
            <a:endParaRPr/>
          </a:p>
        </p:txBody>
      </p:sp>
      <p:sp>
        <p:nvSpPr>
          <p:cNvPr id="805" name="Google Shape;805;p44"/>
          <p:cNvSpPr/>
          <p:nvPr/>
        </p:nvSpPr>
        <p:spPr>
          <a:xfrm>
            <a:off x="566928" y="2252980"/>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6" name="Google Shape;806;p44"/>
          <p:cNvSpPr txBox="1"/>
          <p:nvPr/>
        </p:nvSpPr>
        <p:spPr>
          <a:xfrm>
            <a:off x="566928" y="2312416"/>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5"/>
              </a:rPr>
              <a:t>[SF04]</a:t>
            </a:r>
            <a:endParaRPr/>
          </a:p>
        </p:txBody>
      </p:sp>
      <p:sp>
        <p:nvSpPr>
          <p:cNvPr id="807" name="Google Shape;807;p44"/>
          <p:cNvSpPr txBox="1"/>
          <p:nvPr/>
        </p:nvSpPr>
        <p:spPr>
          <a:xfrm>
            <a:off x="1517904" y="2294128"/>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6"/>
              </a:rPr>
              <a:t>Ramsay et al. Methylene blue and serotonin toxicity: inhibition of monoamine oxidase A (MAO A)</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7"/>
              </a:rPr>
              <a:t>confirms a theoretical prediction. 2007. doi:10.1038/sj.bjp.0707430.</a:t>
            </a:r>
            <a:endParaRPr/>
          </a:p>
        </p:txBody>
      </p:sp>
      <p:sp>
        <p:nvSpPr>
          <p:cNvPr id="808" name="Google Shape;808;p44"/>
          <p:cNvSpPr/>
          <p:nvPr/>
        </p:nvSpPr>
        <p:spPr>
          <a:xfrm>
            <a:off x="566928" y="3164840"/>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9" name="Google Shape;809;p44"/>
          <p:cNvSpPr txBox="1"/>
          <p:nvPr/>
        </p:nvSpPr>
        <p:spPr>
          <a:xfrm>
            <a:off x="566928" y="3224276"/>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8"/>
              </a:rPr>
              <a:t>[SF05]</a:t>
            </a:r>
            <a:endParaRPr/>
          </a:p>
        </p:txBody>
      </p:sp>
      <p:sp>
        <p:nvSpPr>
          <p:cNvPr id="810" name="Google Shape;810;p44"/>
          <p:cNvSpPr txBox="1"/>
          <p:nvPr/>
        </p:nvSpPr>
        <p:spPr>
          <a:xfrm>
            <a:off x="1517904" y="3205988"/>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9"/>
              </a:rPr>
              <a:t>Mayer, Brunner and Schmidt. Inhibition of nitric oxide synthesis by methylene blue. 1993.</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0"/>
              </a:rPr>
              <a:t>doi:10.1016/0006-2952(93)90072-5.</a:t>
            </a:r>
            <a:endParaRPr/>
          </a:p>
        </p:txBody>
      </p:sp>
      <p:sp>
        <p:nvSpPr>
          <p:cNvPr id="811" name="Google Shape;811;p44"/>
          <p:cNvSpPr/>
          <p:nvPr/>
        </p:nvSpPr>
        <p:spPr>
          <a:xfrm>
            <a:off x="566928" y="4076699"/>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2" name="Google Shape;812;p44"/>
          <p:cNvSpPr txBox="1"/>
          <p:nvPr/>
        </p:nvSpPr>
        <p:spPr>
          <a:xfrm>
            <a:off x="566928" y="4136136"/>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1"/>
              </a:rPr>
              <a:t>[SF07]</a:t>
            </a:r>
            <a:endParaRPr/>
          </a:p>
        </p:txBody>
      </p:sp>
      <p:sp>
        <p:nvSpPr>
          <p:cNvPr id="813" name="Google Shape;813;p44"/>
          <p:cNvSpPr txBox="1"/>
          <p:nvPr/>
        </p:nvSpPr>
        <p:spPr>
          <a:xfrm>
            <a:off x="1517904" y="4117847"/>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2"/>
              </a:rPr>
              <a:t>Weingartner et al. Blockade of the action of nitric oxide in human septic shock increases systemic</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3"/>
              </a:rPr>
              <a:t>vascular resistance and has detrimental effects on pulmonary function after a short infusion of</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4"/>
              </a:rPr>
              <a:t>methylene blue. 1999. doi:10.1590/S0100-879X1999001200009.</a:t>
            </a:r>
            <a:endParaRPr/>
          </a:p>
        </p:txBody>
      </p:sp>
      <p:sp>
        <p:nvSpPr>
          <p:cNvPr id="814" name="Google Shape;814;p44"/>
          <p:cNvSpPr/>
          <p:nvPr/>
        </p:nvSpPr>
        <p:spPr>
          <a:xfrm>
            <a:off x="566928" y="522833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5" name="Google Shape;815;p44"/>
          <p:cNvSpPr txBox="1"/>
          <p:nvPr/>
        </p:nvSpPr>
        <p:spPr>
          <a:xfrm>
            <a:off x="566928" y="528777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5"/>
              </a:rPr>
              <a:t>[SF10]</a:t>
            </a:r>
            <a:endParaRPr/>
          </a:p>
        </p:txBody>
      </p:sp>
      <p:sp>
        <p:nvSpPr>
          <p:cNvPr id="816" name="Google Shape;816;p44"/>
          <p:cNvSpPr txBox="1"/>
          <p:nvPr/>
        </p:nvSpPr>
        <p:spPr>
          <a:xfrm>
            <a:off x="1517904" y="526948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6"/>
              </a:rPr>
              <a:t>Hencken et al. Serotonin Syndrome Following Methylene Blue Administration for Vasoplegic Syndrome.</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7"/>
              </a:rPr>
              <a:t>2016. doi:10.1111/jocs.12705.</a:t>
            </a:r>
            <a:endParaRPr/>
          </a:p>
        </p:txBody>
      </p:sp>
      <p:sp>
        <p:nvSpPr>
          <p:cNvPr id="817" name="Google Shape;817;p44"/>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8" name="Google Shape;818;p44"/>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9" name="Google Shape;819;p44"/>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820" name="Google Shape;820;p44"/>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821" name="Google Shape;821;p44">
            <a:hlinkClick action="ppaction://hlinksldjump" r:id="rId1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822" name="Google Shape;822;p44"/>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32 / 36</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827" name="Shape 827"/>
        <p:cNvGrpSpPr/>
        <p:nvPr/>
      </p:nvGrpSpPr>
      <p:grpSpPr>
        <a:xfrm>
          <a:off x="0" y="0"/>
          <a:ext cx="0" cy="0"/>
          <a:chOff x="0" y="0"/>
          <a:chExt cx="0" cy="0"/>
        </a:xfrm>
      </p:grpSpPr>
      <p:sp>
        <p:nvSpPr>
          <p:cNvPr id="828" name="Google Shape;828;p45"/>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829" name="Google Shape;829;p45"/>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830" name="Google Shape;830;p45"/>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1" name="Google Shape;831;p45"/>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21–25</a:t>
            </a:r>
            <a:endParaRPr/>
          </a:p>
        </p:txBody>
      </p:sp>
      <p:sp>
        <p:nvSpPr>
          <p:cNvPr id="832" name="Google Shape;832;p45"/>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[SF12]</a:t>
            </a:r>
            <a:endParaRPr/>
          </a:p>
        </p:txBody>
      </p:sp>
      <p:sp>
        <p:nvSpPr>
          <p:cNvPr id="833" name="Google Shape;833;p45"/>
          <p:cNvSpPr txBox="1"/>
          <p:nvPr/>
        </p:nvSpPr>
        <p:spPr>
          <a:xfrm>
            <a:off x="1517904" y="162204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Stevic et al. Determining susceptibility of routine clinical biochemistry assays to methylene blue</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interference. 2025. doi:10.1016/j.clinbiochem.2025.110940.</a:t>
            </a:r>
            <a:endParaRPr/>
          </a:p>
        </p:txBody>
      </p:sp>
      <p:sp>
        <p:nvSpPr>
          <p:cNvPr id="834" name="Google Shape;834;p45"/>
          <p:cNvSpPr/>
          <p:nvPr/>
        </p:nvSpPr>
        <p:spPr>
          <a:xfrm>
            <a:off x="566928" y="249275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5" name="Google Shape;835;p45"/>
          <p:cNvSpPr txBox="1"/>
          <p:nvPr/>
        </p:nvSpPr>
        <p:spPr>
          <a:xfrm>
            <a:off x="566928" y="255219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6"/>
              </a:rPr>
              <a:t>[TR01]</a:t>
            </a:r>
            <a:endParaRPr/>
          </a:p>
        </p:txBody>
      </p:sp>
      <p:sp>
        <p:nvSpPr>
          <p:cNvPr id="836" name="Google Shape;836;p45"/>
          <p:cNvSpPr txBox="1"/>
          <p:nvPr/>
        </p:nvSpPr>
        <p:spPr>
          <a:xfrm>
            <a:off x="1517904" y="253390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7"/>
              </a:rPr>
              <a:t>Early adjunctive methylene blue in patients with septic shock: a randomized controlled trial. 2023.</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8"/>
              </a:rPr>
              <a:t>doi:10.1186/s13054-023-04397-7.</a:t>
            </a:r>
            <a:endParaRPr/>
          </a:p>
        </p:txBody>
      </p:sp>
      <p:sp>
        <p:nvSpPr>
          <p:cNvPr id="837" name="Google Shape;837;p45"/>
          <p:cNvSpPr/>
          <p:nvPr/>
        </p:nvSpPr>
        <p:spPr>
          <a:xfrm>
            <a:off x="566928" y="340461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8" name="Google Shape;838;p45"/>
          <p:cNvSpPr txBox="1"/>
          <p:nvPr/>
        </p:nvSpPr>
        <p:spPr>
          <a:xfrm>
            <a:off x="566928" y="346405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9"/>
              </a:rPr>
              <a:t>[TR02]</a:t>
            </a:r>
            <a:endParaRPr/>
          </a:p>
        </p:txBody>
      </p:sp>
      <p:sp>
        <p:nvSpPr>
          <p:cNvPr id="839" name="Google Shape;839;p45"/>
          <p:cNvSpPr txBox="1"/>
          <p:nvPr/>
        </p:nvSpPr>
        <p:spPr>
          <a:xfrm>
            <a:off x="1517904" y="344576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0"/>
              </a:rPr>
              <a:t>Methylene blue reduces mortality and morbidity in vasoplegic patients after cardiac surgery. 2004.</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1"/>
              </a:rPr>
              <a:t>doi:10.1016/S0003-4975(03)01510-8.</a:t>
            </a:r>
            <a:endParaRPr/>
          </a:p>
        </p:txBody>
      </p:sp>
      <p:sp>
        <p:nvSpPr>
          <p:cNvPr id="840" name="Google Shape;840;p45"/>
          <p:cNvSpPr/>
          <p:nvPr/>
        </p:nvSpPr>
        <p:spPr>
          <a:xfrm>
            <a:off x="566928" y="431647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1" name="Google Shape;841;p45"/>
          <p:cNvSpPr txBox="1"/>
          <p:nvPr/>
        </p:nvSpPr>
        <p:spPr>
          <a:xfrm>
            <a:off x="566928" y="437591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2"/>
              </a:rPr>
              <a:t>[TR03]</a:t>
            </a:r>
            <a:endParaRPr/>
          </a:p>
        </p:txBody>
      </p:sp>
      <p:sp>
        <p:nvSpPr>
          <p:cNvPr id="842" name="Google Shape;842;p45"/>
          <p:cNvSpPr txBox="1"/>
          <p:nvPr/>
        </p:nvSpPr>
        <p:spPr>
          <a:xfrm>
            <a:off x="1517904" y="435762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3"/>
              </a:rPr>
              <a:t>Preoperative methylene blue administration in patients at high risk for vasoplegic syndrome during</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4"/>
              </a:rPr>
              <a:t>cardiac surgery. 2005. doi:10.1016/j.athoracsur.2004.10.038.</a:t>
            </a:r>
            <a:endParaRPr/>
          </a:p>
        </p:txBody>
      </p:sp>
      <p:sp>
        <p:nvSpPr>
          <p:cNvPr id="843" name="Google Shape;843;p45"/>
          <p:cNvSpPr/>
          <p:nvPr/>
        </p:nvSpPr>
        <p:spPr>
          <a:xfrm>
            <a:off x="566928" y="522833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4" name="Google Shape;844;p45"/>
          <p:cNvSpPr txBox="1"/>
          <p:nvPr/>
        </p:nvSpPr>
        <p:spPr>
          <a:xfrm>
            <a:off x="566928" y="528777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5"/>
              </a:rPr>
              <a:t>[TR06]</a:t>
            </a:r>
            <a:endParaRPr/>
          </a:p>
        </p:txBody>
      </p:sp>
      <p:sp>
        <p:nvSpPr>
          <p:cNvPr id="845" name="Google Shape;845;p45"/>
          <p:cNvSpPr txBox="1"/>
          <p:nvPr/>
        </p:nvSpPr>
        <p:spPr>
          <a:xfrm>
            <a:off x="1517904" y="526948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6"/>
              </a:rPr>
              <a:t>Methylene blue therapy in addition to standard treatment for acute-phase septic shock: a pilot</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7"/>
              </a:rPr>
              <a:t>randomized controlled trial. 2024. doi:10.3389/fmed.2024.1431321.</a:t>
            </a:r>
            <a:endParaRPr/>
          </a:p>
        </p:txBody>
      </p:sp>
      <p:sp>
        <p:nvSpPr>
          <p:cNvPr id="846" name="Google Shape;846;p45"/>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7" name="Google Shape;847;p45"/>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8" name="Google Shape;848;p45"/>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849" name="Google Shape;849;p45"/>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850" name="Google Shape;850;p45">
            <a:hlinkClick action="ppaction://hlinksldjump" r:id="rId1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851" name="Google Shape;851;p45"/>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33 / 36</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856" name="Shape 856"/>
        <p:cNvGrpSpPr/>
        <p:nvPr/>
      </p:nvGrpSpPr>
      <p:grpSpPr>
        <a:xfrm>
          <a:off x="0" y="0"/>
          <a:ext cx="0" cy="0"/>
          <a:chOff x="0" y="0"/>
          <a:chExt cx="0" cy="0"/>
        </a:xfrm>
      </p:grpSpPr>
      <p:sp>
        <p:nvSpPr>
          <p:cNvPr id="857" name="Google Shape;857;p46"/>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858" name="Google Shape;858;p46"/>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859" name="Google Shape;859;p46"/>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0" name="Google Shape;860;p46"/>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26–30</a:t>
            </a:r>
            <a:endParaRPr/>
          </a:p>
        </p:txBody>
      </p:sp>
      <p:sp>
        <p:nvSpPr>
          <p:cNvPr id="861" name="Google Shape;861;p46"/>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[TR07]</a:t>
            </a:r>
            <a:endParaRPr/>
          </a:p>
        </p:txBody>
      </p:sp>
      <p:sp>
        <p:nvSpPr>
          <p:cNvPr id="862" name="Google Shape;862;p46"/>
          <p:cNvSpPr txBox="1"/>
          <p:nvPr/>
        </p:nvSpPr>
        <p:spPr>
          <a:xfrm>
            <a:off x="1517904" y="162204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Comparative study between high and low dose methylene blue infusion in septic cancer patients: a</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randomized, blinded, controlled study. 2025. doi:10.1186/s12871-024-02792-3.</a:t>
            </a:r>
            <a:endParaRPr/>
          </a:p>
        </p:txBody>
      </p:sp>
      <p:sp>
        <p:nvSpPr>
          <p:cNvPr id="863" name="Google Shape;863;p46"/>
          <p:cNvSpPr/>
          <p:nvPr/>
        </p:nvSpPr>
        <p:spPr>
          <a:xfrm>
            <a:off x="566928" y="249275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4" name="Google Shape;864;p46"/>
          <p:cNvSpPr txBox="1"/>
          <p:nvPr/>
        </p:nvSpPr>
        <p:spPr>
          <a:xfrm>
            <a:off x="566928" y="255219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6"/>
              </a:rPr>
              <a:t>[TR09]</a:t>
            </a:r>
            <a:endParaRPr/>
          </a:p>
        </p:txBody>
      </p:sp>
      <p:sp>
        <p:nvSpPr>
          <p:cNvPr id="865" name="Google Shape;865;p46"/>
          <p:cNvSpPr txBox="1"/>
          <p:nvPr/>
        </p:nvSpPr>
        <p:spPr>
          <a:xfrm>
            <a:off x="1517904" y="253390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7"/>
              </a:rPr>
              <a:t>The Effect of Methylene Blue on Sublingual Microcirculation in Patients with Septic Shock: A</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8"/>
              </a:rPr>
              <a:t>Randomized Controlled Trial. 2025. doi:10.2147/DDDT.S561592.</a:t>
            </a:r>
            <a:endParaRPr/>
          </a:p>
        </p:txBody>
      </p:sp>
      <p:sp>
        <p:nvSpPr>
          <p:cNvPr id="866" name="Google Shape;866;p46"/>
          <p:cNvSpPr/>
          <p:nvPr/>
        </p:nvSpPr>
        <p:spPr>
          <a:xfrm>
            <a:off x="566928" y="340461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7" name="Google Shape;867;p46"/>
          <p:cNvSpPr txBox="1"/>
          <p:nvPr/>
        </p:nvSpPr>
        <p:spPr>
          <a:xfrm>
            <a:off x="566928" y="346405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9"/>
              </a:rPr>
              <a:t>[TR10]</a:t>
            </a:r>
            <a:endParaRPr/>
          </a:p>
        </p:txBody>
      </p:sp>
      <p:sp>
        <p:nvSpPr>
          <p:cNvPr id="868" name="Google Shape;868;p46"/>
          <p:cNvSpPr txBox="1"/>
          <p:nvPr/>
        </p:nvSpPr>
        <p:spPr>
          <a:xfrm>
            <a:off x="1517904" y="344576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0"/>
              </a:rPr>
              <a:t>Methylene Blue in Septic Shock: A Systematic Review and Meta-Analysis. 2024.</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1"/>
              </a:rPr>
              <a:t>doi:10.1097/CCE.0000000000001110.</a:t>
            </a:r>
            <a:endParaRPr/>
          </a:p>
        </p:txBody>
      </p:sp>
      <p:sp>
        <p:nvSpPr>
          <p:cNvPr id="869" name="Google Shape;869;p46"/>
          <p:cNvSpPr/>
          <p:nvPr/>
        </p:nvSpPr>
        <p:spPr>
          <a:xfrm>
            <a:off x="566928" y="431647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0" name="Google Shape;870;p46"/>
          <p:cNvSpPr txBox="1"/>
          <p:nvPr/>
        </p:nvSpPr>
        <p:spPr>
          <a:xfrm>
            <a:off x="566928" y="437591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2"/>
              </a:rPr>
              <a:t>[TR12]</a:t>
            </a:r>
            <a:endParaRPr/>
          </a:p>
        </p:txBody>
      </p:sp>
      <p:sp>
        <p:nvSpPr>
          <p:cNvPr id="871" name="Google Shape;871;p46"/>
          <p:cNvSpPr txBox="1"/>
          <p:nvPr/>
        </p:nvSpPr>
        <p:spPr>
          <a:xfrm>
            <a:off x="1517904" y="435762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3"/>
              </a:rPr>
              <a:t>Methylene Blue Reduces Mortality in Critically Ill and Perioperative Patients: A Meta-Analysis of</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4"/>
              </a:rPr>
              <a:t>Randomized Trials. 2024. doi:10.1053/j.jvca.2023.09.037.</a:t>
            </a:r>
            <a:endParaRPr/>
          </a:p>
        </p:txBody>
      </p:sp>
      <p:sp>
        <p:nvSpPr>
          <p:cNvPr id="872" name="Google Shape;872;p46"/>
          <p:cNvSpPr/>
          <p:nvPr/>
        </p:nvSpPr>
        <p:spPr>
          <a:xfrm>
            <a:off x="566928" y="522833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3" name="Google Shape;873;p46"/>
          <p:cNvSpPr txBox="1"/>
          <p:nvPr/>
        </p:nvSpPr>
        <p:spPr>
          <a:xfrm>
            <a:off x="566928" y="528777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5"/>
              </a:rPr>
              <a:t>[TR16]</a:t>
            </a:r>
            <a:endParaRPr/>
          </a:p>
        </p:txBody>
      </p:sp>
      <p:sp>
        <p:nvSpPr>
          <p:cNvPr id="874" name="Google Shape;874;p46"/>
          <p:cNvSpPr txBox="1"/>
          <p:nvPr/>
        </p:nvSpPr>
        <p:spPr>
          <a:xfrm>
            <a:off x="1517904" y="526948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6"/>
              </a:rPr>
              <a:t>Methylene blue for vasoplegic syndrome in cardiopulmonary bypass surgery: A systematic review and</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7"/>
              </a:rPr>
              <a:t>meta-analysis. 2021. doi:10.1177/0218492321998523.</a:t>
            </a:r>
            <a:endParaRPr/>
          </a:p>
        </p:txBody>
      </p:sp>
      <p:sp>
        <p:nvSpPr>
          <p:cNvPr id="875" name="Google Shape;875;p46"/>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6" name="Google Shape;876;p46"/>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7" name="Google Shape;877;p46"/>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878" name="Google Shape;878;p46"/>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879" name="Google Shape;879;p46">
            <a:hlinkClick action="ppaction://hlinksldjump" r:id="rId18"/>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880" name="Google Shape;880;p46"/>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34 / 36</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885" name="Shape 885"/>
        <p:cNvGrpSpPr/>
        <p:nvPr/>
      </p:nvGrpSpPr>
      <p:grpSpPr>
        <a:xfrm>
          <a:off x="0" y="0"/>
          <a:ext cx="0" cy="0"/>
          <a:chOff x="0" y="0"/>
          <a:chExt cx="0" cy="0"/>
        </a:xfrm>
      </p:grpSpPr>
      <p:sp>
        <p:nvSpPr>
          <p:cNvPr id="886" name="Google Shape;886;p47"/>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887" name="Google Shape;887;p47"/>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888" name="Google Shape;888;p47"/>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9" name="Google Shape;889;p47"/>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31–35</a:t>
            </a:r>
            <a:endParaRPr/>
          </a:p>
        </p:txBody>
      </p:sp>
      <p:sp>
        <p:nvSpPr>
          <p:cNvPr id="890" name="Google Shape;890;p47"/>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[MA01]</a:t>
            </a:r>
            <a:endParaRPr/>
          </a:p>
        </p:txBody>
      </p:sp>
      <p:sp>
        <p:nvSpPr>
          <p:cNvPr id="891" name="Google Shape;891;p47"/>
          <p:cNvSpPr txBox="1"/>
          <p:nvPr/>
        </p:nvSpPr>
        <p:spPr>
          <a:xfrm>
            <a:off x="1517904" y="1622044"/>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Ignarro LJ, Buga GM, Wood KS, et al. Endothelium-derived relaxing factor produced and released from</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artery and vein is nitric oxide. Proc Natl Acad Sci USA. 1987;84:9265–9269. doi:10.1073/pnas.84.24.9265.</a:t>
            </a:r>
            <a:endParaRPr/>
          </a:p>
        </p:txBody>
      </p:sp>
      <p:sp>
        <p:nvSpPr>
          <p:cNvPr id="892" name="Google Shape;892;p47"/>
          <p:cNvSpPr/>
          <p:nvPr/>
        </p:nvSpPr>
        <p:spPr>
          <a:xfrm>
            <a:off x="566928" y="2540711"/>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3" name="Google Shape;893;p47"/>
          <p:cNvSpPr txBox="1"/>
          <p:nvPr/>
        </p:nvSpPr>
        <p:spPr>
          <a:xfrm>
            <a:off x="566928" y="2600147"/>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6"/>
              </a:rPr>
              <a:t>[MA03]</a:t>
            </a:r>
            <a:endParaRPr/>
          </a:p>
        </p:txBody>
      </p:sp>
      <p:sp>
        <p:nvSpPr>
          <p:cNvPr id="894" name="Google Shape;894;p47"/>
          <p:cNvSpPr txBox="1"/>
          <p:nvPr/>
        </p:nvSpPr>
        <p:spPr>
          <a:xfrm>
            <a:off x="1517904" y="2581859"/>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7"/>
              </a:rPr>
              <a:t>Leyh RG, Kofidis T, Strüber M, et al. Methylene blue: the drug of choice for catecholamine-refractory</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8"/>
              </a:rPr>
              <a:t>vasoplegia after cardiopulmonary bypass? J Thorac Cardiovasc Surg. 2003;125:1426–1431.</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9"/>
              </a:rPr>
              <a:t>doi:10.1016/S0022-5223(02)73284-4.</a:t>
            </a:r>
            <a:endParaRPr/>
          </a:p>
        </p:txBody>
      </p:sp>
      <p:sp>
        <p:nvSpPr>
          <p:cNvPr id="895" name="Google Shape;895;p47"/>
          <p:cNvSpPr/>
          <p:nvPr/>
        </p:nvSpPr>
        <p:spPr>
          <a:xfrm>
            <a:off x="566928" y="3740302"/>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6" name="Google Shape;896;p47"/>
          <p:cNvSpPr txBox="1"/>
          <p:nvPr/>
        </p:nvSpPr>
        <p:spPr>
          <a:xfrm>
            <a:off x="566928" y="3799738"/>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0"/>
              </a:rPr>
              <a:t>[MO01]</a:t>
            </a:r>
            <a:endParaRPr/>
          </a:p>
        </p:txBody>
      </p:sp>
      <p:sp>
        <p:nvSpPr>
          <p:cNvPr id="897" name="Google Shape;897;p47"/>
          <p:cNvSpPr txBox="1"/>
          <p:nvPr/>
        </p:nvSpPr>
        <p:spPr>
          <a:xfrm>
            <a:off x="1517904" y="3781450"/>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1"/>
              </a:rPr>
              <a:t>DailyMed. LEVOPHED (norepinephrine bitartrate) injection. Clinical Pharmacology 12.1–12.2.</a:t>
            </a:r>
            <a:endParaRPr/>
          </a:p>
        </p:txBody>
      </p:sp>
      <p:sp>
        <p:nvSpPr>
          <p:cNvPr id="898" name="Google Shape;898;p47"/>
          <p:cNvSpPr/>
          <p:nvPr/>
        </p:nvSpPr>
        <p:spPr>
          <a:xfrm>
            <a:off x="566928" y="4460341"/>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9" name="Google Shape;899;p47"/>
          <p:cNvSpPr txBox="1"/>
          <p:nvPr/>
        </p:nvSpPr>
        <p:spPr>
          <a:xfrm>
            <a:off x="566928" y="4519777"/>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2"/>
              </a:rPr>
              <a:t>[MO02]</a:t>
            </a:r>
            <a:endParaRPr/>
          </a:p>
        </p:txBody>
      </p:sp>
      <p:sp>
        <p:nvSpPr>
          <p:cNvPr id="900" name="Google Shape;900;p47"/>
          <p:cNvSpPr txBox="1"/>
          <p:nvPr/>
        </p:nvSpPr>
        <p:spPr>
          <a:xfrm>
            <a:off x="1517904" y="4501489"/>
            <a:ext cx="10107167" cy="27177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3"/>
              </a:rPr>
              <a:t>DailyMed. VASOSTRICT (vasopressin) injection. Mechanism of Action.</a:t>
            </a:r>
            <a:endParaRPr/>
          </a:p>
        </p:txBody>
      </p:sp>
      <p:sp>
        <p:nvSpPr>
          <p:cNvPr id="901" name="Google Shape;901;p47"/>
          <p:cNvSpPr/>
          <p:nvPr/>
        </p:nvSpPr>
        <p:spPr>
          <a:xfrm>
            <a:off x="566928" y="5180380"/>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2" name="Google Shape;902;p47"/>
          <p:cNvSpPr txBox="1"/>
          <p:nvPr/>
        </p:nvSpPr>
        <p:spPr>
          <a:xfrm>
            <a:off x="566928" y="5239816"/>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14"/>
              </a:rPr>
              <a:t>[PH01]</a:t>
            </a:r>
            <a:endParaRPr/>
          </a:p>
        </p:txBody>
      </p:sp>
      <p:sp>
        <p:nvSpPr>
          <p:cNvPr id="903" name="Google Shape;903;p47"/>
          <p:cNvSpPr txBox="1"/>
          <p:nvPr/>
        </p:nvSpPr>
        <p:spPr>
          <a:xfrm>
            <a:off x="1517904" y="5221528"/>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15"/>
              </a:rPr>
              <a:t>Stocche RM, Garcia LV, Reis MP, et al. Methylene blue to treat anaphylaxis during anesthesia: case report.</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16"/>
              </a:rPr>
              <a:t>Rev Bras Anestesiol. 2004;54:809–814. doi:10.1590/S0034-70942004000600010.</a:t>
            </a:r>
            <a:endParaRPr/>
          </a:p>
        </p:txBody>
      </p:sp>
      <p:sp>
        <p:nvSpPr>
          <p:cNvPr id="904" name="Google Shape;904;p47"/>
          <p:cNvSpPr/>
          <p:nvPr/>
        </p:nvSpPr>
        <p:spPr>
          <a:xfrm>
            <a:off x="566928" y="6140196"/>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5" name="Google Shape;905;p47"/>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6" name="Google Shape;906;p47"/>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907" name="Google Shape;907;p47"/>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908" name="Google Shape;908;p47">
            <a:hlinkClick action="ppaction://hlinksldjump" r:id="rId17"/>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909" name="Google Shape;909;p47"/>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35 / 36</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914" name="Shape 914"/>
        <p:cNvGrpSpPr/>
        <p:nvPr/>
      </p:nvGrpSpPr>
      <p:grpSpPr>
        <a:xfrm>
          <a:off x="0" y="0"/>
          <a:ext cx="0" cy="0"/>
          <a:chOff x="0" y="0"/>
          <a:chExt cx="0" cy="0"/>
        </a:xfrm>
      </p:grpSpPr>
      <p:sp>
        <p:nvSpPr>
          <p:cNvPr id="915" name="Google Shape;915;p48"/>
          <p:cNvSpPr txBox="1"/>
          <p:nvPr/>
        </p:nvSpPr>
        <p:spPr>
          <a:xfrm>
            <a:off x="566928" y="310896"/>
            <a:ext cx="8046720" cy="265176"/>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1" i="0" lang="ko-KR" sz="1100" u="none" cap="none" strike="noStrike">
                <a:solidFill>
                  <a:srgbClr val="245DA8"/>
                </a:solidFill>
                <a:latin typeface="Noto Sans"/>
                <a:ea typeface="Noto Sans"/>
                <a:cs typeface="Noto Sans"/>
                <a:sym typeface="Noto Sans"/>
              </a:rPr>
              <a:t>APPENDIX · REFERENCES</a:t>
            </a:r>
            <a:endParaRPr/>
          </a:p>
        </p:txBody>
      </p:sp>
      <p:sp>
        <p:nvSpPr>
          <p:cNvPr id="916" name="Google Shape;916;p48"/>
          <p:cNvSpPr txBox="1"/>
          <p:nvPr/>
        </p:nvSpPr>
        <p:spPr>
          <a:xfrm>
            <a:off x="8778240" y="310896"/>
            <a:ext cx="2846831" cy="265176"/>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2026-10-08  ·  1.1</a:t>
            </a:r>
            <a:endParaRPr/>
          </a:p>
        </p:txBody>
      </p:sp>
      <p:sp>
        <p:nvSpPr>
          <p:cNvPr id="917" name="Google Shape;917;p48"/>
          <p:cNvSpPr/>
          <p:nvPr/>
        </p:nvSpPr>
        <p:spPr>
          <a:xfrm>
            <a:off x="566928" y="749808"/>
            <a:ext cx="11058143" cy="11887"/>
          </a:xfrm>
          <a:prstGeom prst="rect">
            <a:avLst/>
          </a:prstGeom>
          <a:solidFill>
            <a:srgbClr val="15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8" name="Google Shape;918;p48"/>
          <p:cNvSpPr txBox="1"/>
          <p:nvPr/>
        </p:nvSpPr>
        <p:spPr>
          <a:xfrm>
            <a:off x="566928" y="932688"/>
            <a:ext cx="11058143" cy="45161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2800" u="none" cap="none" strike="noStrike">
                <a:solidFill>
                  <a:srgbClr val="152B42"/>
                </a:solidFill>
                <a:latin typeface="Noto Sans"/>
                <a:ea typeface="Noto Sans"/>
                <a:cs typeface="Noto Sans"/>
                <a:sym typeface="Noto Sans"/>
              </a:rPr>
              <a:t>참고문헌 36–37</a:t>
            </a:r>
            <a:endParaRPr/>
          </a:p>
        </p:txBody>
      </p:sp>
      <p:sp>
        <p:nvSpPr>
          <p:cNvPr id="919" name="Google Shape;919;p48"/>
          <p:cNvSpPr txBox="1"/>
          <p:nvPr/>
        </p:nvSpPr>
        <p:spPr>
          <a:xfrm>
            <a:off x="566928" y="1640332"/>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3"/>
              </a:rPr>
              <a:t>[PH02]</a:t>
            </a:r>
            <a:endParaRPr/>
          </a:p>
        </p:txBody>
      </p:sp>
      <p:sp>
        <p:nvSpPr>
          <p:cNvPr id="920" name="Google Shape;920;p48"/>
          <p:cNvSpPr txBox="1"/>
          <p:nvPr/>
        </p:nvSpPr>
        <p:spPr>
          <a:xfrm>
            <a:off x="1517904" y="1622044"/>
            <a:ext cx="10107167" cy="751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4"/>
              </a:rPr>
              <a:t>Laes JR, Williams DM, Cole JB. Improvement in Hemodynamics After Methylene Blue Administration in</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5"/>
              </a:rPr>
              <a:t>Drug-Induced Vasodilatory Shock: A Case Report. J Med Toxicol. 2015;11:460–463.</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6"/>
              </a:rPr>
              <a:t>doi:10.1007/s13181-015-0500-1.</a:t>
            </a:r>
            <a:endParaRPr/>
          </a:p>
        </p:txBody>
      </p:sp>
      <p:sp>
        <p:nvSpPr>
          <p:cNvPr id="921" name="Google Shape;921;p48"/>
          <p:cNvSpPr/>
          <p:nvPr/>
        </p:nvSpPr>
        <p:spPr>
          <a:xfrm>
            <a:off x="566928" y="3145129"/>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2" name="Google Shape;922;p48"/>
          <p:cNvSpPr txBox="1"/>
          <p:nvPr/>
        </p:nvSpPr>
        <p:spPr>
          <a:xfrm>
            <a:off x="566928" y="3204565"/>
            <a:ext cx="822960" cy="29260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ko-KR" sz="1300" u="sng" cap="none" strike="noStrike">
                <a:solidFill>
                  <a:schemeClr val="hlink"/>
                </a:solidFill>
                <a:latin typeface="Noto Sans"/>
                <a:ea typeface="Noto Sans"/>
                <a:cs typeface="Noto Sans"/>
                <a:sym typeface="Noto Sans"/>
                <a:hlinkClick r:id="rId7"/>
              </a:rPr>
              <a:t>[TR08]</a:t>
            </a:r>
            <a:endParaRPr/>
          </a:p>
        </p:txBody>
      </p:sp>
      <p:sp>
        <p:nvSpPr>
          <p:cNvPr id="923" name="Google Shape;923;p48"/>
          <p:cNvSpPr txBox="1"/>
          <p:nvPr/>
        </p:nvSpPr>
        <p:spPr>
          <a:xfrm>
            <a:off x="1517904" y="3186277"/>
            <a:ext cx="10107167" cy="51155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600" u="sng" cap="none" strike="noStrike">
                <a:solidFill>
                  <a:schemeClr val="hlink"/>
                </a:solidFill>
                <a:latin typeface="Noto Sans"/>
                <a:ea typeface="Noto Sans"/>
                <a:cs typeface="Noto Sans"/>
                <a:sym typeface="Noto Sans"/>
                <a:hlinkClick r:id="rId8"/>
              </a:rPr>
              <a:t>Effects of Early Use of Methylene Blue and Vasopressin on Noradrenaline Dose in Septic Shock: A</a:t>
            </a:r>
            <a:br>
              <a:rPr b="0" i="0" lang="ko-KR" sz="1600" u="none" cap="none" strike="noStrike">
                <a:solidFill>
                  <a:srgbClr val="233446"/>
                </a:solidFill>
                <a:latin typeface="Noto Sans"/>
                <a:ea typeface="Noto Sans"/>
                <a:cs typeface="Noto Sans"/>
                <a:sym typeface="Noto Sans"/>
              </a:rPr>
            </a:br>
            <a:r>
              <a:rPr b="0" i="0" lang="ko-KR" sz="1600" u="sng" cap="none" strike="noStrike">
                <a:solidFill>
                  <a:schemeClr val="hlink"/>
                </a:solidFill>
                <a:latin typeface="Noto Sans"/>
                <a:ea typeface="Noto Sans"/>
                <a:cs typeface="Noto Sans"/>
                <a:sym typeface="Noto Sans"/>
                <a:hlinkClick r:id="rId9"/>
              </a:rPr>
              <a:t>Randomized Controlled Trial. 2025. doi:10.5005/jp-journals-10071-24905.</a:t>
            </a:r>
            <a:endParaRPr/>
          </a:p>
        </p:txBody>
      </p:sp>
      <p:sp>
        <p:nvSpPr>
          <p:cNvPr id="924" name="Google Shape;924;p48"/>
          <p:cNvSpPr/>
          <p:nvPr/>
        </p:nvSpPr>
        <p:spPr>
          <a:xfrm>
            <a:off x="566928" y="4469587"/>
            <a:ext cx="11058143" cy="6400"/>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5" name="Google Shape;925;p48"/>
          <p:cNvSpPr/>
          <p:nvPr/>
        </p:nvSpPr>
        <p:spPr>
          <a:xfrm>
            <a:off x="566928" y="6254496"/>
            <a:ext cx="11058143" cy="8229"/>
          </a:xfrm>
          <a:prstGeom prst="rect">
            <a:avLst/>
          </a:prstGeom>
          <a:solidFill>
            <a:srgbClr val="D2D9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6" name="Google Shape;926;p48"/>
          <p:cNvSpPr txBox="1"/>
          <p:nvPr/>
        </p:nvSpPr>
        <p:spPr>
          <a:xfrm>
            <a:off x="566928" y="6336792"/>
            <a:ext cx="8869680" cy="219456"/>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전체 참고문헌 · 서지정보 클릭 시 원문 이동</a:t>
            </a:r>
            <a:endParaRPr/>
          </a:p>
        </p:txBody>
      </p:sp>
      <p:sp>
        <p:nvSpPr>
          <p:cNvPr id="927" name="Google Shape;927;p48"/>
          <p:cNvSpPr txBox="1"/>
          <p:nvPr/>
        </p:nvSpPr>
        <p:spPr>
          <a:xfrm>
            <a:off x="566928" y="6583680"/>
            <a:ext cx="7315200" cy="18288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ko-KR" sz="900" u="none" cap="none" strike="noStrike">
                <a:solidFill>
                  <a:srgbClr val="596B7A"/>
                </a:solidFill>
                <a:latin typeface="Noto Sans"/>
                <a:ea typeface="Noto Sans"/>
                <a:cs typeface="Noto Sans"/>
                <a:sym typeface="Noto Sans"/>
              </a:rPr>
              <a:t>메틸렌블루: 구제치료의 선택지를 확보하라</a:t>
            </a:r>
            <a:endParaRPr/>
          </a:p>
        </p:txBody>
      </p:sp>
      <p:sp>
        <p:nvSpPr>
          <p:cNvPr id="928" name="Google Shape;928;p48">
            <a:hlinkClick action="ppaction://hlinksldjump" r:id="rId10"/>
          </p:cNvPr>
          <p:cNvSpPr txBox="1"/>
          <p:nvPr/>
        </p:nvSpPr>
        <p:spPr>
          <a:xfrm>
            <a:off x="9601200" y="6556248"/>
            <a:ext cx="1051560"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245DA8"/>
                </a:solidFill>
                <a:latin typeface="Noto Sans"/>
                <a:ea typeface="Noto Sans"/>
                <a:cs typeface="Noto Sans"/>
                <a:sym typeface="Noto Sans"/>
              </a:rPr>
              <a:t>본문으로</a:t>
            </a:r>
            <a:endParaRPr/>
          </a:p>
        </p:txBody>
      </p:sp>
      <p:sp>
        <p:nvSpPr>
          <p:cNvPr id="929" name="Google Shape;929;p48"/>
          <p:cNvSpPr txBox="1"/>
          <p:nvPr/>
        </p:nvSpPr>
        <p:spPr>
          <a:xfrm>
            <a:off x="10899648" y="6556248"/>
            <a:ext cx="722376" cy="228600"/>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ko-KR" sz="1000" u="none" cap="none" strike="noStrike">
                <a:solidFill>
                  <a:srgbClr val="596B7A"/>
                </a:solidFill>
                <a:latin typeface="Noto Sans"/>
                <a:ea typeface="Noto Sans"/>
                <a:cs typeface="Noto Sans"/>
                <a:sym typeface="Noto Sans"/>
              </a:rPr>
              <a:t>36 / 36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